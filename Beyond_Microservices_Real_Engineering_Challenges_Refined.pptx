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303" r:id="rId54"/>
    <p:sldId id="265" r:id="rId11"/>
    <p:sldId id="266" r:id="rId12"/>
    <p:sldId id="267" r:id="rId13"/>
    <p:sldId id="268" r:id="rId14"/>
    <p:sldId id="304" r:id="rId55"/>
    <p:sldId id="269" r:id="rId15"/>
    <p:sldId id="270" r:id="rId16"/>
    <p:sldId id="271" r:id="rId17"/>
    <p:sldId id="305" r:id="rId56"/>
    <p:sldId id="272" r:id="rId18"/>
    <p:sldId id="306" r:id="rId57"/>
    <p:sldId id="273" r:id="rId19"/>
    <p:sldId id="274" r:id="rId20"/>
    <p:sldId id="275" r:id="rId21"/>
    <p:sldId id="276" r:id="rId22"/>
    <p:sldId id="277" r:id="rId23"/>
    <p:sldId id="307" r:id="rId58"/>
    <p:sldId id="278" r:id="rId24"/>
    <p:sldId id="279" r:id="rId25"/>
    <p:sldId id="280" r:id="rId26"/>
    <p:sldId id="281" r:id="rId27"/>
    <p:sldId id="282" r:id="rId28"/>
    <p:sldId id="283" r:id="rId29"/>
    <p:sldId id="284" r:id="rId30"/>
    <p:sldId id="285" r:id="rId31"/>
    <p:sldId id="286" r:id="rId32"/>
    <p:sldId id="287" r:id="rId33"/>
    <p:sldId id="308" r:id="rId59"/>
    <p:sldId id="288" r:id="rId34"/>
    <p:sldId id="309" r:id="rId60"/>
    <p:sldId id="289" r:id="rId35"/>
    <p:sldId id="310" r:id="rId61"/>
    <p:sldId id="290" r:id="rId36"/>
    <p:sldId id="291" r:id="rId37"/>
    <p:sldId id="292" r:id="rId38"/>
    <p:sldId id="311" r:id="rId62"/>
    <p:sldId id="293" r:id="rId39"/>
    <p:sldId id="294" r:id="rId40"/>
    <p:sldId id="295" r:id="rId41"/>
    <p:sldId id="296" r:id="rId42"/>
    <p:sldId id="297" r:id="rId43"/>
    <p:sldId id="312" r:id="rId63"/>
    <p:sldId id="298" r:id="rId44"/>
    <p:sldId id="313" r:id="rId64"/>
    <p:sldId id="299" r:id="rId45"/>
    <p:sldId id="314" r:id="rId6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Title: Beyond Microservices: Real Engineering Challenges. Introduce Dev Weekends and presenter Ali Shair. Establish promise: after a brief communication foundation, explore real distributed-system failures followed by concrete engineering approaches. The challenge ID matches solution ID, e.g. Challenge A → Solution A or K1/K2.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Foundations should be brief. Monolith is one deployable application, not automatically bad code. Microservices separate running processes and deployment units. Their interactions cross networks and create new failure modes. Use Order, Inventory, Payment to anchor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presenting monoliths as inferior. High traffic by itself does not prove microservices are needed. Network boundaries add latency, timeout ambiguity, partial failures and eventual consistency considerations. Our talk asks what changes when a function call crosses that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checkout, reserve stock via a call because subsequent logic needs a result. An OrderCreated event can trigger emails later. Async does not mean no acknowledgments: a producer can await broker acceptance but not consumer completion. async/await in JavaScript does not necessarily make a business operation fire-and-forget.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learning repository, Inventory offers REST product endpoints and a gRPC ReduceStock method to Order Service. Avoid deep protobuf or HTTP/2 discussion, as agreed. Emphasize resource HTTP APIs vs remote method contracts, not universal performance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Producer publishes OrderCreated to RabbitMQ topic exchange with key order.created. Two independent queues: email and notification. Email A/B compete on the same email queue, which distributes work, while notification queue independently receives its copy. Distinguish publisher confirms (broker accepted message) from consumer acknowledgments (worker confirmed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Service produces PaymentApproved to payment-events. A Kafka topic contains partitions; each partition is ordered and offsets are local positions. The slide matches the real demo topic with two partitions. The project uses orderId as a key. A topic is a retained log, not a traditional per-worker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one standard Kafka group, each partition is assigned to at most one active consumer. Adding consumers beyond partitions may leave some idle. Email and notification use separate groups and can independently consume same records, each with its own committed offsets. Reading does not remove records. Replay is bounded by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uses Kong gateway routes to Order and Inventory and demonstrates load balancing and rate limiting. We deliberately removed the dedicated service-discovery/Consul slide; do not make it a core topic. Explain the gateway as client entry point and distinct from broker-based async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 A. Real example: Order Service reads stock directly from Inventory database. Inventory renames a column. Order continues using old name and fails. The problem is coupling through private database structure, not microservices being inherently broken. Ask audience to follow the three numbered events. Explain the cause and impact, then introduce the following slide(s) labeled Solution A. Do not reveal the solution prematurely.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has order_db, inventory_db, payment_db in one MongoDB instance. Database per service means ownership, not necessarily a dedicated physical server. Benefit: internal changes and business rules remain controlled by the owning service. Cost: distributed transactions and cross-service reads now need explicit coordination.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 B. Conceptual checkout scenario, not the exact chronological flow of the repository. The order and stock changes were separately committed; then payment failed. The business transaction is incomplete, and there is no ordinary single local ROLLBACK that undoes the other services. Ask audience to follow the three numbered events. Explain the cause and impact, then introduce the following slide(s) labeled Solution B. Do not reveal the solution prematurely.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Saga handles business workflows spanning local transactions. Distinguish choreography (event-driven participants) and orchestration (explicit coordinator). Stay at concept level: the agreed talk excludes detailed compensating mechanics. Saga is not a globally ACID transaction and publishing any event does not automatically create a saga.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Stale dashboard after successful write illustrates asynchronous read model update, not necessarily the main repo implementation. Eventual consistency is a consistency model, not a universal requirement of microservices. Show users honest intermediate states. Different business operations tolerate different freshness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 D. Do not claim the payment itself failed. It completed, and the response was lost. This uncertainty leads to idempotency keys and duplicate-safe processing. Ask audience to follow the three numbered events. Explain the cause and impact, then introduce the following slide(s) labeled Solution D. Do not reveal the solution prematurely.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a unique idempotency key pay-101 accompanying retries. Payment Service recognizes the already-processed request and returns its recorded result without recharging. In production this needs durable atomic protection and coordination with an external payment provider. Main project payment implementation does not have production-grade idempotency; example is architectural.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email sent, worker crashes before ACK, RabbitMQ redelivers to another worker. At-most-once risks loss, at-least-once risks repetition. Exactly-once processing effect depends on scope, transactions/idempotency and external system behavior; never claim network delivery occurs physically exactly once. Kafka offset commits track group progress; same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 theorem concerns linearizable consistency and availability during a network partition. Define availability precisely, not mere uptime. Under partition, some operations must block/deny to remain strongly consistent, or separated sides respond with weakened consistency. Do not conflate CAP with ordinary replica lag or ACID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 G. Distributed locking motivation: local mutexes only coordinate one process. Multiple replicas may run the same scheduled exclusive job. Use a shared lock or another appropriate coordinated work mechanism; for payments, idempotency is additionally critical. Ask audience to follow the three numbered events. Explain the cause and impact, then introduce the following slide(s) labeled Solution G. Do not reveal the solution prematurely.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lease allows progress after a lock holder crashes. Shared coordination systems include etcd, ZooKeeper and specialized Redis approaches with different guarantees. The key subtlety: a lease can expire while an old worker is merely paused, not actually dead. Locking alone is insufficient to stop stale 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 H. Critical stale-owner race: an expired lease is not a kill switch. Higher fencing tokens plus protection at destination can reject later stale operations after newer tokens are accepted. Ask audience to follow the three numbered events. Explain the cause and impact, then introduce the following slide(s) labeled Solution H. Do not reveal the solution prematurely.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Fencing protects against stale lock holder after lease expiration. Coordinator assigns increasing token, worker passes token on writes, resource enforces monotonic sequence atomically. If token42 accepted, later token41 must be rejected. Resource must enforce; token alone does nothing. External payment action requires separate idempotency.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on machine A logged at 10:00:00.100, payment later on machine B with slower clock logged at 10:00:00.080. Wall clocks drift even with NTP. Lamport logical clocks preserve happens-before relation through message counters: received=max(local,sent)+1. Smaller logical timestamp alone does not prove causality and no globally ordered wall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 J. The original dependency failure can spread into Order Service because of accumulated pending work. Timeout bounds waiting; carefully selected retries can help transient faults but need safety limits. Awaiting I/O does not block the entire Node.js event loop. Ask audience to follow the three numbered events. Explain the cause and impact, then introduce the following slide(s) labeled Solution J. Do not reveal the solution prematurely.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uses a 3000 ms breaker timeout, while target can delay 5000 ms. Caller stops waiting; target may still work or have completed. Distinguish request deadline and per-attempt timeout. For financial calls combine with idempotency; do not claim abort undoes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retry lab: target responds 503,503,200; wait 200–300 then 400–500 ms. Explain why immediate retries worsen saturation, exponential backoff slows attempts, and jitter spreads synchronized clients. 400 invalid input is not retryable. Payment retries demand idempotency.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 K. Distinguish original requests from total attempts. 200 x 3=600 illustrative worst-case, not a measured runtime metric. Solutions K1 selective bounded retry/budgets and K2 circuit breaker, with live demo K2. Ask audience to follow the three numbered events. Explain the cause and impact, then introduce the following slide(s) labeled Solution K. Do not reveal the solution prematurely.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transition slide is a bridge between retry storms and circuit breaker. Explicitly discuss bounded attempts, global deadlines, jitter, retry budget and safe effects. If the dependency is down for minutes, further retries should be reduced or stopped by breaker.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Opossum breaker in lab uses timeout 3000ms, errorThresholdPercentage 50, volumeThreshold 3 and resetTimeout 15000ms. Closed allows and records calls, Open fails fast, Half-Open probes. Each process breaker state is local. Breaker does not fix service; it protects caller. Avoid claim one precise number of failures always opens regardless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 docker compose up -d --build, verify healthy, open frontend localhost:3000. Step1 send healthy call, step2 stop resilience-target-service, trigger several calls and watch breaker open, step3 show fail-fast while open, step4 start target, wait cooldown 15s, send probe to close. Have backup screenshots if needed. Do not rebuild stack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 L. Bulkhead motivation: isolate scarce resources per dependency or priority instead of one shared pool. Demo admits 2 simultaneous requests and rejects 3 excess requests. Ask audience to follow the three numbered events. Explain the cause and impact, then introduce the following slide(s) labeled Solution L. Do not reveal the solution prematurely.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bulkhead lab concurrency=2, five simultaneous calls, 2 admitted and 3 rejected 503. Using finally releases slots even on error. A bulkhead protects a resource allocation; breaker protects against observed repeated failures. Production often uses per-dependency isolated pools and bounded queues.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page without recommendations is useful and correct. Faking payment success is dangerous. Classify business functions into essential and optional, use honest pending or unavailable states. Graceful degradation reduces scope of user-visible failures, but is not blanket catch/ignore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Kong has a rate-limit demo; avoid expanding into omitted service discovery. Rate limit is policy-based, e.g. 5 requests/min/IP. Load shedding is overload-driven; even permitted aggregate traffic can exceed capacity. Reject selected work to preserve remaining capacity. Concurrency bulkhead is distinct.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Chaos engineering is controlled hypothesis-driven experimentation, not random outages. The target-stop demo is a small chaos experiment: we hypothesize circuit will fail fast, inject failure, observe and recover. Mention blast radius and rollback safety, especially before any production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 P. Kubernetes Deployment reconciles actual replica count toward desired state. It cannot guarantee instant replacement or fix unavailable shared database. Ask audience to follow the three numbered events. Explain the cause and impact, then introduce the following slide(s) labeled Solution P. Do not reveal the solution prematurely.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control plane schedules workloads across worker nodes. Deployment desired 3 replicas, replacement when missing, not guaranteed immediate. Pods are ephemeral; they can be replaced on same or different nodes. For time budget mention scheduler/control plane briefly, focus on controllers reconciling desired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ClusterIP service selector maps to ready endpoints through label selection. Ingress/Gateway routes external traffic to Services. Readiness controls endpoint eligibility; liveness triggers container restart. Do not confuse service networking with the omitted dedicated Consul/service discovery lesson; focus on essential Kubernetes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 R. Network location is not identity. mTLS authenticates both workload identities and protects transit; authorization separately decides whether caller can use an API. Mesh is not necessarily in demo repo. Ask audience to follow the three numbered events. Explain the cause and impact, then introduce the following slide(s) labeled Solution R. Do not reveal the solution prematurely.</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network alone is not authorization. mTLS encrypts and authenticates both workloads through certificates and trusted CA, but application and policy authorization still needed. Typical service mesh control plane distributes policy, data plane (often sidecars) handles traffic. Repo does not actually run mesh/mTLS—conceptual teaching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 S. Rolling, blue-green, canary manage exposure and rollback. Health checks do not prove business correctness. Traffic rollback does not automatically undo DB migrations. Ask audience to follow the three numbered events. Explain the cause and impact, then introduce the following slide(s) labeled Solution S. Do not reveal the solution prematurely.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Rolling replace pods gradually, blue-green switch from prebuilt new environment, canary expose small measured traffic share. Canary health includes business metrics (checkout success and discounts), not just HTTP 200. Rollbacks are easier for app traffic but data migrations and old/new compatibility matter. Canary percentage requires capable routing layer, not guarantee from normal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validation unit tests alone cannot prove Payment REST or Inventory gRPC compatibility. Integration tests with DB/broker can catch wiring issues. E2E tests verify customer flows but can be slower and fragile. We intentionally do not introduce the testing pyramid, as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API returned stock, the provider changed to quantityAvailable, breaking Order. Both services might pass unit tests. Consumer-driven contract verifies provider against consumer expectations, helping independent releases. Need proper compatibility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Controlled failures test that dependency down/slow produces safe behavior; verify breaker/timeouts/recovery. Feature flags can limit a business feature separately from a deployment. Canary progressively validates new version in production. Safe controls and rollback plan are important; do not claim chaos or canary automatically guarantees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Every tool solves specific class of problem. Do not default to microservices just because scaling; do not assume every resilient pattern is always needed. Use a realistic failure scenario to motivate any architecture choice. Ask audience which failure they would prepare for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audience and invite questions. Show portfolio, GitHub, LinkedIn and email provided by Ali Shair. The learning repository remains available for people who want to try RabbitMQ, Kafka and resilience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from communication basics to the main engineering stories. Tell the audience: We have learned how services communicate. Now I will show what breaks when independent components need to coordinate and how real engineering patterns help. A matching challenge ID connects each solution to the problem it addresses. Some challenges have multiple solutions.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C. Challenge C is temporary staleness of a separate read model or projection, not a property required of all microservices. The solution explains eventual consistency, honest pending states and which operations can tolerate lag. Ask audience to follow the three numbered events. Explain the cause and impact, then introduce the following slide(s) labeled Solution C. Do not reveal the solution prematurely.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E. One message can be redelivered after a consumer processes its business action but crashes before ack. Present the difference between at-most-once, at-least-once and exactly-once processing effects in the next solution slide. Ask audience to follow the three numbered events. Explain the cause and impact, then introduce the following slide(s) labeled Solution E. Do not reveal the solution prematurely.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F. CAP is about guarantees during network partitions between replicas, not general stale reads or all of ACID. Explain the consistency-vs-availability trade-off carefully. Ask audience to follow the three numbered events. Explain the cause and impact, then introduce the following slide(s) labeled Solution F. Do not reveal the solution prematurely.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I. Explain clock skew with two machines. Payment happens later in real time but logs an earlier timestamp. Follow with Lamport logical clocks; happens-before implies smaller logical timestamp, reverse does not prove causation. Ask audience to follow the three numbered events. Explain the cause and impact, then introduce the following slide(s) labeled Solution I. Do not reveal the solution prematurely.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M. Graceful degradation distinguishes optional from critical. If recommendations fail, show core product info. Never claim a payment succeeded as a fallback. Ask audience to follow the three numbered events. Explain the cause and impact, then introduce the following slide(s) labeled Solution M. Do not reveal the solution prematurely.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N. Distinguish rate limiting (client usage policy) and load shedding (reject excess under current overload). Rejection can preserve capacity for valuable traffic. Ask audience to follow the three numbered events. Explain the cause and impact, then introduce the following slide(s) labeled Solution N. Do not reveal the solution prematurely.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O. Chaos engineering is controlled hypothesis-driven fault injection, not random destruction. Choose small blast radius, define success, observe, restore. Ask audience to follow the three numbered events. Explain the cause and impact, then introduce the following slide(s) labeled Solution O. Do not reveal the solution prematurely.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Q. Kubernetes Service provides stable DNS and routes to ready selected Pods; distinguish Deployment (manages Pods) from Service (stable access). Includes readiness/liveness distinction. Ask audience to follow the three numbered events. Explain the cause and impact, then introduce the following slide(s) labeled Solution Q. Do not reveal the solution prematurely.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T. Introduce unit, integration and end-to-end tests as different coverage scopes; no testing pyramid. A passing test in one scope does not prove the entire system. Ask audience to follow the three numbered events. Explain the cause and impact, then introduce the following slide(s) labeled Solution T. Do not reveal the solution prematurely.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U. Unlike A (direct database coupling), U is a public API-contract change. Consumer-driven contract testing catches compatibility issues before deployment. Ask audience to follow the three numbered events. Explain the cause and impact, then introduce the following slide(s) labeled Solution U. Do not reveal the solution prematurely.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V. Failure-scenario tests simulate slow/down dependencies and validate safe retry and recovery; feature flags and canary validation control exposure to changes. Avoid claiming flags alone test fault tolerance. Ask audience to follow the three numbered events. Explain the cause and impact, then introduce the following slide(s) labeled Solution V. Do not reveal the solution prematurely.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ali-shair-portfolio.netlify.app/" TargetMode="External"/><Relationship Id="rId2" Type="http://schemas.openxmlformats.org/officeDocument/2006/relationships/hyperlink" Target="https://github.com/alishair7071/" TargetMode="External"/><Relationship Id="rId3" Type="http://schemas.openxmlformats.org/officeDocument/2006/relationships/hyperlink" Target="https://www.linkedin.com/in/swe-ali-shair/" TargetMode="External"/><Relationship Id="rId4" Type="http://schemas.openxmlformats.org/officeDocument/2006/relationships/hyperlink" Target="mailto:alishair7071@gmail.com" TargetMode="External"/><Relationship Id="rId5" Type="http://schemas.openxmlformats.org/officeDocument/2006/relationships/slideLayout" Target="../slideLayouts/slideLayout1.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76072" y="566928"/>
            <a:ext cx="2907792" cy="274320"/>
          </a:xfrm>
          <a:prstGeom prst="roundRect">
            <a:avLst>
              <a:gd name="adj" fmla="val 40000"/>
            </a:avLst>
          </a:prstGeom>
          <a:solidFill>
            <a:srgbClr val="ECF3FF"/>
          </a:solidFill>
          <a:ln w="12700">
            <a:solidFill>
              <a:srgbClr val="ECF3FF"/>
            </a:solidFill>
            <a:prstDash val="solid"/>
          </a:ln>
        </p:spPr>
        <p:txBody>
          <a:bodyPr/>
          <a:p/>
        </p:txBody>
      </p:sp>
      <p:sp>
        <p:nvSpPr>
          <p:cNvPr id="4" name="Text 2"/>
          <p:cNvSpPr/>
          <p:nvPr/>
        </p:nvSpPr>
        <p:spPr>
          <a:xfrm>
            <a:off x="676656" y="594360"/>
            <a:ext cx="2706624"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2866F6"/>
                </a:solidFill>
                <a:latin typeface="Aptos" pitchFamily="34" charset="0"/>
                <a:ea typeface="Aptos" pitchFamily="34" charset="-122"/>
                <a:cs typeface="Aptos" pitchFamily="34" charset="-120"/>
              </a:rPr>
              <a:t>DEV WEEKENDS  ·  TECH TALK</a:t>
            </a:r>
            <a:endParaRPr lang="en-US" sz="1000" dirty="0"/>
          </a:p>
        </p:txBody>
      </p:sp>
      <p:sp>
        <p:nvSpPr>
          <p:cNvPr id="5" name="Text 3"/>
          <p:cNvSpPr/>
          <p:nvPr/>
        </p:nvSpPr>
        <p:spPr>
          <a:xfrm>
            <a:off x="585216" y="1353312"/>
            <a:ext cx="6528816" cy="594360"/>
          </a:xfrm>
          <a:prstGeom prst="rect">
            <a:avLst/>
          </a:prstGeom>
          <a:noFill/>
          <a:ln/>
        </p:spPr>
        <p:txBody>
          <a:bodyPr wrap="square" lIns="0" tIns="0" rIns="0" bIns="0" rtlCol="0" anchor="ctr">
            <a:normAutofit/>
          </a:bodyPr>
          <a:lstStyle/>
          <a:p>
            <a:pPr algn="l" indent="0" marL="0">
              <a:buNone/>
            </a:pPr>
            <a:r>
              <a:rPr sz="3600" b="1">
                <a:latin typeface="Aptos"/>
              </a:rPr>
              <a:t>Beyond Microservices</a:t>
            </a:r>
            <a:endParaRPr lang="en-US" sz="3600" dirty="0"/>
          </a:p>
        </p:txBody>
      </p:sp>
      <p:sp>
        <p:nvSpPr>
          <p:cNvPr id="6" name="Text 4"/>
          <p:cNvSpPr/>
          <p:nvPr/>
        </p:nvSpPr>
        <p:spPr>
          <a:xfrm>
            <a:off x="585216" y="1947672"/>
            <a:ext cx="6620256" cy="640080"/>
          </a:xfrm>
          <a:prstGeom prst="rect">
            <a:avLst/>
          </a:prstGeom>
          <a:noFill/>
          <a:ln/>
        </p:spPr>
        <p:txBody>
          <a:bodyPr wrap="square" lIns="0" tIns="0" rIns="0" bIns="0" rtlCol="0" anchor="ctr">
            <a:normAutofit/>
          </a:bodyPr>
          <a:lstStyle/>
          <a:p>
            <a:pPr algn="l" indent="0" marL="0">
              <a:buNone/>
            </a:pPr>
            <a:r>
              <a:rPr sz="3200" b="1">
                <a:latin typeface="Aptos"/>
              </a:rPr>
              <a:t>Real Engineering Challenges</a:t>
            </a:r>
            <a:endParaRPr lang="en-US" sz="4100" dirty="0"/>
          </a:p>
        </p:txBody>
      </p:sp>
      <p:sp>
        <p:nvSpPr>
          <p:cNvPr id="7" name="Text 5"/>
          <p:cNvSpPr/>
          <p:nvPr/>
        </p:nvSpPr>
        <p:spPr>
          <a:xfrm>
            <a:off x="594360" y="2944368"/>
            <a:ext cx="6144768" cy="640080"/>
          </a:xfrm>
          <a:prstGeom prst="rect">
            <a:avLst/>
          </a:prstGeom>
          <a:noFill/>
          <a:ln/>
        </p:spPr>
        <p:txBody>
          <a:bodyPr wrap="square" lIns="0" tIns="0" rIns="0" bIns="0" rtlCol="0" anchor="ctr">
            <a:normAutofit/>
          </a:bodyPr>
          <a:lstStyle/>
          <a:p>
            <a:pPr algn="l" indent="0" marL="0">
              <a:buNone/>
            </a:pPr>
            <a:r>
              <a:rPr sz="1800">
                <a:latin typeface="Aptos"/>
              </a:rPr>
              <a:t>Real distributed-system failures, their causes, and engineering solutions</a:t>
            </a:r>
            <a:endParaRPr lang="en-US" sz="2000" dirty="0"/>
          </a:p>
        </p:txBody>
      </p:sp>
      <p:sp>
        <p:nvSpPr>
          <p:cNvPr id="8" name="Shape 6"/>
          <p:cNvSpPr/>
          <p:nvPr/>
        </p:nvSpPr>
        <p:spPr>
          <a:xfrm>
            <a:off x="603504" y="3867912"/>
            <a:ext cx="5477256" cy="0"/>
          </a:xfrm>
          <a:prstGeom prst="line">
            <a:avLst/>
          </a:prstGeom>
          <a:noFill/>
          <a:ln w="15240">
            <a:solidFill>
              <a:srgbClr val="DFE7F1"/>
            </a:solidFill>
            <a:prstDash val="solid"/>
            <a:headEnd type="none"/>
            <a:tailEnd type="none"/>
          </a:ln>
        </p:spPr>
        <p:txBody>
          <a:bodyPr/>
          <a:p/>
        </p:txBody>
      </p:sp>
      <p:sp>
        <p:nvSpPr>
          <p:cNvPr id="9" name="Text 7"/>
          <p:cNvSpPr/>
          <p:nvPr/>
        </p:nvSpPr>
        <p:spPr>
          <a:xfrm>
            <a:off x="603504" y="4078224"/>
            <a:ext cx="6108192" cy="621792"/>
          </a:xfrm>
          <a:prstGeom prst="rect">
            <a:avLst/>
          </a:prstGeom>
          <a:noFill/>
          <a:ln/>
        </p:spPr>
        <p:txBody>
          <a:bodyPr wrap="square" lIns="0" tIns="0" rIns="0" bIns="0" rtlCol="0" anchor="ctr">
            <a:normAutofit/>
          </a:bodyPr>
          <a:lstStyle/>
          <a:p>
            <a:pPr algn="l" indent="0" marL="0">
              <a:buNone/>
            </a:pPr>
            <a:r>
              <a:rPr sz="1500">
                <a:latin typeface="Aptos"/>
              </a:rPr>
              <a:t>From lost payment replies to retry storms, stale locks, safer releases, and security boundaries.</a:t>
            </a:r>
            <a:endParaRPr lang="en-US" sz="1650" dirty="0"/>
          </a:p>
        </p:txBody>
      </p:sp>
      <p:sp>
        <p:nvSpPr>
          <p:cNvPr id="10" name="Text 8"/>
          <p:cNvSpPr/>
          <p:nvPr/>
        </p:nvSpPr>
        <p:spPr>
          <a:xfrm>
            <a:off x="603504" y="5266944"/>
            <a:ext cx="6126480" cy="283464"/>
          </a:xfrm>
          <a:prstGeom prst="rect">
            <a:avLst/>
          </a:prstGeom>
          <a:noFill/>
          <a:ln/>
        </p:spPr>
        <p:txBody>
          <a:bodyPr wrap="square" lIns="0" tIns="0" rIns="0" bIns="0" rtlCol="0" anchor="ctr">
            <a:normAutofit/>
          </a:bodyPr>
          <a:lstStyle/>
          <a:p>
            <a:pPr algn="l" indent="0" marL="0">
              <a:buNone/>
            </a:pPr>
            <a:r>
              <a:rPr lang="en-US" sz="1300" b="1" dirty="0">
                <a:solidFill>
                  <a:srgbClr val="2866F6"/>
                </a:solidFill>
                <a:latin typeface="Aptos" pitchFamily="34" charset="0"/>
                <a:ea typeface="Aptos" pitchFamily="34" charset="-122"/>
                <a:cs typeface="Aptos" pitchFamily="34" charset="-120"/>
              </a:rPr>
              <a:t>80-minute engineering talk  +  10-minute Q&amp;A</a:t>
            </a:r>
            <a:endParaRPr lang="en-US" sz="1300" dirty="0"/>
          </a:p>
        </p:txBody>
      </p:sp>
      <p:sp>
        <p:nvSpPr>
          <p:cNvPr id="11" name="Shape 9"/>
          <p:cNvSpPr/>
          <p:nvPr/>
        </p:nvSpPr>
        <p:spPr>
          <a:xfrm>
            <a:off x="9491472" y="1746504"/>
            <a:ext cx="749808" cy="649224"/>
          </a:xfrm>
          <a:prstGeom prst="line">
            <a:avLst/>
          </a:prstGeom>
          <a:noFill/>
          <a:ln w="25400">
            <a:solidFill>
              <a:srgbClr val="2866F6"/>
            </a:solidFill>
            <a:prstDash val="solid"/>
            <a:headEnd type="none"/>
            <a:tailEnd type="none"/>
          </a:ln>
        </p:spPr>
        <p:txBody>
          <a:bodyPr/>
          <a:p/>
        </p:txBody>
      </p:sp>
      <p:sp>
        <p:nvSpPr>
          <p:cNvPr id="12" name="Shape 10"/>
          <p:cNvSpPr/>
          <p:nvPr/>
        </p:nvSpPr>
        <p:spPr>
          <a:xfrm>
            <a:off x="9400032" y="1892808"/>
            <a:ext cx="-530352" cy="1581912"/>
          </a:xfrm>
          <a:prstGeom prst="line">
            <a:avLst/>
          </a:prstGeom>
          <a:noFill/>
          <a:ln w="25400">
            <a:solidFill>
              <a:srgbClr val="2866F6"/>
            </a:solidFill>
            <a:prstDash val="solid"/>
            <a:headEnd type="none"/>
            <a:tailEnd type="none"/>
          </a:ln>
        </p:spPr>
        <p:txBody>
          <a:bodyPr/>
          <a:p/>
        </p:txBody>
      </p:sp>
      <p:sp>
        <p:nvSpPr>
          <p:cNvPr id="13" name="Shape 11"/>
          <p:cNvSpPr/>
          <p:nvPr/>
        </p:nvSpPr>
        <p:spPr>
          <a:xfrm>
            <a:off x="9070848" y="4032504"/>
            <a:ext cx="1069848" cy="612648"/>
          </a:xfrm>
          <a:prstGeom prst="line">
            <a:avLst/>
          </a:prstGeom>
          <a:noFill/>
          <a:ln w="25400">
            <a:solidFill>
              <a:srgbClr val="DA8424"/>
            </a:solidFill>
            <a:prstDash val="solid"/>
            <a:headEnd type="none"/>
            <a:tailEnd type="none"/>
          </a:ln>
        </p:spPr>
        <p:txBody>
          <a:bodyPr/>
          <a:p/>
        </p:txBody>
      </p:sp>
      <p:sp>
        <p:nvSpPr>
          <p:cNvPr id="14" name="Shape 12"/>
          <p:cNvSpPr/>
          <p:nvPr/>
        </p:nvSpPr>
        <p:spPr>
          <a:xfrm>
            <a:off x="8284464" y="676656"/>
            <a:ext cx="1261872" cy="987552"/>
          </a:xfrm>
          <a:prstGeom prst="ellipse">
            <a:avLst/>
          </a:prstGeom>
          <a:solidFill>
            <a:srgbClr val="FFFFFF"/>
          </a:solidFill>
          <a:ln w="25400">
            <a:solidFill>
              <a:srgbClr val="2866F6"/>
            </a:solidFill>
            <a:prstDash val="solid"/>
          </a:ln>
        </p:spPr>
        <p:txBody>
          <a:bodyPr/>
          <a:p/>
        </p:txBody>
      </p:sp>
      <p:sp>
        <p:nvSpPr>
          <p:cNvPr id="15" name="Text 13"/>
          <p:cNvSpPr/>
          <p:nvPr/>
        </p:nvSpPr>
        <p:spPr>
          <a:xfrm>
            <a:off x="8421624" y="996696"/>
            <a:ext cx="987552" cy="310896"/>
          </a:xfrm>
          <a:prstGeom prst="rect">
            <a:avLst/>
          </a:prstGeom>
          <a:noFill/>
          <a:ln/>
        </p:spPr>
        <p:txBody>
          <a:bodyPr wrap="square" lIns="0" tIns="0" rIns="0" bIns="0" rtlCol="0" anchor="ctr">
            <a:normAutofit/>
          </a:bodyPr>
          <a:lstStyle/>
          <a:p>
            <a:pPr algn="ctr" indent="0" marL="0">
              <a:buNone/>
            </a:pPr>
            <a:r>
              <a:rPr lang="en-US" sz="1200" b="1" dirty="0">
                <a:solidFill>
                  <a:srgbClr val="2866F6"/>
                </a:solidFill>
                <a:latin typeface="Aptos" pitchFamily="34" charset="0"/>
                <a:ea typeface="Aptos" pitchFamily="34" charset="-122"/>
                <a:cs typeface="Aptos" pitchFamily="34" charset="-120"/>
              </a:rPr>
              <a:t>Order</a:t>
            </a:r>
            <a:endParaRPr lang="en-US" sz="1200" dirty="0"/>
          </a:p>
        </p:txBody>
      </p:sp>
      <p:sp>
        <p:nvSpPr>
          <p:cNvPr id="16" name="Shape 14"/>
          <p:cNvSpPr/>
          <p:nvPr/>
        </p:nvSpPr>
        <p:spPr>
          <a:xfrm>
            <a:off x="9619488" y="2084832"/>
            <a:ext cx="1261872" cy="987552"/>
          </a:xfrm>
          <a:prstGeom prst="ellipse">
            <a:avLst/>
          </a:prstGeom>
          <a:solidFill>
            <a:srgbClr val="FFFFFF"/>
          </a:solidFill>
          <a:ln w="25400">
            <a:solidFill>
              <a:srgbClr val="008F83"/>
            </a:solidFill>
            <a:prstDash val="solid"/>
          </a:ln>
        </p:spPr>
        <p:txBody>
          <a:bodyPr/>
          <a:p/>
        </p:txBody>
      </p:sp>
      <p:sp>
        <p:nvSpPr>
          <p:cNvPr id="17" name="Text 15"/>
          <p:cNvSpPr/>
          <p:nvPr/>
        </p:nvSpPr>
        <p:spPr>
          <a:xfrm>
            <a:off x="9756648" y="2404872"/>
            <a:ext cx="987552" cy="310896"/>
          </a:xfrm>
          <a:prstGeom prst="rect">
            <a:avLst/>
          </a:prstGeom>
          <a:noFill/>
          <a:ln/>
        </p:spPr>
        <p:txBody>
          <a:bodyPr wrap="square" lIns="0" tIns="0" rIns="0" bIns="0" rtlCol="0" anchor="ctr">
            <a:normAutofit/>
          </a:bodyPr>
          <a:lstStyle/>
          <a:p>
            <a:pPr algn="ctr" indent="0" marL="0">
              <a:buNone/>
            </a:pPr>
            <a:r>
              <a:rPr lang="en-US" sz="1200" b="1" dirty="0">
                <a:solidFill>
                  <a:srgbClr val="008F83"/>
                </a:solidFill>
                <a:latin typeface="Aptos" pitchFamily="34" charset="0"/>
                <a:ea typeface="Aptos" pitchFamily="34" charset="-122"/>
                <a:cs typeface="Aptos" pitchFamily="34" charset="-120"/>
              </a:rPr>
              <a:t>Inventory</a:t>
            </a:r>
            <a:endParaRPr lang="en-US" sz="1200" dirty="0"/>
          </a:p>
        </p:txBody>
      </p:sp>
      <p:sp>
        <p:nvSpPr>
          <p:cNvPr id="18" name="Shape 16"/>
          <p:cNvSpPr/>
          <p:nvPr/>
        </p:nvSpPr>
        <p:spPr>
          <a:xfrm>
            <a:off x="7754112" y="3108960"/>
            <a:ext cx="1261872" cy="987552"/>
          </a:xfrm>
          <a:prstGeom prst="ellipse">
            <a:avLst/>
          </a:prstGeom>
          <a:solidFill>
            <a:srgbClr val="FFFFFF"/>
          </a:solidFill>
          <a:ln w="25400">
            <a:solidFill>
              <a:srgbClr val="DA8424"/>
            </a:solidFill>
            <a:prstDash val="solid"/>
          </a:ln>
        </p:spPr>
        <p:txBody>
          <a:bodyPr/>
          <a:p/>
        </p:txBody>
      </p:sp>
      <p:sp>
        <p:nvSpPr>
          <p:cNvPr id="19" name="Text 17"/>
          <p:cNvSpPr/>
          <p:nvPr/>
        </p:nvSpPr>
        <p:spPr>
          <a:xfrm>
            <a:off x="7891272" y="3429000"/>
            <a:ext cx="987552" cy="310896"/>
          </a:xfrm>
          <a:prstGeom prst="rect">
            <a:avLst/>
          </a:prstGeom>
          <a:noFill/>
          <a:ln/>
        </p:spPr>
        <p:txBody>
          <a:bodyPr wrap="square" lIns="0" tIns="0" rIns="0" bIns="0" rtlCol="0" anchor="ctr">
            <a:normAutofit/>
          </a:bodyPr>
          <a:lstStyle/>
          <a:p>
            <a:pPr algn="ctr" indent="0" marL="0">
              <a:buNone/>
            </a:pPr>
            <a:r>
              <a:rPr lang="en-US" sz="1200" b="1" dirty="0">
                <a:solidFill>
                  <a:srgbClr val="DA8424"/>
                </a:solidFill>
                <a:latin typeface="Aptos" pitchFamily="34" charset="0"/>
                <a:ea typeface="Aptos" pitchFamily="34" charset="-122"/>
                <a:cs typeface="Aptos" pitchFamily="34" charset="-120"/>
              </a:rPr>
              <a:t>Payment</a:t>
            </a:r>
            <a:endParaRPr lang="en-US" sz="1200" dirty="0"/>
          </a:p>
        </p:txBody>
      </p:sp>
      <p:sp>
        <p:nvSpPr>
          <p:cNvPr id="20" name="Shape 18"/>
          <p:cNvSpPr/>
          <p:nvPr/>
        </p:nvSpPr>
        <p:spPr>
          <a:xfrm>
            <a:off x="9756648" y="4178808"/>
            <a:ext cx="1261872" cy="987552"/>
          </a:xfrm>
          <a:prstGeom prst="ellipse">
            <a:avLst/>
          </a:prstGeom>
          <a:solidFill>
            <a:srgbClr val="FFFFFF"/>
          </a:solidFill>
          <a:ln w="25400">
            <a:solidFill>
              <a:srgbClr val="7259B9"/>
            </a:solidFill>
            <a:prstDash val="solid"/>
          </a:ln>
        </p:spPr>
        <p:txBody>
          <a:bodyPr/>
          <a:p/>
        </p:txBody>
      </p:sp>
      <p:sp>
        <p:nvSpPr>
          <p:cNvPr id="21" name="Text 19"/>
          <p:cNvSpPr/>
          <p:nvPr/>
        </p:nvSpPr>
        <p:spPr>
          <a:xfrm>
            <a:off x="9893808" y="4498848"/>
            <a:ext cx="987552" cy="310896"/>
          </a:xfrm>
          <a:prstGeom prst="rect">
            <a:avLst/>
          </a:prstGeom>
          <a:noFill/>
          <a:ln/>
        </p:spPr>
        <p:txBody>
          <a:bodyPr wrap="square" lIns="0" tIns="0" rIns="0" bIns="0" rtlCol="0" anchor="ctr">
            <a:normAutofit/>
          </a:bodyPr>
          <a:lstStyle/>
          <a:p>
            <a:pPr algn="ctr" indent="0" marL="0">
              <a:buNone/>
            </a:pPr>
            <a:r>
              <a:rPr lang="en-US" sz="1200" b="1" dirty="0">
                <a:solidFill>
                  <a:srgbClr val="7259B9"/>
                </a:solidFill>
                <a:latin typeface="Aptos" pitchFamily="34" charset="0"/>
                <a:ea typeface="Aptos" pitchFamily="34" charset="-122"/>
                <a:cs typeface="Aptos" pitchFamily="34" charset="-120"/>
              </a:rPr>
              <a:t>Events</a:t>
            </a:r>
            <a:endParaRPr lang="en-US" sz="1200" dirty="0"/>
          </a:p>
        </p:txBody>
      </p:sp>
      <p:sp>
        <p:nvSpPr>
          <p:cNvPr id="22" name="Text 20"/>
          <p:cNvSpPr/>
          <p:nvPr/>
        </p:nvSpPr>
        <p:spPr>
          <a:xfrm>
            <a:off x="8247888" y="5733288"/>
            <a:ext cx="2871216" cy="256032"/>
          </a:xfrm>
          <a:prstGeom prst="rect">
            <a:avLst/>
          </a:prstGeom>
          <a:noFill/>
          <a:ln/>
        </p:spPr>
        <p:txBody>
          <a:bodyPr wrap="square" lIns="0" tIns="0" rIns="0" bIns="0" rtlCol="0" anchor="ctr">
            <a:normAutofit/>
          </a:bodyPr>
          <a:lstStyle/>
          <a:p>
            <a:pPr algn="ctr" indent="0" marL="0">
              <a:buNone/>
            </a:pPr>
            <a:r>
              <a:rPr lang="en-US" sz="1300" b="1" dirty="0">
                <a:solidFill>
                  <a:srgbClr val="122239"/>
                </a:solidFill>
                <a:latin typeface="Aptos" pitchFamily="34" charset="0"/>
                <a:ea typeface="Aptos" pitchFamily="34" charset="-122"/>
                <a:cs typeface="Aptos" pitchFamily="34" charset="-120"/>
              </a:rPr>
              <a:t>ALI SHAIR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FOUNDATIONS</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02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2800" b="1" dirty="0">
                <a:solidFill>
                  <a:srgbClr val="122239"/>
                </a:solidFill>
                <a:latin typeface="Aptos" pitchFamily="34" charset="0"/>
                <a:ea typeface="Aptos" pitchFamily="34" charset="-122"/>
                <a:cs typeface="Aptos" pitchFamily="34" charset="-120"/>
              </a:rPr>
              <a:t>One application becomes many independent services</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The architecture changes when local calls become network requests.</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2</a:t>
            </a:r>
            <a:endParaRPr lang="en-US" sz="850" dirty="0"/>
          </a:p>
        </p:txBody>
      </p:sp>
      <p:sp>
        <p:nvSpPr>
          <p:cNvPr id="12" name="Shape 10"/>
          <p:cNvSpPr/>
          <p:nvPr/>
        </p:nvSpPr>
        <p:spPr>
          <a:xfrm>
            <a:off x="594360" y="2212848"/>
            <a:ext cx="5093208" cy="2688336"/>
          </a:xfrm>
          <a:prstGeom prst="roundRect">
            <a:avLst>
              <a:gd name="adj" fmla="val 5102"/>
            </a:avLst>
          </a:prstGeom>
          <a:solidFill>
            <a:srgbClr val="F7F9FC"/>
          </a:solidFill>
          <a:ln w="12700">
            <a:solidFill>
              <a:srgbClr val="DFE7F1"/>
            </a:solidFill>
            <a:prstDash val="solid"/>
          </a:ln>
        </p:spPr>
        <p:txBody>
          <a:bodyPr/>
          <a:p/>
        </p:txBody>
      </p:sp>
      <p:sp>
        <p:nvSpPr>
          <p:cNvPr id="13" name="Shape 11"/>
          <p:cNvSpPr/>
          <p:nvPr/>
        </p:nvSpPr>
        <p:spPr>
          <a:xfrm>
            <a:off x="6501384" y="2212848"/>
            <a:ext cx="5093208" cy="2688336"/>
          </a:xfrm>
          <a:prstGeom prst="roundRect">
            <a:avLst>
              <a:gd name="adj" fmla="val 5102"/>
            </a:avLst>
          </a:prstGeom>
          <a:solidFill>
            <a:srgbClr val="F7F9FC"/>
          </a:solidFill>
          <a:ln w="12700">
            <a:solidFill>
              <a:srgbClr val="DFE7F1"/>
            </a:solidFill>
            <a:prstDash val="solid"/>
          </a:ln>
        </p:spPr>
        <p:txBody>
          <a:bodyPr/>
          <a:p/>
        </p:txBody>
      </p:sp>
      <p:sp>
        <p:nvSpPr>
          <p:cNvPr id="14" name="Shape 12"/>
          <p:cNvSpPr/>
          <p:nvPr/>
        </p:nvSpPr>
        <p:spPr>
          <a:xfrm>
            <a:off x="1737360" y="2404872"/>
            <a:ext cx="2734056" cy="274320"/>
          </a:xfrm>
          <a:prstGeom prst="roundRect">
            <a:avLst>
              <a:gd name="adj" fmla="val 40000"/>
            </a:avLst>
          </a:prstGeom>
          <a:solidFill>
            <a:srgbClr val="EFF3F8"/>
          </a:solidFill>
          <a:ln w="12700">
            <a:solidFill>
              <a:srgbClr val="EFF3F8"/>
            </a:solidFill>
            <a:prstDash val="solid"/>
          </a:ln>
        </p:spPr>
        <p:txBody>
          <a:bodyPr/>
          <a:p/>
        </p:txBody>
      </p:sp>
      <p:sp>
        <p:nvSpPr>
          <p:cNvPr id="15" name="Text 13"/>
          <p:cNvSpPr/>
          <p:nvPr/>
        </p:nvSpPr>
        <p:spPr>
          <a:xfrm>
            <a:off x="1837944" y="2432304"/>
            <a:ext cx="2532888"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64748B"/>
                </a:solidFill>
                <a:latin typeface="Aptos" pitchFamily="34" charset="0"/>
                <a:ea typeface="Aptos" pitchFamily="34" charset="-122"/>
                <a:cs typeface="Aptos" pitchFamily="34" charset="-120"/>
              </a:rPr>
              <a:t>ONE DEPLOYABLE</a:t>
            </a:r>
            <a:endParaRPr lang="en-US" sz="1000" dirty="0"/>
          </a:p>
        </p:txBody>
      </p:sp>
      <p:sp>
        <p:nvSpPr>
          <p:cNvPr id="16" name="Shape 14"/>
          <p:cNvSpPr/>
          <p:nvPr/>
        </p:nvSpPr>
        <p:spPr>
          <a:xfrm>
            <a:off x="7598664" y="2404872"/>
            <a:ext cx="2935224" cy="274320"/>
          </a:xfrm>
          <a:prstGeom prst="roundRect">
            <a:avLst>
              <a:gd name="adj" fmla="val 40000"/>
            </a:avLst>
          </a:prstGeom>
          <a:solidFill>
            <a:srgbClr val="ECF3FF"/>
          </a:solidFill>
          <a:ln w="12700">
            <a:solidFill>
              <a:srgbClr val="ECF3FF"/>
            </a:solidFill>
            <a:prstDash val="solid"/>
          </a:ln>
        </p:spPr>
        <p:txBody>
          <a:bodyPr/>
          <a:p/>
        </p:txBody>
      </p:sp>
      <p:sp>
        <p:nvSpPr>
          <p:cNvPr id="17" name="Text 15"/>
          <p:cNvSpPr/>
          <p:nvPr/>
        </p:nvSpPr>
        <p:spPr>
          <a:xfrm>
            <a:off x="7699248" y="2432304"/>
            <a:ext cx="2734056"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2866F6"/>
                </a:solidFill>
                <a:latin typeface="Aptos" pitchFamily="34" charset="0"/>
                <a:ea typeface="Aptos" pitchFamily="34" charset="-122"/>
                <a:cs typeface="Aptos" pitchFamily="34" charset="-120"/>
              </a:rPr>
              <a:t>SEPARATE SERVICES</a:t>
            </a:r>
            <a:endParaRPr lang="en-US" sz="1000" dirty="0"/>
          </a:p>
        </p:txBody>
      </p:sp>
      <p:sp>
        <p:nvSpPr>
          <p:cNvPr id="18" name="Shape 16"/>
          <p:cNvSpPr/>
          <p:nvPr/>
        </p:nvSpPr>
        <p:spPr>
          <a:xfrm>
            <a:off x="1408176" y="2907792"/>
            <a:ext cx="3401568" cy="1179576"/>
          </a:xfrm>
          <a:prstGeom prst="roundRect">
            <a:avLst>
              <a:gd name="adj" fmla="val 9302"/>
            </a:avLst>
          </a:prstGeom>
          <a:solidFill>
            <a:srgbClr val="EFF3F8"/>
          </a:solidFill>
          <a:ln w="12700">
            <a:solidFill>
              <a:srgbClr val="DFE7F1"/>
            </a:solidFill>
            <a:prstDash val="solid"/>
          </a:ln>
        </p:spPr>
        <p:txBody>
          <a:bodyPr/>
          <a:p/>
        </p:txBody>
      </p:sp>
      <p:sp>
        <p:nvSpPr>
          <p:cNvPr id="19" name="Shape 17"/>
          <p:cNvSpPr/>
          <p:nvPr/>
        </p:nvSpPr>
        <p:spPr>
          <a:xfrm>
            <a:off x="1572768" y="3273552"/>
            <a:ext cx="969264" cy="420624"/>
          </a:xfrm>
          <a:prstGeom prst="roundRect">
            <a:avLst>
              <a:gd name="adj" fmla="val 19565"/>
            </a:avLst>
          </a:prstGeom>
          <a:solidFill>
            <a:srgbClr val="FFFFFF"/>
          </a:solidFill>
          <a:ln w="12700">
            <a:solidFill>
              <a:srgbClr val="DFE7F1"/>
            </a:solidFill>
            <a:prstDash val="solid"/>
          </a:ln>
        </p:spPr>
        <p:txBody>
          <a:bodyPr/>
          <a:p/>
        </p:txBody>
      </p:sp>
      <p:sp>
        <p:nvSpPr>
          <p:cNvPr id="20" name="Text 18"/>
          <p:cNvSpPr/>
          <p:nvPr/>
        </p:nvSpPr>
        <p:spPr>
          <a:xfrm>
            <a:off x="1618488" y="3401568"/>
            <a:ext cx="868680" cy="164592"/>
          </a:xfrm>
          <a:prstGeom prst="rect">
            <a:avLst/>
          </a:prstGeom>
          <a:noFill/>
          <a:ln/>
        </p:spPr>
        <p:txBody>
          <a:bodyPr wrap="square" lIns="0" tIns="0" rIns="0" bIns="0" rtlCol="0" anchor="ctr">
            <a:normAutofit/>
          </a:bodyPr>
          <a:lstStyle/>
          <a:p>
            <a:pPr algn="ctr" indent="0" marL="0">
              <a:buNone/>
            </a:pPr>
            <a:r>
              <a:rPr lang="en-US" sz="1050" b="1" dirty="0">
                <a:solidFill>
                  <a:srgbClr val="122239"/>
                </a:solidFill>
                <a:latin typeface="Aptos" pitchFamily="34" charset="0"/>
                <a:ea typeface="Aptos" pitchFamily="34" charset="-122"/>
                <a:cs typeface="Aptos" pitchFamily="34" charset="-120"/>
              </a:rPr>
              <a:t>Catalog</a:t>
            </a:r>
            <a:endParaRPr lang="en-US" sz="1050" dirty="0"/>
          </a:p>
        </p:txBody>
      </p:sp>
      <p:sp>
        <p:nvSpPr>
          <p:cNvPr id="21" name="Shape 19"/>
          <p:cNvSpPr/>
          <p:nvPr/>
        </p:nvSpPr>
        <p:spPr>
          <a:xfrm>
            <a:off x="2615184" y="3273552"/>
            <a:ext cx="969264" cy="420624"/>
          </a:xfrm>
          <a:prstGeom prst="roundRect">
            <a:avLst>
              <a:gd name="adj" fmla="val 19565"/>
            </a:avLst>
          </a:prstGeom>
          <a:solidFill>
            <a:srgbClr val="FFFFFF"/>
          </a:solidFill>
          <a:ln w="12700">
            <a:solidFill>
              <a:srgbClr val="DFE7F1"/>
            </a:solidFill>
            <a:prstDash val="solid"/>
          </a:ln>
        </p:spPr>
        <p:txBody>
          <a:bodyPr/>
          <a:p/>
        </p:txBody>
      </p:sp>
      <p:sp>
        <p:nvSpPr>
          <p:cNvPr id="22" name="Text 20"/>
          <p:cNvSpPr/>
          <p:nvPr/>
        </p:nvSpPr>
        <p:spPr>
          <a:xfrm>
            <a:off x="2660904" y="3401568"/>
            <a:ext cx="868680" cy="164592"/>
          </a:xfrm>
          <a:prstGeom prst="rect">
            <a:avLst/>
          </a:prstGeom>
          <a:noFill/>
          <a:ln/>
        </p:spPr>
        <p:txBody>
          <a:bodyPr wrap="square" lIns="0" tIns="0" rIns="0" bIns="0" rtlCol="0" anchor="ctr">
            <a:normAutofit/>
          </a:bodyPr>
          <a:lstStyle/>
          <a:p>
            <a:pPr algn="ctr" indent="0" marL="0">
              <a:buNone/>
            </a:pPr>
            <a:r>
              <a:rPr lang="en-US" sz="1050" b="1" dirty="0">
                <a:solidFill>
                  <a:srgbClr val="122239"/>
                </a:solidFill>
                <a:latin typeface="Aptos" pitchFamily="34" charset="0"/>
                <a:ea typeface="Aptos" pitchFamily="34" charset="-122"/>
                <a:cs typeface="Aptos" pitchFamily="34" charset="-120"/>
              </a:rPr>
              <a:t>Orders</a:t>
            </a:r>
            <a:endParaRPr lang="en-US" sz="1050" dirty="0"/>
          </a:p>
        </p:txBody>
      </p:sp>
      <p:sp>
        <p:nvSpPr>
          <p:cNvPr id="23" name="Shape 21"/>
          <p:cNvSpPr/>
          <p:nvPr/>
        </p:nvSpPr>
        <p:spPr>
          <a:xfrm>
            <a:off x="3657600" y="3273552"/>
            <a:ext cx="969264" cy="420624"/>
          </a:xfrm>
          <a:prstGeom prst="roundRect">
            <a:avLst>
              <a:gd name="adj" fmla="val 19565"/>
            </a:avLst>
          </a:prstGeom>
          <a:solidFill>
            <a:srgbClr val="FFFFFF"/>
          </a:solidFill>
          <a:ln w="12700">
            <a:solidFill>
              <a:srgbClr val="DFE7F1"/>
            </a:solidFill>
            <a:prstDash val="solid"/>
          </a:ln>
        </p:spPr>
        <p:txBody>
          <a:bodyPr/>
          <a:p/>
        </p:txBody>
      </p:sp>
      <p:sp>
        <p:nvSpPr>
          <p:cNvPr id="24" name="Text 22"/>
          <p:cNvSpPr/>
          <p:nvPr/>
        </p:nvSpPr>
        <p:spPr>
          <a:xfrm>
            <a:off x="3703320" y="3401568"/>
            <a:ext cx="868680" cy="164592"/>
          </a:xfrm>
          <a:prstGeom prst="rect">
            <a:avLst/>
          </a:prstGeom>
          <a:noFill/>
          <a:ln/>
        </p:spPr>
        <p:txBody>
          <a:bodyPr wrap="square" lIns="0" tIns="0" rIns="0" bIns="0" rtlCol="0" anchor="ctr">
            <a:normAutofit/>
          </a:bodyPr>
          <a:lstStyle/>
          <a:p>
            <a:pPr algn="ctr" indent="0" marL="0">
              <a:buNone/>
            </a:pPr>
            <a:r>
              <a:rPr lang="en-US" sz="1050" b="1" dirty="0">
                <a:solidFill>
                  <a:srgbClr val="122239"/>
                </a:solidFill>
                <a:latin typeface="Aptos" pitchFamily="34" charset="0"/>
                <a:ea typeface="Aptos" pitchFamily="34" charset="-122"/>
                <a:cs typeface="Aptos" pitchFamily="34" charset="-120"/>
              </a:rPr>
              <a:t>Payments</a:t>
            </a:r>
            <a:endParaRPr lang="en-US" sz="1050" dirty="0"/>
          </a:p>
        </p:txBody>
      </p:sp>
      <p:sp>
        <p:nvSpPr>
          <p:cNvPr id="25" name="Shape 23"/>
          <p:cNvSpPr/>
          <p:nvPr/>
        </p:nvSpPr>
        <p:spPr>
          <a:xfrm>
            <a:off x="6748272" y="3127248"/>
            <a:ext cx="1389888" cy="877824"/>
          </a:xfrm>
          <a:prstGeom prst="roundRect">
            <a:avLst>
              <a:gd name="adj" fmla="val 12500"/>
            </a:avLst>
          </a:prstGeom>
          <a:solidFill>
            <a:srgbClr val="E7F8F3"/>
          </a:solidFill>
          <a:ln w="12700">
            <a:solidFill>
              <a:srgbClr val="B4E6DD"/>
            </a:solidFill>
            <a:prstDash val="solid"/>
          </a:ln>
        </p:spPr>
        <p:txBody>
          <a:bodyPr/>
          <a:p/>
        </p:txBody>
      </p:sp>
      <p:sp>
        <p:nvSpPr>
          <p:cNvPr id="26" name="Text 24"/>
          <p:cNvSpPr/>
          <p:nvPr/>
        </p:nvSpPr>
        <p:spPr>
          <a:xfrm>
            <a:off x="6803136" y="3383280"/>
            <a:ext cx="1280160" cy="246888"/>
          </a:xfrm>
          <a:prstGeom prst="rect">
            <a:avLst/>
          </a:prstGeom>
          <a:noFill/>
          <a:ln/>
        </p:spPr>
        <p:txBody>
          <a:bodyPr wrap="square" lIns="0" tIns="0" rIns="0" bIns="0" rtlCol="0" anchor="ctr">
            <a:normAutofit/>
          </a:bodyPr>
          <a:lstStyle/>
          <a:p>
            <a:pPr algn="ctr" indent="0" marL="0">
              <a:buNone/>
            </a:pPr>
            <a:r>
              <a:rPr lang="en-US" sz="1300" b="1" dirty="0">
                <a:solidFill>
                  <a:srgbClr val="122239"/>
                </a:solidFill>
                <a:latin typeface="Aptos" pitchFamily="34" charset="0"/>
                <a:ea typeface="Aptos" pitchFamily="34" charset="-122"/>
                <a:cs typeface="Aptos" pitchFamily="34" charset="-120"/>
              </a:rPr>
              <a:t>Catalog</a:t>
            </a:r>
            <a:endParaRPr lang="en-US" sz="1300" dirty="0"/>
          </a:p>
        </p:txBody>
      </p:sp>
      <p:sp>
        <p:nvSpPr>
          <p:cNvPr id="27" name="Shape 25"/>
          <p:cNvSpPr/>
          <p:nvPr/>
        </p:nvSpPr>
        <p:spPr>
          <a:xfrm>
            <a:off x="8156448" y="3566160"/>
            <a:ext cx="173736" cy="0"/>
          </a:xfrm>
          <a:prstGeom prst="line">
            <a:avLst/>
          </a:prstGeom>
          <a:noFill/>
          <a:ln w="19050">
            <a:solidFill>
              <a:srgbClr val="2866F6"/>
            </a:solidFill>
            <a:prstDash val="solid"/>
            <a:headEnd type="none"/>
            <a:tailEnd type="triangle"/>
          </a:ln>
        </p:spPr>
        <p:txBody>
          <a:bodyPr/>
          <a:p/>
        </p:txBody>
      </p:sp>
      <p:sp>
        <p:nvSpPr>
          <p:cNvPr id="28" name="Shape 26"/>
          <p:cNvSpPr/>
          <p:nvPr/>
        </p:nvSpPr>
        <p:spPr>
          <a:xfrm>
            <a:off x="8339328" y="3127248"/>
            <a:ext cx="1389888" cy="877824"/>
          </a:xfrm>
          <a:prstGeom prst="roundRect">
            <a:avLst>
              <a:gd name="adj" fmla="val 12500"/>
            </a:avLst>
          </a:prstGeom>
          <a:solidFill>
            <a:srgbClr val="ECF3FF"/>
          </a:solidFill>
          <a:ln w="12700">
            <a:solidFill>
              <a:srgbClr val="CBDBFF"/>
            </a:solidFill>
            <a:prstDash val="solid"/>
          </a:ln>
        </p:spPr>
        <p:txBody>
          <a:bodyPr/>
          <a:p/>
        </p:txBody>
      </p:sp>
      <p:sp>
        <p:nvSpPr>
          <p:cNvPr id="29" name="Text 27"/>
          <p:cNvSpPr/>
          <p:nvPr/>
        </p:nvSpPr>
        <p:spPr>
          <a:xfrm>
            <a:off x="8394192" y="3383280"/>
            <a:ext cx="1280160" cy="246888"/>
          </a:xfrm>
          <a:prstGeom prst="rect">
            <a:avLst/>
          </a:prstGeom>
          <a:noFill/>
          <a:ln/>
        </p:spPr>
        <p:txBody>
          <a:bodyPr wrap="square" lIns="0" tIns="0" rIns="0" bIns="0" rtlCol="0" anchor="ctr">
            <a:normAutofit/>
          </a:bodyPr>
          <a:lstStyle/>
          <a:p>
            <a:pPr algn="ctr" indent="0" marL="0">
              <a:buNone/>
            </a:pPr>
            <a:r>
              <a:rPr lang="en-US" sz="1300" b="1" dirty="0">
                <a:solidFill>
                  <a:srgbClr val="122239"/>
                </a:solidFill>
                <a:latin typeface="Aptos" pitchFamily="34" charset="0"/>
                <a:ea typeface="Aptos" pitchFamily="34" charset="-122"/>
                <a:cs typeface="Aptos" pitchFamily="34" charset="-120"/>
              </a:rPr>
              <a:t>Orders</a:t>
            </a:r>
            <a:endParaRPr lang="en-US" sz="1300" dirty="0"/>
          </a:p>
        </p:txBody>
      </p:sp>
      <p:sp>
        <p:nvSpPr>
          <p:cNvPr id="30" name="Shape 28"/>
          <p:cNvSpPr/>
          <p:nvPr/>
        </p:nvSpPr>
        <p:spPr>
          <a:xfrm>
            <a:off x="9747504" y="3566160"/>
            <a:ext cx="173736" cy="0"/>
          </a:xfrm>
          <a:prstGeom prst="line">
            <a:avLst/>
          </a:prstGeom>
          <a:noFill/>
          <a:ln w="19050">
            <a:solidFill>
              <a:srgbClr val="2866F6"/>
            </a:solidFill>
            <a:prstDash val="solid"/>
            <a:headEnd type="none"/>
            <a:tailEnd type="triangle"/>
          </a:ln>
        </p:spPr>
        <p:txBody>
          <a:bodyPr/>
          <a:p/>
        </p:txBody>
      </p:sp>
      <p:sp>
        <p:nvSpPr>
          <p:cNvPr id="31" name="Shape 29"/>
          <p:cNvSpPr/>
          <p:nvPr/>
        </p:nvSpPr>
        <p:spPr>
          <a:xfrm>
            <a:off x="9930384" y="3127248"/>
            <a:ext cx="1389888" cy="877824"/>
          </a:xfrm>
          <a:prstGeom prst="roundRect">
            <a:avLst>
              <a:gd name="adj" fmla="val 12500"/>
            </a:avLst>
          </a:prstGeom>
          <a:solidFill>
            <a:srgbClr val="FFF4E5"/>
          </a:solidFill>
          <a:ln w="12700">
            <a:solidFill>
              <a:srgbClr val="F2D3AC"/>
            </a:solidFill>
            <a:prstDash val="solid"/>
          </a:ln>
        </p:spPr>
        <p:txBody>
          <a:bodyPr/>
          <a:p/>
        </p:txBody>
      </p:sp>
      <p:sp>
        <p:nvSpPr>
          <p:cNvPr id="32" name="Text 30"/>
          <p:cNvSpPr/>
          <p:nvPr/>
        </p:nvSpPr>
        <p:spPr>
          <a:xfrm>
            <a:off x="9985248" y="3383280"/>
            <a:ext cx="1280160" cy="246888"/>
          </a:xfrm>
          <a:prstGeom prst="rect">
            <a:avLst/>
          </a:prstGeom>
          <a:noFill/>
          <a:ln/>
        </p:spPr>
        <p:txBody>
          <a:bodyPr wrap="square" lIns="0" tIns="0" rIns="0" bIns="0" rtlCol="0" anchor="ctr">
            <a:normAutofit/>
          </a:bodyPr>
          <a:lstStyle/>
          <a:p>
            <a:pPr algn="ctr" indent="0" marL="0">
              <a:buNone/>
            </a:pPr>
            <a:r>
              <a:rPr lang="en-US" sz="1300" b="1" dirty="0">
                <a:solidFill>
                  <a:srgbClr val="122239"/>
                </a:solidFill>
                <a:latin typeface="Aptos" pitchFamily="34" charset="0"/>
                <a:ea typeface="Aptos" pitchFamily="34" charset="-122"/>
                <a:cs typeface="Aptos" pitchFamily="34" charset="-120"/>
              </a:rPr>
              <a:t>Payments</a:t>
            </a:r>
            <a:endParaRPr lang="en-US" sz="1300" dirty="0"/>
          </a:p>
        </p:txBody>
      </p:sp>
      <p:sp>
        <p:nvSpPr>
          <p:cNvPr id="33" name="Text 31"/>
          <p:cNvSpPr/>
          <p:nvPr/>
        </p:nvSpPr>
        <p:spPr>
          <a:xfrm>
            <a:off x="1005840" y="4471416"/>
            <a:ext cx="4325112" cy="301752"/>
          </a:xfrm>
          <a:prstGeom prst="rect">
            <a:avLst/>
          </a:prstGeom>
          <a:noFill/>
          <a:ln/>
        </p:spPr>
        <p:txBody>
          <a:bodyPr wrap="square" lIns="0" tIns="0" rIns="0" bIns="0" rtlCol="0" anchor="ctr">
            <a:normAutofit/>
          </a:bodyPr>
          <a:lstStyle/>
          <a:p>
            <a:pPr algn="ctr" indent="0" marL="0">
              <a:buNone/>
            </a:pPr>
            <a:r>
              <a:rPr lang="en-US" sz="1400" dirty="0">
                <a:solidFill>
                  <a:srgbClr val="64748B"/>
                </a:solidFill>
                <a:latin typeface="Aptos" pitchFamily="34" charset="0"/>
                <a:ea typeface="Aptos" pitchFamily="34" charset="-122"/>
                <a:cs typeface="Aptos" pitchFamily="34" charset="-120"/>
              </a:rPr>
              <a:t>One runtime · Direct function calls</a:t>
            </a:r>
            <a:endParaRPr lang="en-US" sz="1400" dirty="0"/>
          </a:p>
        </p:txBody>
      </p:sp>
      <p:sp>
        <p:nvSpPr>
          <p:cNvPr id="34" name="Text 32"/>
          <p:cNvSpPr/>
          <p:nvPr/>
        </p:nvSpPr>
        <p:spPr>
          <a:xfrm>
            <a:off x="6729984" y="4471416"/>
            <a:ext cx="4462272" cy="301752"/>
          </a:xfrm>
          <a:prstGeom prst="rect">
            <a:avLst/>
          </a:prstGeom>
          <a:noFill/>
          <a:ln/>
        </p:spPr>
        <p:txBody>
          <a:bodyPr wrap="square" lIns="0" tIns="0" rIns="0" bIns="0" rtlCol="0" anchor="ctr">
            <a:normAutofit/>
          </a:bodyPr>
          <a:lstStyle/>
          <a:p>
            <a:pPr algn="ctr" indent="0" marL="0">
              <a:buNone/>
            </a:pPr>
            <a:r>
              <a:rPr lang="en-US" sz="1400" dirty="0">
                <a:solidFill>
                  <a:srgbClr val="64748B"/>
                </a:solidFill>
                <a:latin typeface="Aptos" pitchFamily="34" charset="0"/>
                <a:ea typeface="Aptos" pitchFamily="34" charset="-122"/>
                <a:cs typeface="Aptos" pitchFamily="34" charset="-120"/>
              </a:rPr>
              <a:t>Independent runtimes · Network calls</a:t>
            </a:r>
            <a:endParaRPr lang="en-US" sz="1400" dirty="0"/>
          </a:p>
        </p:txBody>
      </p:sp>
      <p:sp>
        <p:nvSpPr>
          <p:cNvPr id="35" name="Shape 33"/>
          <p:cNvSpPr/>
          <p:nvPr/>
        </p:nvSpPr>
        <p:spPr>
          <a:xfrm>
            <a:off x="603504" y="5166360"/>
            <a:ext cx="5413248" cy="1051560"/>
          </a:xfrm>
          <a:prstGeom prst="roundRect">
            <a:avLst>
              <a:gd name="adj" fmla="val 12174"/>
            </a:avLst>
          </a:prstGeom>
          <a:solidFill>
            <a:srgbClr val="F7F9FC"/>
          </a:solidFill>
          <a:ln w="12700">
            <a:solidFill>
              <a:srgbClr val="DFE7F1"/>
            </a:solidFill>
            <a:prstDash val="solid"/>
          </a:ln>
        </p:spPr>
        <p:txBody>
          <a:bodyPr/>
          <a:p/>
        </p:txBody>
      </p:sp>
      <p:sp>
        <p:nvSpPr>
          <p:cNvPr id="36" name="Shape 34"/>
          <p:cNvSpPr/>
          <p:nvPr/>
        </p:nvSpPr>
        <p:spPr>
          <a:xfrm>
            <a:off x="603504" y="5166360"/>
            <a:ext cx="50292" cy="1051560"/>
          </a:xfrm>
          <a:prstGeom prst="rect">
            <a:avLst/>
          </a:prstGeom>
          <a:solidFill>
            <a:srgbClr val="2866F6"/>
          </a:solidFill>
          <a:ln w="12700">
            <a:solidFill>
              <a:srgbClr val="2866F6"/>
            </a:solidFill>
            <a:prstDash val="solid"/>
          </a:ln>
        </p:spPr>
        <p:txBody>
          <a:bodyPr/>
          <a:p/>
        </p:txBody>
      </p:sp>
      <p:sp>
        <p:nvSpPr>
          <p:cNvPr id="37" name="Text 35"/>
          <p:cNvSpPr/>
          <p:nvPr/>
        </p:nvSpPr>
        <p:spPr>
          <a:xfrm>
            <a:off x="777240" y="5285232"/>
            <a:ext cx="508406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Monolith</a:t>
            </a:r>
            <a:endParaRPr lang="en-US" sz="1340" dirty="0"/>
          </a:p>
        </p:txBody>
      </p:sp>
      <p:sp>
        <p:nvSpPr>
          <p:cNvPr id="38" name="Text 36"/>
          <p:cNvSpPr/>
          <p:nvPr/>
        </p:nvSpPr>
        <p:spPr>
          <a:xfrm>
            <a:off x="777240" y="5669280"/>
            <a:ext cx="5074920" cy="46634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 modular monolith can still be well-structured and scalable.</a:t>
            </a:r>
            <a:endParaRPr lang="en-US" sz="1230" dirty="0"/>
          </a:p>
        </p:txBody>
      </p:sp>
      <p:sp>
        <p:nvSpPr>
          <p:cNvPr id="39" name="Shape 37"/>
          <p:cNvSpPr/>
          <p:nvPr/>
        </p:nvSpPr>
        <p:spPr>
          <a:xfrm>
            <a:off x="6163056" y="5166360"/>
            <a:ext cx="5413248" cy="1051560"/>
          </a:xfrm>
          <a:prstGeom prst="roundRect">
            <a:avLst>
              <a:gd name="adj" fmla="val 12174"/>
            </a:avLst>
          </a:prstGeom>
          <a:solidFill>
            <a:srgbClr val="F7F9FC"/>
          </a:solidFill>
          <a:ln w="12700">
            <a:solidFill>
              <a:srgbClr val="DFE7F1"/>
            </a:solidFill>
            <a:prstDash val="solid"/>
          </a:ln>
        </p:spPr>
        <p:txBody>
          <a:bodyPr/>
          <a:p/>
        </p:txBody>
      </p:sp>
      <p:sp>
        <p:nvSpPr>
          <p:cNvPr id="40" name="Shape 38"/>
          <p:cNvSpPr/>
          <p:nvPr/>
        </p:nvSpPr>
        <p:spPr>
          <a:xfrm>
            <a:off x="6163056" y="5166360"/>
            <a:ext cx="50292" cy="1051560"/>
          </a:xfrm>
          <a:prstGeom prst="rect">
            <a:avLst/>
          </a:prstGeom>
          <a:solidFill>
            <a:srgbClr val="2866F6"/>
          </a:solidFill>
          <a:ln w="12700">
            <a:solidFill>
              <a:srgbClr val="2866F6"/>
            </a:solidFill>
            <a:prstDash val="solid"/>
          </a:ln>
        </p:spPr>
        <p:txBody>
          <a:bodyPr/>
          <a:p/>
        </p:txBody>
      </p:sp>
      <p:sp>
        <p:nvSpPr>
          <p:cNvPr id="41" name="Text 39"/>
          <p:cNvSpPr/>
          <p:nvPr/>
        </p:nvSpPr>
        <p:spPr>
          <a:xfrm>
            <a:off x="6336792" y="5285232"/>
            <a:ext cx="508406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Microservices</a:t>
            </a:r>
            <a:endParaRPr lang="en-US" sz="1340" dirty="0"/>
          </a:p>
        </p:txBody>
      </p:sp>
      <p:sp>
        <p:nvSpPr>
          <p:cNvPr id="42" name="Text 40"/>
          <p:cNvSpPr/>
          <p:nvPr/>
        </p:nvSpPr>
        <p:spPr>
          <a:xfrm>
            <a:off x="6336792" y="5669280"/>
            <a:ext cx="5074920" cy="46634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Services are independently runnable and may deploy at different times.</a:t>
            </a:r>
            <a:endParaRPr lang="en-US" sz="12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FOUNDATIONS</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03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2800" b="1" dirty="0">
                <a:solidFill>
                  <a:srgbClr val="122239"/>
                </a:solidFill>
                <a:latin typeface="Aptos" pitchFamily="34" charset="0"/>
                <a:ea typeface="Aptos" pitchFamily="34" charset="-122"/>
                <a:cs typeface="Aptos" pitchFamily="34" charset="-120"/>
              </a:rPr>
              <a:t>Freedom to deploy also creates failure boundaries</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Distribution is a trade-off, not a free performance or reliability upgrade.</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3</a:t>
            </a:r>
            <a:endParaRPr lang="en-US" sz="850" dirty="0"/>
          </a:p>
        </p:txBody>
      </p:sp>
      <p:sp>
        <p:nvSpPr>
          <p:cNvPr id="12" name="Shape 10"/>
          <p:cNvSpPr/>
          <p:nvPr/>
        </p:nvSpPr>
        <p:spPr>
          <a:xfrm>
            <a:off x="548640" y="2295144"/>
            <a:ext cx="5440680" cy="2450592"/>
          </a:xfrm>
          <a:prstGeom prst="roundRect">
            <a:avLst>
              <a:gd name="adj" fmla="val 5224"/>
            </a:avLst>
          </a:prstGeom>
          <a:solidFill>
            <a:srgbClr val="E7F8F3"/>
          </a:solidFill>
          <a:ln w="12700">
            <a:solidFill>
              <a:srgbClr val="DFE7F1"/>
            </a:solidFill>
            <a:prstDash val="solid"/>
          </a:ln>
        </p:spPr>
        <p:txBody>
          <a:bodyPr/>
          <a:p/>
        </p:txBody>
      </p:sp>
      <p:sp>
        <p:nvSpPr>
          <p:cNvPr id="13" name="Shape 11"/>
          <p:cNvSpPr/>
          <p:nvPr/>
        </p:nvSpPr>
        <p:spPr>
          <a:xfrm>
            <a:off x="548640" y="2295144"/>
            <a:ext cx="50292" cy="2450592"/>
          </a:xfrm>
          <a:prstGeom prst="rect">
            <a:avLst/>
          </a:prstGeom>
          <a:solidFill>
            <a:srgbClr val="008F83"/>
          </a:solidFill>
          <a:ln w="12700">
            <a:solidFill>
              <a:srgbClr val="008F83"/>
            </a:solidFill>
            <a:prstDash val="solid"/>
          </a:ln>
        </p:spPr>
        <p:txBody>
          <a:bodyPr/>
          <a:p/>
        </p:txBody>
      </p:sp>
      <p:sp>
        <p:nvSpPr>
          <p:cNvPr id="14" name="Text 12"/>
          <p:cNvSpPr/>
          <p:nvPr/>
        </p:nvSpPr>
        <p:spPr>
          <a:xfrm>
            <a:off x="722376" y="2414016"/>
            <a:ext cx="5111496" cy="301752"/>
          </a:xfrm>
          <a:prstGeom prst="rect">
            <a:avLst/>
          </a:prstGeom>
          <a:noFill/>
          <a:ln/>
        </p:spPr>
        <p:txBody>
          <a:bodyPr wrap="square" lIns="0" tIns="0" rIns="0" bIns="0" rtlCol="0" anchor="ctr">
            <a:normAutofit/>
          </a:bodyPr>
          <a:lstStyle/>
          <a:p>
            <a:pPr algn="l" indent="0" marL="0">
              <a:buNone/>
            </a:pPr>
            <a:r>
              <a:rPr lang="en-US" sz="1700" b="1" dirty="0">
                <a:solidFill>
                  <a:srgbClr val="122239"/>
                </a:solidFill>
                <a:latin typeface="Aptos" pitchFamily="34" charset="0"/>
                <a:ea typeface="Aptos" pitchFamily="34" charset="-122"/>
                <a:cs typeface="Aptos" pitchFamily="34" charset="-120"/>
              </a:rPr>
              <a:t>WHAT WE GAIN</a:t>
            </a:r>
            <a:endParaRPr lang="en-US" sz="1700" dirty="0"/>
          </a:p>
        </p:txBody>
      </p:sp>
      <p:sp>
        <p:nvSpPr>
          <p:cNvPr id="15" name="Text 13"/>
          <p:cNvSpPr/>
          <p:nvPr/>
        </p:nvSpPr>
        <p:spPr>
          <a:xfrm>
            <a:off x="722376" y="2798064"/>
            <a:ext cx="5102352" cy="1865376"/>
          </a:xfrm>
          <a:prstGeom prst="rect">
            <a:avLst/>
          </a:prstGeom>
          <a:noFill/>
          <a:ln/>
        </p:spPr>
        <p:txBody>
          <a:bodyPr wrap="square" lIns="0" tIns="0" rIns="0" bIns="0" rtlCol="0" anchor="ctr">
            <a:normAutofit/>
          </a:bodyPr>
          <a:lstStyle/>
          <a:p>
            <a:pPr algn="l" indent="0" marL="0">
              <a:buNone/>
            </a:pPr>
            <a:r>
              <a:rPr lang="en-US" sz="1500" dirty="0">
                <a:solidFill>
                  <a:srgbClr val="354862"/>
                </a:solidFill>
                <a:latin typeface="Aptos" pitchFamily="34" charset="0"/>
                <a:ea typeface="Aptos" pitchFamily="34" charset="-122"/>
                <a:cs typeface="Aptos" pitchFamily="34" charset="-120"/>
              </a:rPr>
              <a:t>Independent releases and scaling. Teams can evolve services separately when boundaries are well designed.</a:t>
            </a:r>
            <a:endParaRPr lang="en-US" sz="1500" dirty="0"/>
          </a:p>
        </p:txBody>
      </p:sp>
      <p:sp>
        <p:nvSpPr>
          <p:cNvPr id="16" name="Shape 14"/>
          <p:cNvSpPr/>
          <p:nvPr/>
        </p:nvSpPr>
        <p:spPr>
          <a:xfrm>
            <a:off x="6163056" y="2295144"/>
            <a:ext cx="5504688" cy="2450592"/>
          </a:xfrm>
          <a:prstGeom prst="roundRect">
            <a:avLst>
              <a:gd name="adj" fmla="val 5224"/>
            </a:avLst>
          </a:prstGeom>
          <a:solidFill>
            <a:srgbClr val="FFF0F0"/>
          </a:solidFill>
          <a:ln w="12700">
            <a:solidFill>
              <a:srgbClr val="DFE7F1"/>
            </a:solidFill>
            <a:prstDash val="solid"/>
          </a:ln>
        </p:spPr>
        <p:txBody>
          <a:bodyPr/>
          <a:p/>
        </p:txBody>
      </p:sp>
      <p:sp>
        <p:nvSpPr>
          <p:cNvPr id="17" name="Shape 15"/>
          <p:cNvSpPr/>
          <p:nvPr/>
        </p:nvSpPr>
        <p:spPr>
          <a:xfrm>
            <a:off x="6163056" y="2295144"/>
            <a:ext cx="50292" cy="2450592"/>
          </a:xfrm>
          <a:prstGeom prst="rect">
            <a:avLst/>
          </a:prstGeom>
          <a:solidFill>
            <a:srgbClr val="D84148"/>
          </a:solidFill>
          <a:ln w="12700">
            <a:solidFill>
              <a:srgbClr val="D84148"/>
            </a:solidFill>
            <a:prstDash val="solid"/>
          </a:ln>
        </p:spPr>
        <p:txBody>
          <a:bodyPr/>
          <a:p/>
        </p:txBody>
      </p:sp>
      <p:sp>
        <p:nvSpPr>
          <p:cNvPr id="18" name="Text 16"/>
          <p:cNvSpPr/>
          <p:nvPr/>
        </p:nvSpPr>
        <p:spPr>
          <a:xfrm>
            <a:off x="6336792" y="2414016"/>
            <a:ext cx="5175504" cy="301752"/>
          </a:xfrm>
          <a:prstGeom prst="rect">
            <a:avLst/>
          </a:prstGeom>
          <a:noFill/>
          <a:ln/>
        </p:spPr>
        <p:txBody>
          <a:bodyPr wrap="square" lIns="0" tIns="0" rIns="0" bIns="0" rtlCol="0" anchor="ctr">
            <a:normAutofit/>
          </a:bodyPr>
          <a:lstStyle/>
          <a:p>
            <a:pPr algn="l" indent="0" marL="0">
              <a:buNone/>
            </a:pPr>
            <a:r>
              <a:rPr lang="en-US" sz="1700" b="1" dirty="0">
                <a:solidFill>
                  <a:srgbClr val="122239"/>
                </a:solidFill>
                <a:latin typeface="Aptos" pitchFamily="34" charset="0"/>
                <a:ea typeface="Aptos" pitchFamily="34" charset="-122"/>
                <a:cs typeface="Aptos" pitchFamily="34" charset="-120"/>
              </a:rPr>
              <a:t>WHAT WE ADD</a:t>
            </a:r>
            <a:endParaRPr lang="en-US" sz="1700" dirty="0"/>
          </a:p>
        </p:txBody>
      </p:sp>
      <p:sp>
        <p:nvSpPr>
          <p:cNvPr id="19" name="Text 17"/>
          <p:cNvSpPr/>
          <p:nvPr/>
        </p:nvSpPr>
        <p:spPr>
          <a:xfrm>
            <a:off x="6336792" y="2798064"/>
            <a:ext cx="5166360" cy="1865376"/>
          </a:xfrm>
          <a:prstGeom prst="rect">
            <a:avLst/>
          </a:prstGeom>
          <a:noFill/>
          <a:ln/>
        </p:spPr>
        <p:txBody>
          <a:bodyPr wrap="square" lIns="0" tIns="0" rIns="0" bIns="0" rtlCol="0" anchor="ctr">
            <a:normAutofit/>
          </a:bodyPr>
          <a:lstStyle/>
          <a:p>
            <a:pPr algn="l" indent="0" marL="0">
              <a:buNone/>
            </a:pPr>
            <a:r>
              <a:rPr lang="en-US" sz="1500" dirty="0">
                <a:solidFill>
                  <a:srgbClr val="354862"/>
                </a:solidFill>
                <a:latin typeface="Aptos" pitchFamily="34" charset="0"/>
                <a:ea typeface="Aptos" pitchFamily="34" charset="-122"/>
                <a:cs typeface="Aptos" pitchFamily="34" charset="-120"/>
              </a:rPr>
              <a:t>Network latency, partial failure, uncertain remote outcomes, harder data coordination and operating complexity.</a:t>
            </a:r>
            <a:endParaRPr lang="en-US" sz="1500" dirty="0"/>
          </a:p>
        </p:txBody>
      </p:sp>
      <p:sp>
        <p:nvSpPr>
          <p:cNvPr id="20" name="Shape 18"/>
          <p:cNvSpPr/>
          <p:nvPr/>
        </p:nvSpPr>
        <p:spPr>
          <a:xfrm>
            <a:off x="585216" y="5001768"/>
            <a:ext cx="10972800" cy="786384"/>
          </a:xfrm>
          <a:prstGeom prst="roundRect">
            <a:avLst>
              <a:gd name="adj" fmla="val 13953"/>
            </a:avLst>
          </a:prstGeom>
          <a:solidFill>
            <a:srgbClr val="ECF3FF"/>
          </a:solidFill>
          <a:ln w="12700">
            <a:solidFill>
              <a:srgbClr val="CBDBFF"/>
            </a:solidFill>
            <a:prstDash val="solid"/>
          </a:ln>
        </p:spPr>
        <p:txBody>
          <a:bodyPr/>
          <a:p/>
        </p:txBody>
      </p:sp>
      <p:sp>
        <p:nvSpPr>
          <p:cNvPr id="21" name="Text 19"/>
          <p:cNvSpPr/>
          <p:nvPr/>
        </p:nvSpPr>
        <p:spPr>
          <a:xfrm>
            <a:off x="832104" y="5175504"/>
            <a:ext cx="1920240" cy="237744"/>
          </a:xfrm>
          <a:prstGeom prst="rect">
            <a:avLst/>
          </a:prstGeom>
          <a:noFill/>
          <a:ln/>
        </p:spPr>
        <p:txBody>
          <a:bodyPr wrap="square" lIns="0" tIns="0" rIns="0" bIns="0" rtlCol="0" anchor="ctr">
            <a:normAutofit/>
          </a:bodyPr>
          <a:lstStyle/>
          <a:p>
            <a:pPr algn="l" indent="0" marL="0">
              <a:buNone/>
            </a:pPr>
            <a:r>
              <a:rPr lang="en-US" sz="1200" b="1" dirty="0">
                <a:solidFill>
                  <a:srgbClr val="2866F6"/>
                </a:solidFill>
                <a:latin typeface="Aptos" pitchFamily="34" charset="0"/>
                <a:ea typeface="Aptos" pitchFamily="34" charset="-122"/>
                <a:cs typeface="Aptos" pitchFamily="34" charset="-120"/>
              </a:rPr>
              <a:t>GUIDING QUESTION</a:t>
            </a:r>
            <a:endParaRPr lang="en-US" sz="1200" dirty="0"/>
          </a:p>
        </p:txBody>
      </p:sp>
      <p:sp>
        <p:nvSpPr>
          <p:cNvPr id="22" name="Text 20"/>
          <p:cNvSpPr/>
          <p:nvPr/>
        </p:nvSpPr>
        <p:spPr>
          <a:xfrm>
            <a:off x="2743200" y="5129784"/>
            <a:ext cx="8412480" cy="320040"/>
          </a:xfrm>
          <a:prstGeom prst="rect">
            <a:avLst/>
          </a:prstGeom>
          <a:noFill/>
          <a:ln/>
        </p:spPr>
        <p:txBody>
          <a:bodyPr wrap="square" lIns="0" tIns="0" rIns="0" bIns="0" rtlCol="0" anchor="ctr">
            <a:normAutofit/>
          </a:bodyPr>
          <a:lstStyle/>
          <a:p>
            <a:pPr algn="l" indent="0" marL="0">
              <a:buNone/>
            </a:pPr>
            <a:r>
              <a:rPr lang="en-US" sz="2000" b="1" dirty="0">
                <a:solidFill>
                  <a:srgbClr val="122239"/>
                </a:solidFill>
                <a:latin typeface="Aptos" pitchFamily="34" charset="0"/>
                <a:ea typeface="Aptos" pitchFamily="34" charset="-122"/>
                <a:cs typeface="Aptos" pitchFamily="34" charset="-120"/>
              </a:rPr>
              <a:t>What breaks when a function call becomes a network request?</a:t>
            </a:r>
            <a:endParaRPr lang="en-US" sz="2000" dirty="0"/>
          </a:p>
        </p:txBody>
      </p:sp>
      <p:sp>
        <p:nvSpPr>
          <p:cNvPr id="23" name="Text 21"/>
          <p:cNvSpPr/>
          <p:nvPr/>
        </p:nvSpPr>
        <p:spPr>
          <a:xfrm>
            <a:off x="667512" y="6016752"/>
            <a:ext cx="10881360" cy="274320"/>
          </a:xfrm>
          <a:prstGeom prst="rect">
            <a:avLst/>
          </a:prstGeom>
          <a:noFill/>
          <a:ln/>
        </p:spPr>
        <p:txBody>
          <a:bodyPr wrap="square" lIns="0" tIns="0" rIns="0" bIns="0" rtlCol="0" anchor="ctr">
            <a:normAutofit/>
          </a:bodyPr>
          <a:lstStyle/>
          <a:p>
            <a:pPr algn="ctr" indent="0" marL="0">
              <a:buNone/>
            </a:pPr>
            <a:r>
              <a:rPr lang="en-US" sz="1400" b="1" dirty="0">
                <a:solidFill>
                  <a:srgbClr val="008F83"/>
                </a:solidFill>
                <a:latin typeface="Aptos" pitchFamily="34" charset="0"/>
                <a:ea typeface="Aptos" pitchFamily="34" charset="-122"/>
                <a:cs typeface="Aptos" pitchFamily="34" charset="-120"/>
              </a:rPr>
              <a:t>Good default: start modular; distribute only where the benefits justify the cost.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COMMUNICATION BASICS</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04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Two ways services collaborate</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Synchronous calls need a result; asynchronous messages let other work happen later.</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4</a:t>
            </a:r>
            <a:endParaRPr lang="en-US" sz="850" dirty="0"/>
          </a:p>
        </p:txBody>
      </p:sp>
      <p:sp>
        <p:nvSpPr>
          <p:cNvPr id="12" name="Shape 10"/>
          <p:cNvSpPr/>
          <p:nvPr/>
        </p:nvSpPr>
        <p:spPr>
          <a:xfrm>
            <a:off x="9912096" y="1938528"/>
            <a:ext cx="1737360" cy="274320"/>
          </a:xfrm>
          <a:prstGeom prst="roundRect">
            <a:avLst>
              <a:gd name="adj" fmla="val 40000"/>
            </a:avLst>
          </a:prstGeom>
          <a:solidFill>
            <a:srgbClr val="ECF3FF"/>
          </a:solidFill>
          <a:ln w="12700">
            <a:solidFill>
              <a:srgbClr val="ECF3FF"/>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2866F6"/>
                </a:solidFill>
                <a:latin typeface="Aptos" pitchFamily="34" charset="0"/>
                <a:ea typeface="Aptos" pitchFamily="34" charset="-122"/>
                <a:cs typeface="Aptos" pitchFamily="34" charset="-120"/>
              </a:rPr>
              <a:t>FOUNDATIONS</a:t>
            </a:r>
            <a:endParaRPr lang="en-US" sz="1000" dirty="0"/>
          </a:p>
        </p:txBody>
      </p:sp>
      <p:sp>
        <p:nvSpPr>
          <p:cNvPr id="14" name="Shape 12"/>
          <p:cNvSpPr/>
          <p:nvPr/>
        </p:nvSpPr>
        <p:spPr>
          <a:xfrm>
            <a:off x="548640" y="2249424"/>
            <a:ext cx="5440680" cy="2679192"/>
          </a:xfrm>
          <a:prstGeom prst="roundRect">
            <a:avLst>
              <a:gd name="adj" fmla="val 4437"/>
            </a:avLst>
          </a:prstGeom>
          <a:solidFill>
            <a:srgbClr val="F7F9FC"/>
          </a:solidFill>
          <a:ln w="12700">
            <a:solidFill>
              <a:srgbClr val="DFE7F1"/>
            </a:solidFill>
            <a:prstDash val="solid"/>
          </a:ln>
        </p:spPr>
        <p:txBody>
          <a:bodyPr/>
          <a:p/>
        </p:txBody>
      </p:sp>
      <p:sp>
        <p:nvSpPr>
          <p:cNvPr id="15" name="Shape 13"/>
          <p:cNvSpPr/>
          <p:nvPr/>
        </p:nvSpPr>
        <p:spPr>
          <a:xfrm>
            <a:off x="6190488" y="2249424"/>
            <a:ext cx="5449824" cy="2679192"/>
          </a:xfrm>
          <a:prstGeom prst="roundRect">
            <a:avLst>
              <a:gd name="adj" fmla="val 4437"/>
            </a:avLst>
          </a:prstGeom>
          <a:solidFill>
            <a:srgbClr val="F7F9FC"/>
          </a:solidFill>
          <a:ln w="12700">
            <a:solidFill>
              <a:srgbClr val="DFE7F1"/>
            </a:solidFill>
            <a:prstDash val="solid"/>
          </a:ln>
        </p:spPr>
        <p:txBody>
          <a:bodyPr/>
          <a:p/>
        </p:txBody>
      </p:sp>
      <p:sp>
        <p:nvSpPr>
          <p:cNvPr id="16" name="Shape 14"/>
          <p:cNvSpPr/>
          <p:nvPr/>
        </p:nvSpPr>
        <p:spPr>
          <a:xfrm>
            <a:off x="2212848" y="2478024"/>
            <a:ext cx="1975104" cy="274320"/>
          </a:xfrm>
          <a:prstGeom prst="roundRect">
            <a:avLst>
              <a:gd name="adj" fmla="val 40000"/>
            </a:avLst>
          </a:prstGeom>
          <a:solidFill>
            <a:srgbClr val="ECF3FF"/>
          </a:solidFill>
          <a:ln w="12700">
            <a:solidFill>
              <a:srgbClr val="ECF3FF"/>
            </a:solidFill>
            <a:prstDash val="solid"/>
          </a:ln>
        </p:spPr>
        <p:txBody>
          <a:bodyPr/>
          <a:p/>
        </p:txBody>
      </p:sp>
      <p:sp>
        <p:nvSpPr>
          <p:cNvPr id="17" name="Text 15"/>
          <p:cNvSpPr/>
          <p:nvPr/>
        </p:nvSpPr>
        <p:spPr>
          <a:xfrm>
            <a:off x="2313432" y="2505456"/>
            <a:ext cx="1773936"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2866F6"/>
                </a:solidFill>
                <a:latin typeface="Aptos" pitchFamily="34" charset="0"/>
                <a:ea typeface="Aptos" pitchFamily="34" charset="-122"/>
                <a:cs typeface="Aptos" pitchFamily="34" charset="-120"/>
              </a:rPr>
              <a:t>SYNCHRONOUS</a:t>
            </a:r>
            <a:endParaRPr lang="en-US" sz="1000" dirty="0"/>
          </a:p>
        </p:txBody>
      </p:sp>
      <p:sp>
        <p:nvSpPr>
          <p:cNvPr id="18" name="Shape 16"/>
          <p:cNvSpPr/>
          <p:nvPr/>
        </p:nvSpPr>
        <p:spPr>
          <a:xfrm>
            <a:off x="896112" y="3054096"/>
            <a:ext cx="2226564" cy="914400"/>
          </a:xfrm>
          <a:prstGeom prst="roundRect">
            <a:avLst>
              <a:gd name="adj" fmla="val 14000"/>
            </a:avLst>
          </a:prstGeom>
          <a:solidFill>
            <a:srgbClr val="ECF3FF"/>
          </a:solidFill>
          <a:ln w="12700">
            <a:solidFill>
              <a:srgbClr val="CBDBFF"/>
            </a:solidFill>
            <a:prstDash val="solid"/>
          </a:ln>
        </p:spPr>
        <p:txBody>
          <a:bodyPr/>
          <a:p/>
        </p:txBody>
      </p:sp>
      <p:sp>
        <p:nvSpPr>
          <p:cNvPr id="19" name="Text 17"/>
          <p:cNvSpPr/>
          <p:nvPr/>
        </p:nvSpPr>
        <p:spPr>
          <a:xfrm>
            <a:off x="1005840" y="3172968"/>
            <a:ext cx="2007108"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Order</a:t>
            </a:r>
            <a:endParaRPr lang="en-US" sz="1500" dirty="0"/>
          </a:p>
        </p:txBody>
      </p:sp>
      <p:sp>
        <p:nvSpPr>
          <p:cNvPr id="20" name="Text 18"/>
          <p:cNvSpPr/>
          <p:nvPr/>
        </p:nvSpPr>
        <p:spPr>
          <a:xfrm>
            <a:off x="1033272" y="3593592"/>
            <a:ext cx="1952244"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Caller</a:t>
            </a:r>
            <a:endParaRPr lang="en-US" sz="1150" dirty="0"/>
          </a:p>
        </p:txBody>
      </p:sp>
      <p:sp>
        <p:nvSpPr>
          <p:cNvPr id="21" name="Shape 19"/>
          <p:cNvSpPr/>
          <p:nvPr/>
        </p:nvSpPr>
        <p:spPr>
          <a:xfrm>
            <a:off x="3159252" y="3557016"/>
            <a:ext cx="256032" cy="0"/>
          </a:xfrm>
          <a:prstGeom prst="line">
            <a:avLst/>
          </a:prstGeom>
          <a:noFill/>
          <a:ln w="21590">
            <a:solidFill>
              <a:srgbClr val="2866F6"/>
            </a:solidFill>
            <a:prstDash val="solid"/>
            <a:headEnd type="none"/>
            <a:tailEnd type="triangle"/>
          </a:ln>
        </p:spPr>
        <p:txBody>
          <a:bodyPr/>
          <a:p/>
        </p:txBody>
      </p:sp>
      <p:sp>
        <p:nvSpPr>
          <p:cNvPr id="22" name="Shape 20"/>
          <p:cNvSpPr/>
          <p:nvPr/>
        </p:nvSpPr>
        <p:spPr>
          <a:xfrm>
            <a:off x="3451860" y="3054096"/>
            <a:ext cx="2226564" cy="914400"/>
          </a:xfrm>
          <a:prstGeom prst="roundRect">
            <a:avLst>
              <a:gd name="adj" fmla="val 14000"/>
            </a:avLst>
          </a:prstGeom>
          <a:solidFill>
            <a:srgbClr val="ECF3FF"/>
          </a:solidFill>
          <a:ln w="12700">
            <a:solidFill>
              <a:srgbClr val="CBDBFF"/>
            </a:solidFill>
            <a:prstDash val="solid"/>
          </a:ln>
        </p:spPr>
        <p:txBody>
          <a:bodyPr/>
          <a:p/>
        </p:txBody>
      </p:sp>
      <p:sp>
        <p:nvSpPr>
          <p:cNvPr id="23" name="Text 21"/>
          <p:cNvSpPr/>
          <p:nvPr/>
        </p:nvSpPr>
        <p:spPr>
          <a:xfrm>
            <a:off x="3561588" y="3172968"/>
            <a:ext cx="2007108"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Inventory</a:t>
            </a:r>
            <a:endParaRPr lang="en-US" sz="1500" dirty="0"/>
          </a:p>
        </p:txBody>
      </p:sp>
      <p:sp>
        <p:nvSpPr>
          <p:cNvPr id="24" name="Text 22"/>
          <p:cNvSpPr/>
          <p:nvPr/>
        </p:nvSpPr>
        <p:spPr>
          <a:xfrm>
            <a:off x="3589020" y="3593592"/>
            <a:ext cx="1952244"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Responds</a:t>
            </a:r>
            <a:endParaRPr lang="en-US" sz="1150" dirty="0"/>
          </a:p>
        </p:txBody>
      </p:sp>
      <p:sp>
        <p:nvSpPr>
          <p:cNvPr id="25" name="Text 23"/>
          <p:cNvSpPr/>
          <p:nvPr/>
        </p:nvSpPr>
        <p:spPr>
          <a:xfrm>
            <a:off x="868680" y="4270248"/>
            <a:ext cx="4773168" cy="475488"/>
          </a:xfrm>
          <a:prstGeom prst="rect">
            <a:avLst/>
          </a:prstGeom>
          <a:noFill/>
          <a:ln/>
        </p:spPr>
        <p:txBody>
          <a:bodyPr wrap="square" lIns="0" tIns="0" rIns="0" bIns="0" rtlCol="0" anchor="ctr">
            <a:normAutofit/>
          </a:bodyPr>
          <a:lstStyle/>
          <a:p>
            <a:pPr algn="ctr" indent="0" marL="0">
              <a:buNone/>
            </a:pPr>
            <a:r>
              <a:rPr lang="en-US" sz="1300" dirty="0">
                <a:solidFill>
                  <a:srgbClr val="354862"/>
                </a:solidFill>
                <a:latin typeface="Aptos" pitchFamily="34" charset="0"/>
                <a:ea typeface="Aptos" pitchFamily="34" charset="-122"/>
                <a:cs typeface="Aptos" pitchFamily="34" charset="-120"/>
              </a:rPr>
              <a:t>Caller waits for the response before that operation continues.</a:t>
            </a:r>
            <a:endParaRPr lang="en-US" sz="1300" dirty="0"/>
          </a:p>
        </p:txBody>
      </p:sp>
      <p:sp>
        <p:nvSpPr>
          <p:cNvPr id="26" name="Shape 24"/>
          <p:cNvSpPr/>
          <p:nvPr/>
        </p:nvSpPr>
        <p:spPr>
          <a:xfrm>
            <a:off x="7763256" y="2478024"/>
            <a:ext cx="2267712" cy="274320"/>
          </a:xfrm>
          <a:prstGeom prst="roundRect">
            <a:avLst>
              <a:gd name="adj" fmla="val 40000"/>
            </a:avLst>
          </a:prstGeom>
          <a:solidFill>
            <a:srgbClr val="E7F8F3"/>
          </a:solidFill>
          <a:ln w="12700">
            <a:solidFill>
              <a:srgbClr val="E7F8F3"/>
            </a:solidFill>
            <a:prstDash val="solid"/>
          </a:ln>
        </p:spPr>
        <p:txBody>
          <a:bodyPr/>
          <a:p/>
        </p:txBody>
      </p:sp>
      <p:sp>
        <p:nvSpPr>
          <p:cNvPr id="27" name="Text 25"/>
          <p:cNvSpPr/>
          <p:nvPr/>
        </p:nvSpPr>
        <p:spPr>
          <a:xfrm>
            <a:off x="7863840" y="2505456"/>
            <a:ext cx="2066544"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008F83"/>
                </a:solidFill>
                <a:latin typeface="Aptos" pitchFamily="34" charset="0"/>
                <a:ea typeface="Aptos" pitchFamily="34" charset="-122"/>
                <a:cs typeface="Aptos" pitchFamily="34" charset="-120"/>
              </a:rPr>
              <a:t>ASYNCHRONOUS</a:t>
            </a:r>
            <a:endParaRPr lang="en-US" sz="1000" dirty="0"/>
          </a:p>
        </p:txBody>
      </p:sp>
      <p:sp>
        <p:nvSpPr>
          <p:cNvPr id="28" name="Shape 26"/>
          <p:cNvSpPr/>
          <p:nvPr/>
        </p:nvSpPr>
        <p:spPr>
          <a:xfrm>
            <a:off x="6364224" y="3054096"/>
            <a:ext cx="1572768" cy="914400"/>
          </a:xfrm>
          <a:prstGeom prst="roundRect">
            <a:avLst>
              <a:gd name="adj" fmla="val 14000"/>
            </a:avLst>
          </a:prstGeom>
          <a:solidFill>
            <a:srgbClr val="ECF3FF"/>
          </a:solidFill>
          <a:ln w="12700">
            <a:solidFill>
              <a:srgbClr val="CBDBFF"/>
            </a:solidFill>
            <a:prstDash val="solid"/>
          </a:ln>
        </p:spPr>
        <p:txBody>
          <a:bodyPr/>
          <a:p/>
        </p:txBody>
      </p:sp>
      <p:sp>
        <p:nvSpPr>
          <p:cNvPr id="29" name="Text 27"/>
          <p:cNvSpPr/>
          <p:nvPr/>
        </p:nvSpPr>
        <p:spPr>
          <a:xfrm>
            <a:off x="6473952" y="3172968"/>
            <a:ext cx="1353312"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Order</a:t>
            </a:r>
            <a:endParaRPr lang="en-US" sz="1500" dirty="0"/>
          </a:p>
        </p:txBody>
      </p:sp>
      <p:sp>
        <p:nvSpPr>
          <p:cNvPr id="30" name="Text 28"/>
          <p:cNvSpPr/>
          <p:nvPr/>
        </p:nvSpPr>
        <p:spPr>
          <a:xfrm>
            <a:off x="6501384" y="3593592"/>
            <a:ext cx="1298448"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Event</a:t>
            </a:r>
            <a:endParaRPr lang="en-US" sz="1150" dirty="0"/>
          </a:p>
        </p:txBody>
      </p:sp>
      <p:sp>
        <p:nvSpPr>
          <p:cNvPr id="31" name="Shape 29"/>
          <p:cNvSpPr/>
          <p:nvPr/>
        </p:nvSpPr>
        <p:spPr>
          <a:xfrm>
            <a:off x="7973568" y="3557016"/>
            <a:ext cx="109728" cy="0"/>
          </a:xfrm>
          <a:prstGeom prst="line">
            <a:avLst/>
          </a:prstGeom>
          <a:noFill/>
          <a:ln w="21590">
            <a:solidFill>
              <a:srgbClr val="2866F6"/>
            </a:solidFill>
            <a:prstDash val="solid"/>
            <a:headEnd type="none"/>
            <a:tailEnd type="triangle"/>
          </a:ln>
        </p:spPr>
        <p:txBody>
          <a:bodyPr/>
          <a:p/>
        </p:txBody>
      </p:sp>
      <p:sp>
        <p:nvSpPr>
          <p:cNvPr id="32" name="Shape 30"/>
          <p:cNvSpPr/>
          <p:nvPr/>
        </p:nvSpPr>
        <p:spPr>
          <a:xfrm>
            <a:off x="8119872" y="3054096"/>
            <a:ext cx="1572768" cy="914400"/>
          </a:xfrm>
          <a:prstGeom prst="roundRect">
            <a:avLst>
              <a:gd name="adj" fmla="val 14000"/>
            </a:avLst>
          </a:prstGeom>
          <a:solidFill>
            <a:srgbClr val="ECF3FF"/>
          </a:solidFill>
          <a:ln w="12700">
            <a:solidFill>
              <a:srgbClr val="CBDBFF"/>
            </a:solidFill>
            <a:prstDash val="solid"/>
          </a:ln>
        </p:spPr>
        <p:txBody>
          <a:bodyPr/>
          <a:p/>
        </p:txBody>
      </p:sp>
      <p:sp>
        <p:nvSpPr>
          <p:cNvPr id="33" name="Text 31"/>
          <p:cNvSpPr/>
          <p:nvPr/>
        </p:nvSpPr>
        <p:spPr>
          <a:xfrm>
            <a:off x="8229600" y="3172968"/>
            <a:ext cx="1353312"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Broker</a:t>
            </a:r>
            <a:endParaRPr lang="en-US" sz="1500" dirty="0"/>
          </a:p>
        </p:txBody>
      </p:sp>
      <p:sp>
        <p:nvSpPr>
          <p:cNvPr id="34" name="Text 32"/>
          <p:cNvSpPr/>
          <p:nvPr/>
        </p:nvSpPr>
        <p:spPr>
          <a:xfrm>
            <a:off x="8257032" y="3593592"/>
            <a:ext cx="1298448"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Queue / log</a:t>
            </a:r>
            <a:endParaRPr lang="en-US" sz="1150" dirty="0"/>
          </a:p>
        </p:txBody>
      </p:sp>
      <p:sp>
        <p:nvSpPr>
          <p:cNvPr id="35" name="Shape 33"/>
          <p:cNvSpPr/>
          <p:nvPr/>
        </p:nvSpPr>
        <p:spPr>
          <a:xfrm>
            <a:off x="9729216" y="3557016"/>
            <a:ext cx="109728" cy="0"/>
          </a:xfrm>
          <a:prstGeom prst="line">
            <a:avLst/>
          </a:prstGeom>
          <a:noFill/>
          <a:ln w="21590">
            <a:solidFill>
              <a:srgbClr val="2866F6"/>
            </a:solidFill>
            <a:prstDash val="solid"/>
            <a:headEnd type="none"/>
            <a:tailEnd type="triangle"/>
          </a:ln>
        </p:spPr>
        <p:txBody>
          <a:bodyPr/>
          <a:p/>
        </p:txBody>
      </p:sp>
      <p:sp>
        <p:nvSpPr>
          <p:cNvPr id="36" name="Shape 34"/>
          <p:cNvSpPr/>
          <p:nvPr/>
        </p:nvSpPr>
        <p:spPr>
          <a:xfrm>
            <a:off x="9875520" y="3054096"/>
            <a:ext cx="1572768" cy="914400"/>
          </a:xfrm>
          <a:prstGeom prst="roundRect">
            <a:avLst>
              <a:gd name="adj" fmla="val 14000"/>
            </a:avLst>
          </a:prstGeom>
          <a:solidFill>
            <a:srgbClr val="ECF3FF"/>
          </a:solidFill>
          <a:ln w="12700">
            <a:solidFill>
              <a:srgbClr val="CBDBFF"/>
            </a:solidFill>
            <a:prstDash val="solid"/>
          </a:ln>
        </p:spPr>
        <p:txBody>
          <a:bodyPr/>
          <a:p/>
        </p:txBody>
      </p:sp>
      <p:sp>
        <p:nvSpPr>
          <p:cNvPr id="37" name="Text 35"/>
          <p:cNvSpPr/>
          <p:nvPr/>
        </p:nvSpPr>
        <p:spPr>
          <a:xfrm>
            <a:off x="9985248" y="3172968"/>
            <a:ext cx="1353312"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Worker</a:t>
            </a:r>
            <a:endParaRPr lang="en-US" sz="1500" dirty="0"/>
          </a:p>
        </p:txBody>
      </p:sp>
      <p:sp>
        <p:nvSpPr>
          <p:cNvPr id="38" name="Text 36"/>
          <p:cNvSpPr/>
          <p:nvPr/>
        </p:nvSpPr>
        <p:spPr>
          <a:xfrm>
            <a:off x="10012680" y="3593592"/>
            <a:ext cx="1298448"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Later</a:t>
            </a:r>
            <a:endParaRPr lang="en-US" sz="1150" dirty="0"/>
          </a:p>
        </p:txBody>
      </p:sp>
      <p:sp>
        <p:nvSpPr>
          <p:cNvPr id="39" name="Text 37"/>
          <p:cNvSpPr/>
          <p:nvPr/>
        </p:nvSpPr>
        <p:spPr>
          <a:xfrm>
            <a:off x="6409944" y="4270248"/>
            <a:ext cx="4901184" cy="475488"/>
          </a:xfrm>
          <a:prstGeom prst="rect">
            <a:avLst/>
          </a:prstGeom>
          <a:noFill/>
          <a:ln/>
        </p:spPr>
        <p:txBody>
          <a:bodyPr wrap="square" lIns="0" tIns="0" rIns="0" bIns="0" rtlCol="0" anchor="ctr">
            <a:normAutofit/>
          </a:bodyPr>
          <a:lstStyle/>
          <a:p>
            <a:pPr algn="ctr" indent="0" marL="0">
              <a:buNone/>
            </a:pPr>
            <a:r>
              <a:rPr lang="en-US" sz="1300" dirty="0">
                <a:solidFill>
                  <a:srgbClr val="354862"/>
                </a:solidFill>
                <a:latin typeface="Aptos" pitchFamily="34" charset="0"/>
                <a:ea typeface="Aptos" pitchFamily="34" charset="-122"/>
                <a:cs typeface="Aptos" pitchFamily="34" charset="-120"/>
              </a:rPr>
              <a:t>Publishing is separate from the consumer finishing its work.</a:t>
            </a:r>
            <a:endParaRPr lang="en-US" sz="1300" dirty="0"/>
          </a:p>
        </p:txBody>
      </p:sp>
      <p:sp>
        <p:nvSpPr>
          <p:cNvPr id="40" name="Shape 38"/>
          <p:cNvSpPr/>
          <p:nvPr/>
        </p:nvSpPr>
        <p:spPr>
          <a:xfrm>
            <a:off x="594360" y="5138928"/>
            <a:ext cx="5426964" cy="1078992"/>
          </a:xfrm>
          <a:prstGeom prst="roundRect">
            <a:avLst>
              <a:gd name="adj" fmla="val 11864"/>
            </a:avLst>
          </a:prstGeom>
          <a:solidFill>
            <a:srgbClr val="F7F9FC"/>
          </a:solidFill>
          <a:ln w="12700">
            <a:solidFill>
              <a:srgbClr val="DFE7F1"/>
            </a:solidFill>
            <a:prstDash val="solid"/>
          </a:ln>
        </p:spPr>
        <p:txBody>
          <a:bodyPr/>
          <a:p/>
        </p:txBody>
      </p:sp>
      <p:sp>
        <p:nvSpPr>
          <p:cNvPr id="41" name="Shape 39"/>
          <p:cNvSpPr/>
          <p:nvPr/>
        </p:nvSpPr>
        <p:spPr>
          <a:xfrm>
            <a:off x="594360" y="5138928"/>
            <a:ext cx="50292" cy="1078992"/>
          </a:xfrm>
          <a:prstGeom prst="rect">
            <a:avLst/>
          </a:prstGeom>
          <a:solidFill>
            <a:srgbClr val="2866F6"/>
          </a:solidFill>
          <a:ln w="12700">
            <a:solidFill>
              <a:srgbClr val="2866F6"/>
            </a:solidFill>
            <a:prstDash val="solid"/>
          </a:ln>
        </p:spPr>
        <p:txBody>
          <a:bodyPr/>
          <a:p/>
        </p:txBody>
      </p:sp>
      <p:sp>
        <p:nvSpPr>
          <p:cNvPr id="42" name="Text 40"/>
          <p:cNvSpPr/>
          <p:nvPr/>
        </p:nvSpPr>
        <p:spPr>
          <a:xfrm>
            <a:off x="768096" y="5257800"/>
            <a:ext cx="50977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Important distinction</a:t>
            </a:r>
            <a:endParaRPr lang="en-US" sz="1340" dirty="0"/>
          </a:p>
        </p:txBody>
      </p:sp>
      <p:sp>
        <p:nvSpPr>
          <p:cNvPr id="43" name="Text 41"/>
          <p:cNvSpPr/>
          <p:nvPr/>
        </p:nvSpPr>
        <p:spPr>
          <a:xfrm>
            <a:off x="768096" y="5641848"/>
            <a:ext cx="5088636" cy="49377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JavaScript async/await can still be a synchronous business dependency.</a:t>
            </a:r>
            <a:endParaRPr lang="en-US" sz="1230" dirty="0"/>
          </a:p>
        </p:txBody>
      </p:sp>
      <p:sp>
        <p:nvSpPr>
          <p:cNvPr id="44" name="Shape 42"/>
          <p:cNvSpPr/>
          <p:nvPr/>
        </p:nvSpPr>
        <p:spPr>
          <a:xfrm>
            <a:off x="6167628" y="5138928"/>
            <a:ext cx="5426964" cy="1078992"/>
          </a:xfrm>
          <a:prstGeom prst="roundRect">
            <a:avLst>
              <a:gd name="adj" fmla="val 11864"/>
            </a:avLst>
          </a:prstGeom>
          <a:solidFill>
            <a:srgbClr val="F7F9FC"/>
          </a:solidFill>
          <a:ln w="12700">
            <a:solidFill>
              <a:srgbClr val="DFE7F1"/>
            </a:solidFill>
            <a:prstDash val="solid"/>
          </a:ln>
        </p:spPr>
        <p:txBody>
          <a:bodyPr/>
          <a:p/>
        </p:txBody>
      </p:sp>
      <p:sp>
        <p:nvSpPr>
          <p:cNvPr id="45" name="Shape 43"/>
          <p:cNvSpPr/>
          <p:nvPr/>
        </p:nvSpPr>
        <p:spPr>
          <a:xfrm>
            <a:off x="6167628" y="5138928"/>
            <a:ext cx="50292" cy="1078992"/>
          </a:xfrm>
          <a:prstGeom prst="rect">
            <a:avLst/>
          </a:prstGeom>
          <a:solidFill>
            <a:srgbClr val="2866F6"/>
          </a:solidFill>
          <a:ln w="12700">
            <a:solidFill>
              <a:srgbClr val="2866F6"/>
            </a:solidFill>
            <a:prstDash val="solid"/>
          </a:ln>
        </p:spPr>
        <p:txBody>
          <a:bodyPr/>
          <a:p/>
        </p:txBody>
      </p:sp>
      <p:sp>
        <p:nvSpPr>
          <p:cNvPr id="46" name="Text 44"/>
          <p:cNvSpPr/>
          <p:nvPr/>
        </p:nvSpPr>
        <p:spPr>
          <a:xfrm>
            <a:off x="6341364" y="5257800"/>
            <a:ext cx="50977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Commands vs events</a:t>
            </a:r>
            <a:endParaRPr lang="en-US" sz="1340" dirty="0"/>
          </a:p>
        </p:txBody>
      </p:sp>
      <p:sp>
        <p:nvSpPr>
          <p:cNvPr id="47" name="Text 45"/>
          <p:cNvSpPr/>
          <p:nvPr/>
        </p:nvSpPr>
        <p:spPr>
          <a:xfrm>
            <a:off x="6341364" y="5641848"/>
            <a:ext cx="5088636" cy="49377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ReduceStock requests an action; OrderCreated reports a fact.</a:t>
            </a:r>
            <a:endParaRPr lang="en-US" sz="12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COMMUNICATION BASICS</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05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REST and gRPC serve different API needs</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Both cross the network, and both can fail or time out.</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5</a:t>
            </a:r>
            <a:endParaRPr lang="en-US" sz="850" dirty="0"/>
          </a:p>
        </p:txBody>
      </p:sp>
      <p:sp>
        <p:nvSpPr>
          <p:cNvPr id="12" name="Shape 10"/>
          <p:cNvSpPr/>
          <p:nvPr/>
        </p:nvSpPr>
        <p:spPr>
          <a:xfrm>
            <a:off x="548640" y="2322576"/>
            <a:ext cx="5440680" cy="2560320"/>
          </a:xfrm>
          <a:prstGeom prst="roundRect">
            <a:avLst>
              <a:gd name="adj" fmla="val 5000"/>
            </a:avLst>
          </a:prstGeom>
          <a:solidFill>
            <a:srgbClr val="ECF3FF"/>
          </a:solidFill>
          <a:ln w="12700">
            <a:solidFill>
              <a:srgbClr val="DFE7F1"/>
            </a:solidFill>
            <a:prstDash val="solid"/>
          </a:ln>
        </p:spPr>
        <p:txBody>
          <a:bodyPr/>
          <a:p/>
        </p:txBody>
      </p:sp>
      <p:sp>
        <p:nvSpPr>
          <p:cNvPr id="13" name="Shape 11"/>
          <p:cNvSpPr/>
          <p:nvPr/>
        </p:nvSpPr>
        <p:spPr>
          <a:xfrm>
            <a:off x="548640" y="2322576"/>
            <a:ext cx="50292" cy="2560320"/>
          </a:xfrm>
          <a:prstGeom prst="rect">
            <a:avLst/>
          </a:prstGeom>
          <a:solidFill>
            <a:srgbClr val="2866F6"/>
          </a:solidFill>
          <a:ln w="12700">
            <a:solidFill>
              <a:srgbClr val="2866F6"/>
            </a:solidFill>
            <a:prstDash val="solid"/>
          </a:ln>
        </p:spPr>
        <p:txBody>
          <a:bodyPr/>
          <a:p/>
        </p:txBody>
      </p:sp>
      <p:sp>
        <p:nvSpPr>
          <p:cNvPr id="14" name="Text 12"/>
          <p:cNvSpPr/>
          <p:nvPr/>
        </p:nvSpPr>
        <p:spPr>
          <a:xfrm>
            <a:off x="722376" y="2441448"/>
            <a:ext cx="5111496" cy="301752"/>
          </a:xfrm>
          <a:prstGeom prst="rect">
            <a:avLst/>
          </a:prstGeom>
          <a:noFill/>
          <a:ln/>
        </p:spPr>
        <p:txBody>
          <a:bodyPr wrap="square" lIns="0" tIns="0" rIns="0" bIns="0" rtlCol="0" anchor="ctr">
            <a:normAutofit/>
          </a:bodyPr>
          <a:lstStyle/>
          <a:p>
            <a:pPr algn="l" indent="0" marL="0">
              <a:buNone/>
            </a:pPr>
            <a:r>
              <a:rPr lang="en-US" sz="1700" b="1" dirty="0">
                <a:solidFill>
                  <a:srgbClr val="122239"/>
                </a:solidFill>
                <a:latin typeface="Aptos" pitchFamily="34" charset="0"/>
                <a:ea typeface="Aptos" pitchFamily="34" charset="-122"/>
                <a:cs typeface="Aptos" pitchFamily="34" charset="-120"/>
              </a:rPr>
              <a:t>REST — HTTP RESOURCE APIs</a:t>
            </a:r>
            <a:endParaRPr lang="en-US" sz="1700" dirty="0"/>
          </a:p>
        </p:txBody>
      </p:sp>
      <p:sp>
        <p:nvSpPr>
          <p:cNvPr id="15" name="Text 13"/>
          <p:cNvSpPr/>
          <p:nvPr/>
        </p:nvSpPr>
        <p:spPr>
          <a:xfrm>
            <a:off x="722376" y="2825496"/>
            <a:ext cx="5102352" cy="1975104"/>
          </a:xfrm>
          <a:prstGeom prst="rect">
            <a:avLst/>
          </a:prstGeom>
          <a:noFill/>
          <a:ln/>
        </p:spPr>
        <p:txBody>
          <a:bodyPr wrap="square" lIns="0" tIns="0" rIns="0" bIns="0" rtlCol="0" anchor="ctr">
            <a:normAutofit/>
          </a:bodyPr>
          <a:lstStyle/>
          <a:p>
            <a:pPr algn="l" indent="0" marL="0">
              <a:buNone/>
            </a:pPr>
            <a:r>
              <a:rPr lang="en-US" sz="1500" dirty="0">
                <a:solidFill>
                  <a:srgbClr val="354862"/>
                </a:solidFill>
                <a:latin typeface="Aptos" pitchFamily="34" charset="0"/>
                <a:ea typeface="Aptos" pitchFamily="34" charset="-122"/>
                <a:cs typeface="Aptos" pitchFamily="34" charset="-120"/>
              </a:rPr>
              <a:t>Routes such as GET /products and POST /orders. Friendly to browsers, tools, external integrations and gateways.</a:t>
            </a:r>
            <a:endParaRPr lang="en-US" sz="1500" dirty="0"/>
          </a:p>
        </p:txBody>
      </p:sp>
      <p:sp>
        <p:nvSpPr>
          <p:cNvPr id="16" name="Shape 14"/>
          <p:cNvSpPr/>
          <p:nvPr/>
        </p:nvSpPr>
        <p:spPr>
          <a:xfrm>
            <a:off x="6163056" y="2322576"/>
            <a:ext cx="5504688" cy="2560320"/>
          </a:xfrm>
          <a:prstGeom prst="roundRect">
            <a:avLst>
              <a:gd name="adj" fmla="val 5000"/>
            </a:avLst>
          </a:prstGeom>
          <a:solidFill>
            <a:srgbClr val="E7F8F3"/>
          </a:solidFill>
          <a:ln w="12700">
            <a:solidFill>
              <a:srgbClr val="DFE7F1"/>
            </a:solidFill>
            <a:prstDash val="solid"/>
          </a:ln>
        </p:spPr>
        <p:txBody>
          <a:bodyPr/>
          <a:p/>
        </p:txBody>
      </p:sp>
      <p:sp>
        <p:nvSpPr>
          <p:cNvPr id="17" name="Shape 15"/>
          <p:cNvSpPr/>
          <p:nvPr/>
        </p:nvSpPr>
        <p:spPr>
          <a:xfrm>
            <a:off x="6163056" y="2322576"/>
            <a:ext cx="50292" cy="2560320"/>
          </a:xfrm>
          <a:prstGeom prst="rect">
            <a:avLst/>
          </a:prstGeom>
          <a:solidFill>
            <a:srgbClr val="008F83"/>
          </a:solidFill>
          <a:ln w="12700">
            <a:solidFill>
              <a:srgbClr val="008F83"/>
            </a:solidFill>
            <a:prstDash val="solid"/>
          </a:ln>
        </p:spPr>
        <p:txBody>
          <a:bodyPr/>
          <a:p/>
        </p:txBody>
      </p:sp>
      <p:sp>
        <p:nvSpPr>
          <p:cNvPr id="18" name="Text 16"/>
          <p:cNvSpPr/>
          <p:nvPr/>
        </p:nvSpPr>
        <p:spPr>
          <a:xfrm>
            <a:off x="6336792" y="2441448"/>
            <a:ext cx="5175504" cy="301752"/>
          </a:xfrm>
          <a:prstGeom prst="rect">
            <a:avLst/>
          </a:prstGeom>
          <a:noFill/>
          <a:ln/>
        </p:spPr>
        <p:txBody>
          <a:bodyPr wrap="square" lIns="0" tIns="0" rIns="0" bIns="0" rtlCol="0" anchor="ctr">
            <a:normAutofit/>
          </a:bodyPr>
          <a:lstStyle/>
          <a:p>
            <a:pPr algn="l" indent="0" marL="0">
              <a:buNone/>
            </a:pPr>
            <a:r>
              <a:rPr lang="en-US" sz="1700" b="1" dirty="0">
                <a:solidFill>
                  <a:srgbClr val="122239"/>
                </a:solidFill>
                <a:latin typeface="Aptos" pitchFamily="34" charset="0"/>
                <a:ea typeface="Aptos" pitchFamily="34" charset="-122"/>
                <a:cs typeface="Aptos" pitchFamily="34" charset="-120"/>
              </a:rPr>
              <a:t>gRPC — REMOTE METHODS</a:t>
            </a:r>
            <a:endParaRPr lang="en-US" sz="1700" dirty="0"/>
          </a:p>
        </p:txBody>
      </p:sp>
      <p:sp>
        <p:nvSpPr>
          <p:cNvPr id="19" name="Text 17"/>
          <p:cNvSpPr/>
          <p:nvPr/>
        </p:nvSpPr>
        <p:spPr>
          <a:xfrm>
            <a:off x="6336792" y="2825496"/>
            <a:ext cx="5166360" cy="1975104"/>
          </a:xfrm>
          <a:prstGeom prst="rect">
            <a:avLst/>
          </a:prstGeom>
          <a:noFill/>
          <a:ln/>
        </p:spPr>
        <p:txBody>
          <a:bodyPr wrap="square" lIns="0" tIns="0" rIns="0" bIns="0" rtlCol="0" anchor="ctr">
            <a:normAutofit/>
          </a:bodyPr>
          <a:lstStyle/>
          <a:p>
            <a:pPr algn="l" indent="0" marL="0">
              <a:buNone/>
            </a:pPr>
            <a:r>
              <a:rPr lang="en-US" sz="1500" dirty="0">
                <a:solidFill>
                  <a:srgbClr val="354862"/>
                </a:solidFill>
                <a:latin typeface="Aptos" pitchFamily="34" charset="0"/>
                <a:ea typeface="Aptos" pitchFamily="34" charset="-122"/>
                <a:cs typeface="Aptos" pitchFamily="34" charset="-120"/>
              </a:rPr>
              <a:t>A service exposes defined operations such as ReduceStock(productId, quantity). Useful for controlled internal APIs.</a:t>
            </a:r>
            <a:endParaRPr lang="en-US" sz="1500" dirty="0"/>
          </a:p>
        </p:txBody>
      </p:sp>
      <p:sp>
        <p:nvSpPr>
          <p:cNvPr id="20" name="Shape 18"/>
          <p:cNvSpPr/>
          <p:nvPr/>
        </p:nvSpPr>
        <p:spPr>
          <a:xfrm>
            <a:off x="594360" y="5129784"/>
            <a:ext cx="5440680" cy="1051560"/>
          </a:xfrm>
          <a:prstGeom prst="roundRect">
            <a:avLst>
              <a:gd name="adj" fmla="val 12174"/>
            </a:avLst>
          </a:prstGeom>
          <a:solidFill>
            <a:srgbClr val="F7F9FC"/>
          </a:solidFill>
          <a:ln w="12700">
            <a:solidFill>
              <a:srgbClr val="DFE7F1"/>
            </a:solidFill>
            <a:prstDash val="solid"/>
          </a:ln>
        </p:spPr>
        <p:txBody>
          <a:bodyPr/>
          <a:p/>
        </p:txBody>
      </p:sp>
      <p:sp>
        <p:nvSpPr>
          <p:cNvPr id="21" name="Shape 19"/>
          <p:cNvSpPr/>
          <p:nvPr/>
        </p:nvSpPr>
        <p:spPr>
          <a:xfrm>
            <a:off x="594360" y="5129784"/>
            <a:ext cx="50292" cy="1051560"/>
          </a:xfrm>
          <a:prstGeom prst="rect">
            <a:avLst/>
          </a:prstGeom>
          <a:solidFill>
            <a:srgbClr val="2866F6"/>
          </a:solidFill>
          <a:ln w="12700">
            <a:solidFill>
              <a:srgbClr val="2866F6"/>
            </a:solidFill>
            <a:prstDash val="solid"/>
          </a:ln>
        </p:spPr>
        <p:txBody>
          <a:bodyPr/>
          <a:p/>
        </p:txBody>
      </p:sp>
      <p:sp>
        <p:nvSpPr>
          <p:cNvPr id="22" name="Text 20"/>
          <p:cNvSpPr/>
          <p:nvPr/>
        </p:nvSpPr>
        <p:spPr>
          <a:xfrm>
            <a:off x="768096" y="5248656"/>
            <a:ext cx="5111496"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Choose by contract</a:t>
            </a:r>
            <a:endParaRPr lang="en-US" sz="1340" dirty="0"/>
          </a:p>
        </p:txBody>
      </p:sp>
      <p:sp>
        <p:nvSpPr>
          <p:cNvPr id="23" name="Text 21"/>
          <p:cNvSpPr/>
          <p:nvPr/>
        </p:nvSpPr>
        <p:spPr>
          <a:xfrm>
            <a:off x="768096" y="5632704"/>
            <a:ext cx="5102352" cy="46634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Client requirements and API contracts matter more than hype.</a:t>
            </a:r>
            <a:endParaRPr lang="en-US" sz="1230" dirty="0"/>
          </a:p>
        </p:txBody>
      </p:sp>
      <p:sp>
        <p:nvSpPr>
          <p:cNvPr id="24" name="Shape 22"/>
          <p:cNvSpPr/>
          <p:nvPr/>
        </p:nvSpPr>
        <p:spPr>
          <a:xfrm>
            <a:off x="6181344" y="5129784"/>
            <a:ext cx="5440680" cy="1051560"/>
          </a:xfrm>
          <a:prstGeom prst="roundRect">
            <a:avLst>
              <a:gd name="adj" fmla="val 12174"/>
            </a:avLst>
          </a:prstGeom>
          <a:solidFill>
            <a:srgbClr val="F7F9FC"/>
          </a:solidFill>
          <a:ln w="12700">
            <a:solidFill>
              <a:srgbClr val="DFE7F1"/>
            </a:solidFill>
            <a:prstDash val="solid"/>
          </a:ln>
        </p:spPr>
        <p:txBody>
          <a:bodyPr/>
          <a:p/>
        </p:txBody>
      </p:sp>
      <p:sp>
        <p:nvSpPr>
          <p:cNvPr id="25" name="Shape 23"/>
          <p:cNvSpPr/>
          <p:nvPr/>
        </p:nvSpPr>
        <p:spPr>
          <a:xfrm>
            <a:off x="6181344" y="5129784"/>
            <a:ext cx="50292" cy="1051560"/>
          </a:xfrm>
          <a:prstGeom prst="rect">
            <a:avLst/>
          </a:prstGeom>
          <a:solidFill>
            <a:srgbClr val="2866F6"/>
          </a:solidFill>
          <a:ln w="12700">
            <a:solidFill>
              <a:srgbClr val="2866F6"/>
            </a:solidFill>
            <a:prstDash val="solid"/>
          </a:ln>
        </p:spPr>
        <p:txBody>
          <a:bodyPr/>
          <a:p/>
        </p:txBody>
      </p:sp>
      <p:sp>
        <p:nvSpPr>
          <p:cNvPr id="26" name="Text 24"/>
          <p:cNvSpPr/>
          <p:nvPr/>
        </p:nvSpPr>
        <p:spPr>
          <a:xfrm>
            <a:off x="6355080" y="5248656"/>
            <a:ext cx="5111496"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Still a network call</a:t>
            </a:r>
            <a:endParaRPr lang="en-US" sz="1340" dirty="0"/>
          </a:p>
        </p:txBody>
      </p:sp>
      <p:sp>
        <p:nvSpPr>
          <p:cNvPr id="27" name="Text 25"/>
          <p:cNvSpPr/>
          <p:nvPr/>
        </p:nvSpPr>
        <p:spPr>
          <a:xfrm>
            <a:off x="6355080" y="5632704"/>
            <a:ext cx="5102352" cy="46634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 gRPC method may resemble a local function, but it can be slow or uncertain.</a:t>
            </a:r>
            <a:endParaRPr lang="en-US" sz="12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COMMUNICATION BASICS</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06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2800" b="1" dirty="0">
                <a:solidFill>
                  <a:srgbClr val="122239"/>
                </a:solidFill>
                <a:latin typeface="Aptos" pitchFamily="34" charset="0"/>
                <a:ea typeface="Aptos" pitchFamily="34" charset="-122"/>
                <a:cs typeface="Aptos" pitchFamily="34" charset="-120"/>
              </a:rPr>
              <a:t>RabbitMQ routes work through exchanges and queues</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One order event can trigger independent jobs, while workers share a queue.</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6</a:t>
            </a:r>
            <a:endParaRPr lang="en-US" sz="850" dirty="0"/>
          </a:p>
        </p:txBody>
      </p:sp>
      <p:sp>
        <p:nvSpPr>
          <p:cNvPr id="12" name="Shape 10"/>
          <p:cNvSpPr/>
          <p:nvPr/>
        </p:nvSpPr>
        <p:spPr>
          <a:xfrm>
            <a:off x="658368" y="2487168"/>
            <a:ext cx="2807208" cy="905256"/>
          </a:xfrm>
          <a:prstGeom prst="roundRect">
            <a:avLst>
              <a:gd name="adj" fmla="val 14141"/>
            </a:avLst>
          </a:prstGeom>
          <a:solidFill>
            <a:srgbClr val="ECF3FF"/>
          </a:solidFill>
          <a:ln w="12700">
            <a:solidFill>
              <a:srgbClr val="CBDBFF"/>
            </a:solidFill>
            <a:prstDash val="solid"/>
          </a:ln>
        </p:spPr>
        <p:txBody>
          <a:bodyPr/>
          <a:p/>
        </p:txBody>
      </p:sp>
      <p:sp>
        <p:nvSpPr>
          <p:cNvPr id="13" name="Text 11"/>
          <p:cNvSpPr/>
          <p:nvPr/>
        </p:nvSpPr>
        <p:spPr>
          <a:xfrm>
            <a:off x="768096" y="2606040"/>
            <a:ext cx="2587752"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Order Service</a:t>
            </a:r>
            <a:endParaRPr lang="en-US" sz="1500" dirty="0"/>
          </a:p>
        </p:txBody>
      </p:sp>
      <p:sp>
        <p:nvSpPr>
          <p:cNvPr id="14" name="Text 12"/>
          <p:cNvSpPr/>
          <p:nvPr/>
        </p:nvSpPr>
        <p:spPr>
          <a:xfrm>
            <a:off x="795528" y="3026664"/>
            <a:ext cx="2532888"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Producer</a:t>
            </a:r>
            <a:endParaRPr lang="en-US" sz="1150" dirty="0"/>
          </a:p>
        </p:txBody>
      </p:sp>
      <p:sp>
        <p:nvSpPr>
          <p:cNvPr id="15" name="Shape 13"/>
          <p:cNvSpPr/>
          <p:nvPr/>
        </p:nvSpPr>
        <p:spPr>
          <a:xfrm>
            <a:off x="3502152" y="2990088"/>
            <a:ext cx="201168" cy="0"/>
          </a:xfrm>
          <a:prstGeom prst="line">
            <a:avLst/>
          </a:prstGeom>
          <a:noFill/>
          <a:ln w="21590">
            <a:solidFill>
              <a:srgbClr val="2866F6"/>
            </a:solidFill>
            <a:prstDash val="solid"/>
            <a:headEnd type="none"/>
            <a:tailEnd type="triangle"/>
          </a:ln>
        </p:spPr>
        <p:txBody>
          <a:bodyPr/>
          <a:p/>
        </p:txBody>
      </p:sp>
      <p:sp>
        <p:nvSpPr>
          <p:cNvPr id="16" name="Shape 14"/>
          <p:cNvSpPr/>
          <p:nvPr/>
        </p:nvSpPr>
        <p:spPr>
          <a:xfrm>
            <a:off x="3739896" y="2487168"/>
            <a:ext cx="2807208" cy="905256"/>
          </a:xfrm>
          <a:prstGeom prst="roundRect">
            <a:avLst>
              <a:gd name="adj" fmla="val 14141"/>
            </a:avLst>
          </a:prstGeom>
          <a:solidFill>
            <a:srgbClr val="ECF3FF"/>
          </a:solidFill>
          <a:ln w="12700">
            <a:solidFill>
              <a:srgbClr val="CBDBFF"/>
            </a:solidFill>
            <a:prstDash val="solid"/>
          </a:ln>
        </p:spPr>
        <p:txBody>
          <a:bodyPr/>
          <a:p/>
        </p:txBody>
      </p:sp>
      <p:sp>
        <p:nvSpPr>
          <p:cNvPr id="17" name="Text 15"/>
          <p:cNvSpPr/>
          <p:nvPr/>
        </p:nvSpPr>
        <p:spPr>
          <a:xfrm>
            <a:off x="3849624" y="2606040"/>
            <a:ext cx="2587752"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Topic Exchange</a:t>
            </a:r>
            <a:endParaRPr lang="en-US" sz="1500" dirty="0"/>
          </a:p>
        </p:txBody>
      </p:sp>
      <p:sp>
        <p:nvSpPr>
          <p:cNvPr id="18" name="Text 16"/>
          <p:cNvSpPr/>
          <p:nvPr/>
        </p:nvSpPr>
        <p:spPr>
          <a:xfrm>
            <a:off x="3877056" y="3026664"/>
            <a:ext cx="2532888"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Route: order.created</a:t>
            </a:r>
            <a:endParaRPr lang="en-US" sz="1150" dirty="0"/>
          </a:p>
        </p:txBody>
      </p:sp>
      <p:sp>
        <p:nvSpPr>
          <p:cNvPr id="19" name="Shape 17"/>
          <p:cNvSpPr/>
          <p:nvPr/>
        </p:nvSpPr>
        <p:spPr>
          <a:xfrm>
            <a:off x="7351776" y="2487168"/>
            <a:ext cx="3986784" cy="914400"/>
          </a:xfrm>
          <a:prstGeom prst="roundRect">
            <a:avLst>
              <a:gd name="adj" fmla="val 13000"/>
            </a:avLst>
          </a:prstGeom>
          <a:solidFill>
            <a:srgbClr val="E7F8F3"/>
          </a:solidFill>
          <a:ln w="12700">
            <a:solidFill>
              <a:srgbClr val="B4E6DD"/>
            </a:solidFill>
            <a:prstDash val="solid"/>
          </a:ln>
        </p:spPr>
        <p:txBody>
          <a:bodyPr/>
          <a:p/>
        </p:txBody>
      </p:sp>
      <p:sp>
        <p:nvSpPr>
          <p:cNvPr id="20" name="Text 18"/>
          <p:cNvSpPr/>
          <p:nvPr/>
        </p:nvSpPr>
        <p:spPr>
          <a:xfrm>
            <a:off x="7479792" y="2651760"/>
            <a:ext cx="3712464" cy="237744"/>
          </a:xfrm>
          <a:prstGeom prst="rect">
            <a:avLst/>
          </a:prstGeom>
          <a:noFill/>
          <a:ln/>
        </p:spPr>
        <p:txBody>
          <a:bodyPr wrap="square" lIns="0" tIns="0" rIns="0" bIns="0" rtlCol="0" anchor="ctr">
            <a:normAutofit/>
          </a:bodyPr>
          <a:lstStyle/>
          <a:p>
            <a:pPr algn="l" indent="0" marL="0">
              <a:buNone/>
            </a:pPr>
            <a:r>
              <a:rPr lang="en-US" sz="1500" b="1" dirty="0">
                <a:solidFill>
                  <a:srgbClr val="122239"/>
                </a:solidFill>
                <a:latin typeface="Aptos" pitchFamily="34" charset="0"/>
                <a:ea typeface="Aptos" pitchFamily="34" charset="-122"/>
                <a:cs typeface="Aptos" pitchFamily="34" charset="-120"/>
              </a:rPr>
              <a:t>Email Queue  →  Email A or B</a:t>
            </a:r>
            <a:endParaRPr lang="en-US" sz="1500" dirty="0"/>
          </a:p>
        </p:txBody>
      </p:sp>
      <p:sp>
        <p:nvSpPr>
          <p:cNvPr id="21" name="Shape 19"/>
          <p:cNvSpPr/>
          <p:nvPr/>
        </p:nvSpPr>
        <p:spPr>
          <a:xfrm>
            <a:off x="7351776" y="3593592"/>
            <a:ext cx="3986784" cy="886968"/>
          </a:xfrm>
          <a:prstGeom prst="roundRect">
            <a:avLst>
              <a:gd name="adj" fmla="val 13402"/>
            </a:avLst>
          </a:prstGeom>
          <a:solidFill>
            <a:srgbClr val="ECF3FF"/>
          </a:solidFill>
          <a:ln w="12700">
            <a:solidFill>
              <a:srgbClr val="CBDBFF"/>
            </a:solidFill>
            <a:prstDash val="solid"/>
          </a:ln>
        </p:spPr>
        <p:txBody>
          <a:bodyPr/>
          <a:p/>
        </p:txBody>
      </p:sp>
      <p:sp>
        <p:nvSpPr>
          <p:cNvPr id="22" name="Text 20"/>
          <p:cNvSpPr/>
          <p:nvPr/>
        </p:nvSpPr>
        <p:spPr>
          <a:xfrm>
            <a:off x="7479792" y="3758184"/>
            <a:ext cx="3712464" cy="228600"/>
          </a:xfrm>
          <a:prstGeom prst="rect">
            <a:avLst/>
          </a:prstGeom>
          <a:noFill/>
          <a:ln/>
        </p:spPr>
        <p:txBody>
          <a:bodyPr wrap="square" lIns="0" tIns="0" rIns="0" bIns="0" rtlCol="0" anchor="ctr">
            <a:normAutofit/>
          </a:bodyPr>
          <a:lstStyle/>
          <a:p>
            <a:pPr algn="l" indent="0" marL="0">
              <a:buNone/>
            </a:pPr>
            <a:r>
              <a:rPr lang="en-US" sz="1500" b="1" dirty="0">
                <a:solidFill>
                  <a:srgbClr val="122239"/>
                </a:solidFill>
                <a:latin typeface="Aptos" pitchFamily="34" charset="0"/>
                <a:ea typeface="Aptos" pitchFamily="34" charset="-122"/>
                <a:cs typeface="Aptos" pitchFamily="34" charset="-120"/>
              </a:rPr>
              <a:t>Notify Queue  →  Notify Worker</a:t>
            </a:r>
            <a:endParaRPr lang="en-US" sz="1500" dirty="0"/>
          </a:p>
        </p:txBody>
      </p:sp>
      <p:sp>
        <p:nvSpPr>
          <p:cNvPr id="23" name="Shape 21"/>
          <p:cNvSpPr/>
          <p:nvPr/>
        </p:nvSpPr>
        <p:spPr>
          <a:xfrm>
            <a:off x="6016752" y="2935224"/>
            <a:ext cx="1216152" cy="0"/>
          </a:xfrm>
          <a:prstGeom prst="line">
            <a:avLst/>
          </a:prstGeom>
          <a:noFill/>
          <a:ln w="22860">
            <a:solidFill>
              <a:srgbClr val="008F83"/>
            </a:solidFill>
            <a:prstDash val="solid"/>
            <a:headEnd type="none"/>
            <a:tailEnd type="triangle"/>
          </a:ln>
        </p:spPr>
        <p:txBody>
          <a:bodyPr/>
          <a:p/>
        </p:txBody>
      </p:sp>
      <p:sp>
        <p:nvSpPr>
          <p:cNvPr id="24" name="Shape 22"/>
          <p:cNvSpPr/>
          <p:nvPr/>
        </p:nvSpPr>
        <p:spPr>
          <a:xfrm>
            <a:off x="7104888" y="2935224"/>
            <a:ext cx="146304" cy="1042416"/>
          </a:xfrm>
          <a:prstGeom prst="line">
            <a:avLst/>
          </a:prstGeom>
          <a:noFill/>
          <a:ln w="22860">
            <a:solidFill>
              <a:srgbClr val="2866F6"/>
            </a:solidFill>
            <a:prstDash val="solid"/>
            <a:headEnd type="none"/>
            <a:tailEnd type="triangle"/>
          </a:ln>
        </p:spPr>
        <p:txBody>
          <a:bodyPr/>
          <a:p/>
        </p:txBody>
      </p:sp>
      <p:sp>
        <p:nvSpPr>
          <p:cNvPr id="25" name="Shape 23"/>
          <p:cNvSpPr/>
          <p:nvPr/>
        </p:nvSpPr>
        <p:spPr>
          <a:xfrm>
            <a:off x="576072" y="4736592"/>
            <a:ext cx="3578352" cy="1353312"/>
          </a:xfrm>
          <a:prstGeom prst="roundRect">
            <a:avLst>
              <a:gd name="adj" fmla="val 9459"/>
            </a:avLst>
          </a:prstGeom>
          <a:solidFill>
            <a:srgbClr val="F7F9FC"/>
          </a:solidFill>
          <a:ln w="12700">
            <a:solidFill>
              <a:srgbClr val="DFE7F1"/>
            </a:solidFill>
            <a:prstDash val="solid"/>
          </a:ln>
        </p:spPr>
        <p:txBody>
          <a:bodyPr/>
          <a:p/>
        </p:txBody>
      </p:sp>
      <p:sp>
        <p:nvSpPr>
          <p:cNvPr id="26" name="Shape 24"/>
          <p:cNvSpPr/>
          <p:nvPr/>
        </p:nvSpPr>
        <p:spPr>
          <a:xfrm>
            <a:off x="576072" y="4736592"/>
            <a:ext cx="50292" cy="1353312"/>
          </a:xfrm>
          <a:prstGeom prst="rect">
            <a:avLst/>
          </a:prstGeom>
          <a:solidFill>
            <a:srgbClr val="2866F6"/>
          </a:solidFill>
          <a:ln w="12700">
            <a:solidFill>
              <a:srgbClr val="2866F6"/>
            </a:solidFill>
            <a:prstDash val="solid"/>
          </a:ln>
        </p:spPr>
        <p:txBody>
          <a:bodyPr/>
          <a:p/>
        </p:txBody>
      </p:sp>
      <p:sp>
        <p:nvSpPr>
          <p:cNvPr id="27" name="Text 25"/>
          <p:cNvSpPr/>
          <p:nvPr/>
        </p:nvSpPr>
        <p:spPr>
          <a:xfrm>
            <a:off x="749808" y="4855464"/>
            <a:ext cx="324916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Exchange + routing key</a:t>
            </a:r>
            <a:endParaRPr lang="en-US" sz="1340" dirty="0"/>
          </a:p>
        </p:txBody>
      </p:sp>
      <p:sp>
        <p:nvSpPr>
          <p:cNvPr id="28" name="Text 26"/>
          <p:cNvSpPr/>
          <p:nvPr/>
        </p:nvSpPr>
        <p:spPr>
          <a:xfrm>
            <a:off x="749808" y="5239512"/>
            <a:ext cx="3240024" cy="76809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The exchange directs published messages into bound queues.</a:t>
            </a:r>
            <a:endParaRPr lang="en-US" sz="1230" dirty="0"/>
          </a:p>
        </p:txBody>
      </p:sp>
      <p:sp>
        <p:nvSpPr>
          <p:cNvPr id="29" name="Shape 27"/>
          <p:cNvSpPr/>
          <p:nvPr/>
        </p:nvSpPr>
        <p:spPr>
          <a:xfrm>
            <a:off x="4300728" y="4736592"/>
            <a:ext cx="3578352" cy="1353312"/>
          </a:xfrm>
          <a:prstGeom prst="roundRect">
            <a:avLst>
              <a:gd name="adj" fmla="val 9459"/>
            </a:avLst>
          </a:prstGeom>
          <a:solidFill>
            <a:srgbClr val="F7F9FC"/>
          </a:solidFill>
          <a:ln w="12700">
            <a:solidFill>
              <a:srgbClr val="DFE7F1"/>
            </a:solidFill>
            <a:prstDash val="solid"/>
          </a:ln>
        </p:spPr>
        <p:txBody>
          <a:bodyPr/>
          <a:p/>
        </p:txBody>
      </p:sp>
      <p:sp>
        <p:nvSpPr>
          <p:cNvPr id="30" name="Shape 28"/>
          <p:cNvSpPr/>
          <p:nvPr/>
        </p:nvSpPr>
        <p:spPr>
          <a:xfrm>
            <a:off x="4300728" y="4736592"/>
            <a:ext cx="50292" cy="1353312"/>
          </a:xfrm>
          <a:prstGeom prst="rect">
            <a:avLst/>
          </a:prstGeom>
          <a:solidFill>
            <a:srgbClr val="2866F6"/>
          </a:solidFill>
          <a:ln w="12700">
            <a:solidFill>
              <a:srgbClr val="2866F6"/>
            </a:solidFill>
            <a:prstDash val="solid"/>
          </a:ln>
        </p:spPr>
        <p:txBody>
          <a:bodyPr/>
          <a:p/>
        </p:txBody>
      </p:sp>
      <p:sp>
        <p:nvSpPr>
          <p:cNvPr id="31" name="Text 29"/>
          <p:cNvSpPr/>
          <p:nvPr/>
        </p:nvSpPr>
        <p:spPr>
          <a:xfrm>
            <a:off x="4474464" y="4855464"/>
            <a:ext cx="324916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Competing consumers</a:t>
            </a:r>
            <a:endParaRPr lang="en-US" sz="1340" dirty="0"/>
          </a:p>
        </p:txBody>
      </p:sp>
      <p:sp>
        <p:nvSpPr>
          <p:cNvPr id="32" name="Text 30"/>
          <p:cNvSpPr/>
          <p:nvPr/>
        </p:nvSpPr>
        <p:spPr>
          <a:xfrm>
            <a:off x="4474464" y="5239512"/>
            <a:ext cx="3240024" cy="76809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Email A and B share one email queue; only one handles each delivery.</a:t>
            </a:r>
            <a:endParaRPr lang="en-US" sz="1230" dirty="0"/>
          </a:p>
        </p:txBody>
      </p:sp>
      <p:sp>
        <p:nvSpPr>
          <p:cNvPr id="33" name="Shape 31"/>
          <p:cNvSpPr/>
          <p:nvPr/>
        </p:nvSpPr>
        <p:spPr>
          <a:xfrm>
            <a:off x="8025384" y="4736592"/>
            <a:ext cx="3578352" cy="1353312"/>
          </a:xfrm>
          <a:prstGeom prst="roundRect">
            <a:avLst>
              <a:gd name="adj" fmla="val 9459"/>
            </a:avLst>
          </a:prstGeom>
          <a:solidFill>
            <a:srgbClr val="F7F9FC"/>
          </a:solidFill>
          <a:ln w="12700">
            <a:solidFill>
              <a:srgbClr val="DFE7F1"/>
            </a:solidFill>
            <a:prstDash val="solid"/>
          </a:ln>
        </p:spPr>
        <p:txBody>
          <a:bodyPr/>
          <a:p/>
        </p:txBody>
      </p:sp>
      <p:sp>
        <p:nvSpPr>
          <p:cNvPr id="34" name="Shape 32"/>
          <p:cNvSpPr/>
          <p:nvPr/>
        </p:nvSpPr>
        <p:spPr>
          <a:xfrm>
            <a:off x="8025384" y="4736592"/>
            <a:ext cx="50292" cy="1353312"/>
          </a:xfrm>
          <a:prstGeom prst="rect">
            <a:avLst/>
          </a:prstGeom>
          <a:solidFill>
            <a:srgbClr val="2866F6"/>
          </a:solidFill>
          <a:ln w="12700">
            <a:solidFill>
              <a:srgbClr val="2866F6"/>
            </a:solidFill>
            <a:prstDash val="solid"/>
          </a:ln>
        </p:spPr>
        <p:txBody>
          <a:bodyPr/>
          <a:p/>
        </p:txBody>
      </p:sp>
      <p:sp>
        <p:nvSpPr>
          <p:cNvPr id="35" name="Text 33"/>
          <p:cNvSpPr/>
          <p:nvPr/>
        </p:nvSpPr>
        <p:spPr>
          <a:xfrm>
            <a:off x="8199120" y="4855464"/>
            <a:ext cx="324916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Acknowledgment</a:t>
            </a:r>
            <a:endParaRPr lang="en-US" sz="1340" dirty="0"/>
          </a:p>
        </p:txBody>
      </p:sp>
      <p:sp>
        <p:nvSpPr>
          <p:cNvPr id="36" name="Text 34"/>
          <p:cNvSpPr/>
          <p:nvPr/>
        </p:nvSpPr>
        <p:spPr>
          <a:xfrm>
            <a:off x="8199120" y="5239512"/>
            <a:ext cx="3240024" cy="76809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Consumer acks can be lost; redelivery can repeat a business effect.</a:t>
            </a:r>
            <a:endParaRPr lang="en-US" sz="12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COMMUNICATION BASICS</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07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Kafka stores events in ordered partitions</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Partitions distribute records; offsets mark positions within each partition.</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7</a:t>
            </a:r>
            <a:endParaRPr lang="en-US" sz="850" dirty="0"/>
          </a:p>
        </p:txBody>
      </p:sp>
      <p:sp>
        <p:nvSpPr>
          <p:cNvPr id="12" name="Shape 10"/>
          <p:cNvSpPr/>
          <p:nvPr/>
        </p:nvSpPr>
        <p:spPr>
          <a:xfrm>
            <a:off x="640080" y="2286000"/>
            <a:ext cx="10908792" cy="2724912"/>
          </a:xfrm>
          <a:prstGeom prst="roundRect">
            <a:avLst>
              <a:gd name="adj" fmla="val 4362"/>
            </a:avLst>
          </a:prstGeom>
          <a:solidFill>
            <a:srgbClr val="F7F9FC"/>
          </a:solidFill>
          <a:ln w="12700">
            <a:solidFill>
              <a:srgbClr val="DFE7F1"/>
            </a:solidFill>
            <a:prstDash val="solid"/>
          </a:ln>
        </p:spPr>
        <p:txBody>
          <a:bodyPr/>
          <a:p/>
        </p:txBody>
      </p:sp>
      <p:sp>
        <p:nvSpPr>
          <p:cNvPr id="13" name="Text 11"/>
          <p:cNvSpPr/>
          <p:nvPr/>
        </p:nvSpPr>
        <p:spPr>
          <a:xfrm>
            <a:off x="896112" y="2496312"/>
            <a:ext cx="5486400" cy="310896"/>
          </a:xfrm>
          <a:prstGeom prst="rect">
            <a:avLst/>
          </a:prstGeom>
          <a:noFill/>
          <a:ln/>
        </p:spPr>
        <p:txBody>
          <a:bodyPr wrap="square" lIns="0" tIns="0" rIns="0" bIns="0" rtlCol="0" anchor="ctr">
            <a:normAutofit/>
          </a:bodyPr>
          <a:lstStyle/>
          <a:p>
            <a:pPr algn="l" indent="0" marL="0">
              <a:buNone/>
            </a:pPr>
            <a:r>
              <a:rPr lang="en-US" sz="1800" b="1" dirty="0">
                <a:solidFill>
                  <a:srgbClr val="122239"/>
                </a:solidFill>
                <a:latin typeface="Aptos" pitchFamily="34" charset="0"/>
                <a:ea typeface="Aptos" pitchFamily="34" charset="-122"/>
                <a:cs typeface="Aptos" pitchFamily="34" charset="-120"/>
              </a:rPr>
              <a:t>Topic: payment-events</a:t>
            </a:r>
            <a:endParaRPr lang="en-US" sz="1800" dirty="0"/>
          </a:p>
        </p:txBody>
      </p:sp>
      <p:sp>
        <p:nvSpPr>
          <p:cNvPr id="14" name="Text 12"/>
          <p:cNvSpPr/>
          <p:nvPr/>
        </p:nvSpPr>
        <p:spPr>
          <a:xfrm>
            <a:off x="914400" y="3191256"/>
            <a:ext cx="1490472" cy="210312"/>
          </a:xfrm>
          <a:prstGeom prst="rect">
            <a:avLst/>
          </a:prstGeom>
          <a:noFill/>
          <a:ln/>
        </p:spPr>
        <p:txBody>
          <a:bodyPr wrap="square" lIns="0" tIns="0" rIns="0" bIns="0" rtlCol="0" anchor="ctr">
            <a:normAutofit/>
          </a:bodyPr>
          <a:lstStyle/>
          <a:p>
            <a:pPr algn="l" indent="0" marL="0">
              <a:buNone/>
            </a:pPr>
            <a:r>
              <a:rPr lang="en-US" sz="1260" b="1" dirty="0">
                <a:solidFill>
                  <a:srgbClr val="64748B"/>
                </a:solidFill>
                <a:latin typeface="Aptos" pitchFamily="34" charset="0"/>
                <a:ea typeface="Aptos" pitchFamily="34" charset="-122"/>
                <a:cs typeface="Aptos" pitchFamily="34" charset="-120"/>
              </a:rPr>
              <a:t>Partition 0</a:t>
            </a:r>
            <a:endParaRPr lang="en-US" sz="1260" dirty="0"/>
          </a:p>
        </p:txBody>
      </p:sp>
      <p:sp>
        <p:nvSpPr>
          <p:cNvPr id="15" name="Shape 13"/>
          <p:cNvSpPr/>
          <p:nvPr/>
        </p:nvSpPr>
        <p:spPr>
          <a:xfrm>
            <a:off x="2761488" y="3136392"/>
            <a:ext cx="1033272" cy="384048"/>
          </a:xfrm>
          <a:prstGeom prst="roundRect">
            <a:avLst>
              <a:gd name="adj" fmla="val 14286"/>
            </a:avLst>
          </a:prstGeom>
          <a:solidFill>
            <a:srgbClr val="ECF3FF"/>
          </a:solidFill>
          <a:ln w="12700">
            <a:solidFill>
              <a:srgbClr val="CBDBFF"/>
            </a:solidFill>
            <a:prstDash val="solid"/>
          </a:ln>
        </p:spPr>
        <p:txBody>
          <a:bodyPr/>
          <a:p/>
        </p:txBody>
      </p:sp>
      <p:sp>
        <p:nvSpPr>
          <p:cNvPr id="16" name="Text 14"/>
          <p:cNvSpPr/>
          <p:nvPr/>
        </p:nvSpPr>
        <p:spPr>
          <a:xfrm>
            <a:off x="2798064" y="3209544"/>
            <a:ext cx="960120" cy="146304"/>
          </a:xfrm>
          <a:prstGeom prst="rect">
            <a:avLst/>
          </a:prstGeom>
          <a:noFill/>
          <a:ln/>
        </p:spPr>
        <p:txBody>
          <a:bodyPr wrap="square" lIns="0" tIns="0" rIns="0" bIns="0" rtlCol="0" anchor="ctr">
            <a:normAutofit/>
          </a:bodyPr>
          <a:lstStyle/>
          <a:p>
            <a:pPr algn="ctr" indent="0" marL="0">
              <a:buNone/>
            </a:pPr>
            <a:r>
              <a:rPr lang="en-US" sz="1000" b="1" dirty="0">
                <a:solidFill>
                  <a:srgbClr val="122239"/>
                </a:solidFill>
                <a:latin typeface="Aptos" pitchFamily="34" charset="0"/>
                <a:ea typeface="Aptos" pitchFamily="34" charset="-122"/>
                <a:cs typeface="Aptos" pitchFamily="34" charset="-120"/>
              </a:rPr>
              <a:t>offset 0</a:t>
            </a:r>
            <a:endParaRPr lang="en-US" sz="1000" dirty="0"/>
          </a:p>
        </p:txBody>
      </p:sp>
      <p:sp>
        <p:nvSpPr>
          <p:cNvPr id="17" name="Shape 15"/>
          <p:cNvSpPr/>
          <p:nvPr/>
        </p:nvSpPr>
        <p:spPr>
          <a:xfrm>
            <a:off x="3950208" y="3136392"/>
            <a:ext cx="1033272" cy="384048"/>
          </a:xfrm>
          <a:prstGeom prst="roundRect">
            <a:avLst>
              <a:gd name="adj" fmla="val 14286"/>
            </a:avLst>
          </a:prstGeom>
          <a:solidFill>
            <a:srgbClr val="FFFFFF"/>
          </a:solidFill>
          <a:ln w="12700">
            <a:solidFill>
              <a:srgbClr val="DFE7F1"/>
            </a:solidFill>
            <a:prstDash val="solid"/>
          </a:ln>
        </p:spPr>
        <p:txBody>
          <a:bodyPr/>
          <a:p/>
        </p:txBody>
      </p:sp>
      <p:sp>
        <p:nvSpPr>
          <p:cNvPr id="18" name="Text 16"/>
          <p:cNvSpPr/>
          <p:nvPr/>
        </p:nvSpPr>
        <p:spPr>
          <a:xfrm>
            <a:off x="3986784" y="3209544"/>
            <a:ext cx="960120" cy="146304"/>
          </a:xfrm>
          <a:prstGeom prst="rect">
            <a:avLst/>
          </a:prstGeom>
          <a:noFill/>
          <a:ln/>
        </p:spPr>
        <p:txBody>
          <a:bodyPr wrap="square" lIns="0" tIns="0" rIns="0" bIns="0" rtlCol="0" anchor="ctr">
            <a:normAutofit/>
          </a:bodyPr>
          <a:lstStyle/>
          <a:p>
            <a:pPr algn="ctr" indent="0" marL="0">
              <a:buNone/>
            </a:pPr>
            <a:r>
              <a:rPr lang="en-US" sz="1000" b="1" dirty="0">
                <a:solidFill>
                  <a:srgbClr val="122239"/>
                </a:solidFill>
                <a:latin typeface="Aptos" pitchFamily="34" charset="0"/>
                <a:ea typeface="Aptos" pitchFamily="34" charset="-122"/>
                <a:cs typeface="Aptos" pitchFamily="34" charset="-120"/>
              </a:rPr>
              <a:t>offset 1</a:t>
            </a:r>
            <a:endParaRPr lang="en-US" sz="1000" dirty="0"/>
          </a:p>
        </p:txBody>
      </p:sp>
      <p:sp>
        <p:nvSpPr>
          <p:cNvPr id="19" name="Shape 17"/>
          <p:cNvSpPr/>
          <p:nvPr/>
        </p:nvSpPr>
        <p:spPr>
          <a:xfrm>
            <a:off x="5138928" y="3136392"/>
            <a:ext cx="1033272" cy="384048"/>
          </a:xfrm>
          <a:prstGeom prst="roundRect">
            <a:avLst>
              <a:gd name="adj" fmla="val 14286"/>
            </a:avLst>
          </a:prstGeom>
          <a:solidFill>
            <a:srgbClr val="FFFFFF"/>
          </a:solidFill>
          <a:ln w="12700">
            <a:solidFill>
              <a:srgbClr val="DFE7F1"/>
            </a:solidFill>
            <a:prstDash val="solid"/>
          </a:ln>
        </p:spPr>
        <p:txBody>
          <a:bodyPr/>
          <a:p/>
        </p:txBody>
      </p:sp>
      <p:sp>
        <p:nvSpPr>
          <p:cNvPr id="20" name="Text 18"/>
          <p:cNvSpPr/>
          <p:nvPr/>
        </p:nvSpPr>
        <p:spPr>
          <a:xfrm>
            <a:off x="5175504" y="3209544"/>
            <a:ext cx="960120" cy="146304"/>
          </a:xfrm>
          <a:prstGeom prst="rect">
            <a:avLst/>
          </a:prstGeom>
          <a:noFill/>
          <a:ln/>
        </p:spPr>
        <p:txBody>
          <a:bodyPr wrap="square" lIns="0" tIns="0" rIns="0" bIns="0" rtlCol="0" anchor="ctr">
            <a:normAutofit/>
          </a:bodyPr>
          <a:lstStyle/>
          <a:p>
            <a:pPr algn="ctr" indent="0" marL="0">
              <a:buNone/>
            </a:pPr>
            <a:r>
              <a:rPr lang="en-US" sz="1000" b="1" dirty="0">
                <a:solidFill>
                  <a:srgbClr val="122239"/>
                </a:solidFill>
                <a:latin typeface="Aptos" pitchFamily="34" charset="0"/>
                <a:ea typeface="Aptos" pitchFamily="34" charset="-122"/>
                <a:cs typeface="Aptos" pitchFamily="34" charset="-120"/>
              </a:rPr>
              <a:t>offset 2</a:t>
            </a:r>
            <a:endParaRPr lang="en-US" sz="1000" dirty="0"/>
          </a:p>
        </p:txBody>
      </p:sp>
      <p:sp>
        <p:nvSpPr>
          <p:cNvPr id="21" name="Shape 19"/>
          <p:cNvSpPr/>
          <p:nvPr/>
        </p:nvSpPr>
        <p:spPr>
          <a:xfrm>
            <a:off x="6327648" y="3136392"/>
            <a:ext cx="1033272" cy="384048"/>
          </a:xfrm>
          <a:prstGeom prst="roundRect">
            <a:avLst>
              <a:gd name="adj" fmla="val 14286"/>
            </a:avLst>
          </a:prstGeom>
          <a:solidFill>
            <a:srgbClr val="FFFFFF"/>
          </a:solidFill>
          <a:ln w="12700">
            <a:solidFill>
              <a:srgbClr val="DFE7F1"/>
            </a:solidFill>
            <a:prstDash val="solid"/>
          </a:ln>
        </p:spPr>
        <p:txBody>
          <a:bodyPr/>
          <a:p/>
        </p:txBody>
      </p:sp>
      <p:sp>
        <p:nvSpPr>
          <p:cNvPr id="22" name="Text 20"/>
          <p:cNvSpPr/>
          <p:nvPr/>
        </p:nvSpPr>
        <p:spPr>
          <a:xfrm>
            <a:off x="6364224" y="3209544"/>
            <a:ext cx="960120" cy="146304"/>
          </a:xfrm>
          <a:prstGeom prst="rect">
            <a:avLst/>
          </a:prstGeom>
          <a:noFill/>
          <a:ln/>
        </p:spPr>
        <p:txBody>
          <a:bodyPr wrap="square" lIns="0" tIns="0" rIns="0" bIns="0" rtlCol="0" anchor="ctr">
            <a:normAutofit/>
          </a:bodyPr>
          <a:lstStyle/>
          <a:p>
            <a:pPr algn="ctr" indent="0" marL="0">
              <a:buNone/>
            </a:pPr>
            <a:r>
              <a:rPr lang="en-US" sz="1000" b="1" dirty="0">
                <a:solidFill>
                  <a:srgbClr val="122239"/>
                </a:solidFill>
                <a:latin typeface="Aptos" pitchFamily="34" charset="0"/>
                <a:ea typeface="Aptos" pitchFamily="34" charset="-122"/>
                <a:cs typeface="Aptos" pitchFamily="34" charset="-120"/>
              </a:rPr>
              <a:t>offset 3</a:t>
            </a:r>
            <a:endParaRPr lang="en-US" sz="1000" dirty="0"/>
          </a:p>
        </p:txBody>
      </p:sp>
      <p:sp>
        <p:nvSpPr>
          <p:cNvPr id="23" name="Shape 21"/>
          <p:cNvSpPr/>
          <p:nvPr/>
        </p:nvSpPr>
        <p:spPr>
          <a:xfrm>
            <a:off x="7516368" y="3136392"/>
            <a:ext cx="1033272" cy="384048"/>
          </a:xfrm>
          <a:prstGeom prst="roundRect">
            <a:avLst>
              <a:gd name="adj" fmla="val 14286"/>
            </a:avLst>
          </a:prstGeom>
          <a:solidFill>
            <a:srgbClr val="FFFFFF"/>
          </a:solidFill>
          <a:ln w="12700">
            <a:solidFill>
              <a:srgbClr val="DFE7F1"/>
            </a:solidFill>
            <a:prstDash val="solid"/>
          </a:ln>
        </p:spPr>
        <p:txBody>
          <a:bodyPr/>
          <a:p/>
        </p:txBody>
      </p:sp>
      <p:sp>
        <p:nvSpPr>
          <p:cNvPr id="24" name="Text 22"/>
          <p:cNvSpPr/>
          <p:nvPr/>
        </p:nvSpPr>
        <p:spPr>
          <a:xfrm>
            <a:off x="7552944" y="3209544"/>
            <a:ext cx="960120" cy="146304"/>
          </a:xfrm>
          <a:prstGeom prst="rect">
            <a:avLst/>
          </a:prstGeom>
          <a:noFill/>
          <a:ln/>
        </p:spPr>
        <p:txBody>
          <a:bodyPr wrap="square" lIns="0" tIns="0" rIns="0" bIns="0" rtlCol="0" anchor="ctr">
            <a:normAutofit/>
          </a:bodyPr>
          <a:lstStyle/>
          <a:p>
            <a:pPr algn="ctr" indent="0" marL="0">
              <a:buNone/>
            </a:pPr>
            <a:r>
              <a:rPr lang="en-US" sz="1000" b="1" dirty="0">
                <a:solidFill>
                  <a:srgbClr val="122239"/>
                </a:solidFill>
                <a:latin typeface="Aptos" pitchFamily="34" charset="0"/>
                <a:ea typeface="Aptos" pitchFamily="34" charset="-122"/>
                <a:cs typeface="Aptos" pitchFamily="34" charset="-120"/>
              </a:rPr>
              <a:t>offset 4</a:t>
            </a:r>
            <a:endParaRPr lang="en-US" sz="1000" dirty="0"/>
          </a:p>
        </p:txBody>
      </p:sp>
      <p:sp>
        <p:nvSpPr>
          <p:cNvPr id="25" name="Shape 23"/>
          <p:cNvSpPr/>
          <p:nvPr/>
        </p:nvSpPr>
        <p:spPr>
          <a:xfrm>
            <a:off x="8705088" y="3136392"/>
            <a:ext cx="1033272" cy="384048"/>
          </a:xfrm>
          <a:prstGeom prst="roundRect">
            <a:avLst>
              <a:gd name="adj" fmla="val 14286"/>
            </a:avLst>
          </a:prstGeom>
          <a:solidFill>
            <a:srgbClr val="FFFFFF"/>
          </a:solidFill>
          <a:ln w="12700">
            <a:solidFill>
              <a:srgbClr val="DFE7F1"/>
            </a:solidFill>
            <a:prstDash val="solid"/>
          </a:ln>
        </p:spPr>
        <p:txBody>
          <a:bodyPr/>
          <a:p/>
        </p:txBody>
      </p:sp>
      <p:sp>
        <p:nvSpPr>
          <p:cNvPr id="26" name="Text 24"/>
          <p:cNvSpPr/>
          <p:nvPr/>
        </p:nvSpPr>
        <p:spPr>
          <a:xfrm>
            <a:off x="8741664" y="3209544"/>
            <a:ext cx="960120" cy="146304"/>
          </a:xfrm>
          <a:prstGeom prst="rect">
            <a:avLst/>
          </a:prstGeom>
          <a:noFill/>
          <a:ln/>
        </p:spPr>
        <p:txBody>
          <a:bodyPr wrap="square" lIns="0" tIns="0" rIns="0" bIns="0" rtlCol="0" anchor="ctr">
            <a:normAutofit/>
          </a:bodyPr>
          <a:lstStyle/>
          <a:p>
            <a:pPr algn="ctr" indent="0" marL="0">
              <a:buNone/>
            </a:pPr>
            <a:r>
              <a:rPr lang="en-US" sz="1000" b="1" dirty="0">
                <a:solidFill>
                  <a:srgbClr val="122239"/>
                </a:solidFill>
                <a:latin typeface="Aptos" pitchFamily="34" charset="0"/>
                <a:ea typeface="Aptos" pitchFamily="34" charset="-122"/>
                <a:cs typeface="Aptos" pitchFamily="34" charset="-120"/>
              </a:rPr>
              <a:t>offset 5</a:t>
            </a:r>
            <a:endParaRPr lang="en-US" sz="1000" dirty="0"/>
          </a:p>
        </p:txBody>
      </p:sp>
      <p:sp>
        <p:nvSpPr>
          <p:cNvPr id="27" name="Text 25"/>
          <p:cNvSpPr/>
          <p:nvPr/>
        </p:nvSpPr>
        <p:spPr>
          <a:xfrm>
            <a:off x="914400" y="3950208"/>
            <a:ext cx="1490472" cy="210312"/>
          </a:xfrm>
          <a:prstGeom prst="rect">
            <a:avLst/>
          </a:prstGeom>
          <a:noFill/>
          <a:ln/>
        </p:spPr>
        <p:txBody>
          <a:bodyPr wrap="square" lIns="0" tIns="0" rIns="0" bIns="0" rtlCol="0" anchor="ctr">
            <a:normAutofit/>
          </a:bodyPr>
          <a:lstStyle/>
          <a:p>
            <a:pPr algn="l" indent="0" marL="0">
              <a:buNone/>
            </a:pPr>
            <a:r>
              <a:rPr lang="en-US" sz="1260" b="1" dirty="0">
                <a:solidFill>
                  <a:srgbClr val="64748B"/>
                </a:solidFill>
                <a:latin typeface="Aptos" pitchFamily="34" charset="0"/>
                <a:ea typeface="Aptos" pitchFamily="34" charset="-122"/>
                <a:cs typeface="Aptos" pitchFamily="34" charset="-120"/>
              </a:rPr>
              <a:t>Partition 1</a:t>
            </a:r>
            <a:endParaRPr lang="en-US" sz="1260" dirty="0"/>
          </a:p>
        </p:txBody>
      </p:sp>
      <p:sp>
        <p:nvSpPr>
          <p:cNvPr id="28" name="Shape 26"/>
          <p:cNvSpPr/>
          <p:nvPr/>
        </p:nvSpPr>
        <p:spPr>
          <a:xfrm>
            <a:off x="2761488" y="3895344"/>
            <a:ext cx="1033272" cy="384048"/>
          </a:xfrm>
          <a:prstGeom prst="roundRect">
            <a:avLst>
              <a:gd name="adj" fmla="val 14286"/>
            </a:avLst>
          </a:prstGeom>
          <a:solidFill>
            <a:srgbClr val="ECF3FF"/>
          </a:solidFill>
          <a:ln w="12700">
            <a:solidFill>
              <a:srgbClr val="CBDBFF"/>
            </a:solidFill>
            <a:prstDash val="solid"/>
          </a:ln>
        </p:spPr>
        <p:txBody>
          <a:bodyPr/>
          <a:p/>
        </p:txBody>
      </p:sp>
      <p:sp>
        <p:nvSpPr>
          <p:cNvPr id="29" name="Text 27"/>
          <p:cNvSpPr/>
          <p:nvPr/>
        </p:nvSpPr>
        <p:spPr>
          <a:xfrm>
            <a:off x="2798064" y="3968496"/>
            <a:ext cx="960120" cy="146304"/>
          </a:xfrm>
          <a:prstGeom prst="rect">
            <a:avLst/>
          </a:prstGeom>
          <a:noFill/>
          <a:ln/>
        </p:spPr>
        <p:txBody>
          <a:bodyPr wrap="square" lIns="0" tIns="0" rIns="0" bIns="0" rtlCol="0" anchor="ctr">
            <a:normAutofit/>
          </a:bodyPr>
          <a:lstStyle/>
          <a:p>
            <a:pPr algn="ctr" indent="0" marL="0">
              <a:buNone/>
            </a:pPr>
            <a:r>
              <a:rPr lang="en-US" sz="1000" b="1" dirty="0">
                <a:solidFill>
                  <a:srgbClr val="122239"/>
                </a:solidFill>
                <a:latin typeface="Aptos" pitchFamily="34" charset="0"/>
                <a:ea typeface="Aptos" pitchFamily="34" charset="-122"/>
                <a:cs typeface="Aptos" pitchFamily="34" charset="-120"/>
              </a:rPr>
              <a:t>offset 0</a:t>
            </a:r>
            <a:endParaRPr lang="en-US" sz="1000" dirty="0"/>
          </a:p>
        </p:txBody>
      </p:sp>
      <p:sp>
        <p:nvSpPr>
          <p:cNvPr id="30" name="Shape 28"/>
          <p:cNvSpPr/>
          <p:nvPr/>
        </p:nvSpPr>
        <p:spPr>
          <a:xfrm>
            <a:off x="3950208" y="3895344"/>
            <a:ext cx="1033272" cy="384048"/>
          </a:xfrm>
          <a:prstGeom prst="roundRect">
            <a:avLst>
              <a:gd name="adj" fmla="val 14286"/>
            </a:avLst>
          </a:prstGeom>
          <a:solidFill>
            <a:srgbClr val="FFFFFF"/>
          </a:solidFill>
          <a:ln w="12700">
            <a:solidFill>
              <a:srgbClr val="DFE7F1"/>
            </a:solidFill>
            <a:prstDash val="solid"/>
          </a:ln>
        </p:spPr>
        <p:txBody>
          <a:bodyPr/>
          <a:p/>
        </p:txBody>
      </p:sp>
      <p:sp>
        <p:nvSpPr>
          <p:cNvPr id="31" name="Text 29"/>
          <p:cNvSpPr/>
          <p:nvPr/>
        </p:nvSpPr>
        <p:spPr>
          <a:xfrm>
            <a:off x="3986784" y="3968496"/>
            <a:ext cx="960120" cy="146304"/>
          </a:xfrm>
          <a:prstGeom prst="rect">
            <a:avLst/>
          </a:prstGeom>
          <a:noFill/>
          <a:ln/>
        </p:spPr>
        <p:txBody>
          <a:bodyPr wrap="square" lIns="0" tIns="0" rIns="0" bIns="0" rtlCol="0" anchor="ctr">
            <a:normAutofit/>
          </a:bodyPr>
          <a:lstStyle/>
          <a:p>
            <a:pPr algn="ctr" indent="0" marL="0">
              <a:buNone/>
            </a:pPr>
            <a:r>
              <a:rPr lang="en-US" sz="1000" b="1" dirty="0">
                <a:solidFill>
                  <a:srgbClr val="122239"/>
                </a:solidFill>
                <a:latin typeface="Aptos" pitchFamily="34" charset="0"/>
                <a:ea typeface="Aptos" pitchFamily="34" charset="-122"/>
                <a:cs typeface="Aptos" pitchFamily="34" charset="-120"/>
              </a:rPr>
              <a:t>offset 1</a:t>
            </a:r>
            <a:endParaRPr lang="en-US" sz="1000" dirty="0"/>
          </a:p>
        </p:txBody>
      </p:sp>
      <p:sp>
        <p:nvSpPr>
          <p:cNvPr id="32" name="Shape 30"/>
          <p:cNvSpPr/>
          <p:nvPr/>
        </p:nvSpPr>
        <p:spPr>
          <a:xfrm>
            <a:off x="5138928" y="3895344"/>
            <a:ext cx="1033272" cy="384048"/>
          </a:xfrm>
          <a:prstGeom prst="roundRect">
            <a:avLst>
              <a:gd name="adj" fmla="val 14286"/>
            </a:avLst>
          </a:prstGeom>
          <a:solidFill>
            <a:srgbClr val="FFFFFF"/>
          </a:solidFill>
          <a:ln w="12700">
            <a:solidFill>
              <a:srgbClr val="DFE7F1"/>
            </a:solidFill>
            <a:prstDash val="solid"/>
          </a:ln>
        </p:spPr>
        <p:txBody>
          <a:bodyPr/>
          <a:p/>
        </p:txBody>
      </p:sp>
      <p:sp>
        <p:nvSpPr>
          <p:cNvPr id="33" name="Text 31"/>
          <p:cNvSpPr/>
          <p:nvPr/>
        </p:nvSpPr>
        <p:spPr>
          <a:xfrm>
            <a:off x="5175504" y="3968496"/>
            <a:ext cx="960120" cy="146304"/>
          </a:xfrm>
          <a:prstGeom prst="rect">
            <a:avLst/>
          </a:prstGeom>
          <a:noFill/>
          <a:ln/>
        </p:spPr>
        <p:txBody>
          <a:bodyPr wrap="square" lIns="0" tIns="0" rIns="0" bIns="0" rtlCol="0" anchor="ctr">
            <a:normAutofit/>
          </a:bodyPr>
          <a:lstStyle/>
          <a:p>
            <a:pPr algn="ctr" indent="0" marL="0">
              <a:buNone/>
            </a:pPr>
            <a:r>
              <a:rPr lang="en-US" sz="1000" b="1" dirty="0">
                <a:solidFill>
                  <a:srgbClr val="122239"/>
                </a:solidFill>
                <a:latin typeface="Aptos" pitchFamily="34" charset="0"/>
                <a:ea typeface="Aptos" pitchFamily="34" charset="-122"/>
                <a:cs typeface="Aptos" pitchFamily="34" charset="-120"/>
              </a:rPr>
              <a:t>offset 2</a:t>
            </a:r>
            <a:endParaRPr lang="en-US" sz="1000" dirty="0"/>
          </a:p>
        </p:txBody>
      </p:sp>
      <p:sp>
        <p:nvSpPr>
          <p:cNvPr id="34" name="Shape 32"/>
          <p:cNvSpPr/>
          <p:nvPr/>
        </p:nvSpPr>
        <p:spPr>
          <a:xfrm>
            <a:off x="6327648" y="3895344"/>
            <a:ext cx="1033272" cy="384048"/>
          </a:xfrm>
          <a:prstGeom prst="roundRect">
            <a:avLst>
              <a:gd name="adj" fmla="val 14286"/>
            </a:avLst>
          </a:prstGeom>
          <a:solidFill>
            <a:srgbClr val="FFFFFF"/>
          </a:solidFill>
          <a:ln w="12700">
            <a:solidFill>
              <a:srgbClr val="DFE7F1"/>
            </a:solidFill>
            <a:prstDash val="solid"/>
          </a:ln>
        </p:spPr>
        <p:txBody>
          <a:bodyPr/>
          <a:p/>
        </p:txBody>
      </p:sp>
      <p:sp>
        <p:nvSpPr>
          <p:cNvPr id="35" name="Text 33"/>
          <p:cNvSpPr/>
          <p:nvPr/>
        </p:nvSpPr>
        <p:spPr>
          <a:xfrm>
            <a:off x="6364224" y="3968496"/>
            <a:ext cx="960120" cy="146304"/>
          </a:xfrm>
          <a:prstGeom prst="rect">
            <a:avLst/>
          </a:prstGeom>
          <a:noFill/>
          <a:ln/>
        </p:spPr>
        <p:txBody>
          <a:bodyPr wrap="square" lIns="0" tIns="0" rIns="0" bIns="0" rtlCol="0" anchor="ctr">
            <a:normAutofit/>
          </a:bodyPr>
          <a:lstStyle/>
          <a:p>
            <a:pPr algn="ctr" indent="0" marL="0">
              <a:buNone/>
            </a:pPr>
            <a:r>
              <a:rPr lang="en-US" sz="1000" b="1" dirty="0">
                <a:solidFill>
                  <a:srgbClr val="122239"/>
                </a:solidFill>
                <a:latin typeface="Aptos" pitchFamily="34" charset="0"/>
                <a:ea typeface="Aptos" pitchFamily="34" charset="-122"/>
                <a:cs typeface="Aptos" pitchFamily="34" charset="-120"/>
              </a:rPr>
              <a:t>offset 3</a:t>
            </a:r>
            <a:endParaRPr lang="en-US" sz="1000" dirty="0"/>
          </a:p>
        </p:txBody>
      </p:sp>
      <p:sp>
        <p:nvSpPr>
          <p:cNvPr id="36" name="Shape 34"/>
          <p:cNvSpPr/>
          <p:nvPr/>
        </p:nvSpPr>
        <p:spPr>
          <a:xfrm>
            <a:off x="7516368" y="3895344"/>
            <a:ext cx="1033272" cy="384048"/>
          </a:xfrm>
          <a:prstGeom prst="roundRect">
            <a:avLst>
              <a:gd name="adj" fmla="val 14286"/>
            </a:avLst>
          </a:prstGeom>
          <a:solidFill>
            <a:srgbClr val="FFFFFF"/>
          </a:solidFill>
          <a:ln w="12700">
            <a:solidFill>
              <a:srgbClr val="DFE7F1"/>
            </a:solidFill>
            <a:prstDash val="solid"/>
          </a:ln>
        </p:spPr>
        <p:txBody>
          <a:bodyPr/>
          <a:p/>
        </p:txBody>
      </p:sp>
      <p:sp>
        <p:nvSpPr>
          <p:cNvPr id="37" name="Text 35"/>
          <p:cNvSpPr/>
          <p:nvPr/>
        </p:nvSpPr>
        <p:spPr>
          <a:xfrm>
            <a:off x="7552944" y="3968496"/>
            <a:ext cx="960120" cy="146304"/>
          </a:xfrm>
          <a:prstGeom prst="rect">
            <a:avLst/>
          </a:prstGeom>
          <a:noFill/>
          <a:ln/>
        </p:spPr>
        <p:txBody>
          <a:bodyPr wrap="square" lIns="0" tIns="0" rIns="0" bIns="0" rtlCol="0" anchor="ctr">
            <a:normAutofit/>
          </a:bodyPr>
          <a:lstStyle/>
          <a:p>
            <a:pPr algn="ctr" indent="0" marL="0">
              <a:buNone/>
            </a:pPr>
            <a:r>
              <a:rPr lang="en-US" sz="1000" b="1" dirty="0">
                <a:solidFill>
                  <a:srgbClr val="122239"/>
                </a:solidFill>
                <a:latin typeface="Aptos" pitchFamily="34" charset="0"/>
                <a:ea typeface="Aptos" pitchFamily="34" charset="-122"/>
                <a:cs typeface="Aptos" pitchFamily="34" charset="-120"/>
              </a:rPr>
              <a:t>offset 4</a:t>
            </a:r>
            <a:endParaRPr lang="en-US" sz="1000" dirty="0"/>
          </a:p>
        </p:txBody>
      </p:sp>
      <p:sp>
        <p:nvSpPr>
          <p:cNvPr id="38" name="Shape 36"/>
          <p:cNvSpPr/>
          <p:nvPr/>
        </p:nvSpPr>
        <p:spPr>
          <a:xfrm>
            <a:off x="8705088" y="3895344"/>
            <a:ext cx="1033272" cy="384048"/>
          </a:xfrm>
          <a:prstGeom prst="roundRect">
            <a:avLst>
              <a:gd name="adj" fmla="val 14286"/>
            </a:avLst>
          </a:prstGeom>
          <a:solidFill>
            <a:srgbClr val="FFFFFF"/>
          </a:solidFill>
          <a:ln w="12700">
            <a:solidFill>
              <a:srgbClr val="DFE7F1"/>
            </a:solidFill>
            <a:prstDash val="solid"/>
          </a:ln>
        </p:spPr>
        <p:txBody>
          <a:bodyPr/>
          <a:p/>
        </p:txBody>
      </p:sp>
      <p:sp>
        <p:nvSpPr>
          <p:cNvPr id="39" name="Text 37"/>
          <p:cNvSpPr/>
          <p:nvPr/>
        </p:nvSpPr>
        <p:spPr>
          <a:xfrm>
            <a:off x="8741664" y="3968496"/>
            <a:ext cx="960120" cy="146304"/>
          </a:xfrm>
          <a:prstGeom prst="rect">
            <a:avLst/>
          </a:prstGeom>
          <a:noFill/>
          <a:ln/>
        </p:spPr>
        <p:txBody>
          <a:bodyPr wrap="square" lIns="0" tIns="0" rIns="0" bIns="0" rtlCol="0" anchor="ctr">
            <a:normAutofit/>
          </a:bodyPr>
          <a:lstStyle/>
          <a:p>
            <a:pPr algn="ctr" indent="0" marL="0">
              <a:buNone/>
            </a:pPr>
            <a:r>
              <a:rPr lang="en-US" sz="1000" b="1" dirty="0">
                <a:solidFill>
                  <a:srgbClr val="122239"/>
                </a:solidFill>
                <a:latin typeface="Aptos" pitchFamily="34" charset="0"/>
                <a:ea typeface="Aptos" pitchFamily="34" charset="-122"/>
                <a:cs typeface="Aptos" pitchFamily="34" charset="-120"/>
              </a:rPr>
              <a:t>offset 5</a:t>
            </a:r>
            <a:endParaRPr lang="en-US" sz="1000" dirty="0"/>
          </a:p>
        </p:txBody>
      </p:sp>
      <p:sp>
        <p:nvSpPr>
          <p:cNvPr id="40" name="Shape 38"/>
          <p:cNvSpPr/>
          <p:nvPr/>
        </p:nvSpPr>
        <p:spPr>
          <a:xfrm>
            <a:off x="594360" y="5221224"/>
            <a:ext cx="3560064" cy="914400"/>
          </a:xfrm>
          <a:prstGeom prst="roundRect">
            <a:avLst>
              <a:gd name="adj" fmla="val 14000"/>
            </a:avLst>
          </a:prstGeom>
          <a:solidFill>
            <a:srgbClr val="F7F9FC"/>
          </a:solidFill>
          <a:ln w="12700">
            <a:solidFill>
              <a:srgbClr val="DFE7F1"/>
            </a:solidFill>
            <a:prstDash val="solid"/>
          </a:ln>
        </p:spPr>
        <p:txBody>
          <a:bodyPr/>
          <a:p/>
        </p:txBody>
      </p:sp>
      <p:sp>
        <p:nvSpPr>
          <p:cNvPr id="41" name="Shape 39"/>
          <p:cNvSpPr/>
          <p:nvPr/>
        </p:nvSpPr>
        <p:spPr>
          <a:xfrm>
            <a:off x="594360" y="5221224"/>
            <a:ext cx="50292" cy="914400"/>
          </a:xfrm>
          <a:prstGeom prst="rect">
            <a:avLst/>
          </a:prstGeom>
          <a:solidFill>
            <a:srgbClr val="2866F6"/>
          </a:solidFill>
          <a:ln w="12700">
            <a:solidFill>
              <a:srgbClr val="2866F6"/>
            </a:solidFill>
            <a:prstDash val="solid"/>
          </a:ln>
        </p:spPr>
        <p:txBody>
          <a:bodyPr/>
          <a:p/>
        </p:txBody>
      </p:sp>
      <p:sp>
        <p:nvSpPr>
          <p:cNvPr id="42" name="Text 40"/>
          <p:cNvSpPr/>
          <p:nvPr/>
        </p:nvSpPr>
        <p:spPr>
          <a:xfrm>
            <a:off x="768096" y="5340096"/>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Ordering</a:t>
            </a:r>
            <a:endParaRPr lang="en-US" sz="1340" dirty="0"/>
          </a:p>
        </p:txBody>
      </p:sp>
      <p:sp>
        <p:nvSpPr>
          <p:cNvPr id="43" name="Text 41"/>
          <p:cNvSpPr/>
          <p:nvPr/>
        </p:nvSpPr>
        <p:spPr>
          <a:xfrm>
            <a:off x="768096" y="5724144"/>
            <a:ext cx="3221736" cy="32918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Order is guaranteed within a partition, not across the whole topic.</a:t>
            </a:r>
            <a:endParaRPr lang="en-US" sz="1230" dirty="0"/>
          </a:p>
        </p:txBody>
      </p:sp>
      <p:sp>
        <p:nvSpPr>
          <p:cNvPr id="44" name="Shape 42"/>
          <p:cNvSpPr/>
          <p:nvPr/>
        </p:nvSpPr>
        <p:spPr>
          <a:xfrm>
            <a:off x="4300728" y="5221224"/>
            <a:ext cx="3560064" cy="914400"/>
          </a:xfrm>
          <a:prstGeom prst="roundRect">
            <a:avLst>
              <a:gd name="adj" fmla="val 14000"/>
            </a:avLst>
          </a:prstGeom>
          <a:solidFill>
            <a:srgbClr val="F7F9FC"/>
          </a:solidFill>
          <a:ln w="12700">
            <a:solidFill>
              <a:srgbClr val="DFE7F1"/>
            </a:solidFill>
            <a:prstDash val="solid"/>
          </a:ln>
        </p:spPr>
        <p:txBody>
          <a:bodyPr/>
          <a:p/>
        </p:txBody>
      </p:sp>
      <p:sp>
        <p:nvSpPr>
          <p:cNvPr id="45" name="Shape 43"/>
          <p:cNvSpPr/>
          <p:nvPr/>
        </p:nvSpPr>
        <p:spPr>
          <a:xfrm>
            <a:off x="4300728" y="5221224"/>
            <a:ext cx="50292" cy="914400"/>
          </a:xfrm>
          <a:prstGeom prst="rect">
            <a:avLst/>
          </a:prstGeom>
          <a:solidFill>
            <a:srgbClr val="2866F6"/>
          </a:solidFill>
          <a:ln w="12700">
            <a:solidFill>
              <a:srgbClr val="2866F6"/>
            </a:solidFill>
            <a:prstDash val="solid"/>
          </a:ln>
        </p:spPr>
        <p:txBody>
          <a:bodyPr/>
          <a:p/>
        </p:txBody>
      </p:sp>
      <p:sp>
        <p:nvSpPr>
          <p:cNvPr id="46" name="Text 44"/>
          <p:cNvSpPr/>
          <p:nvPr/>
        </p:nvSpPr>
        <p:spPr>
          <a:xfrm>
            <a:off x="4474464" y="5340096"/>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Record key</a:t>
            </a:r>
            <a:endParaRPr lang="en-US" sz="1340" dirty="0"/>
          </a:p>
        </p:txBody>
      </p:sp>
      <p:sp>
        <p:nvSpPr>
          <p:cNvPr id="47" name="Text 45"/>
          <p:cNvSpPr/>
          <p:nvPr/>
        </p:nvSpPr>
        <p:spPr>
          <a:xfrm>
            <a:off x="4474464" y="5724144"/>
            <a:ext cx="3221736" cy="32918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 stable orderId key can help related records use the same partition.</a:t>
            </a:r>
            <a:endParaRPr lang="en-US" sz="1230" dirty="0"/>
          </a:p>
        </p:txBody>
      </p:sp>
      <p:sp>
        <p:nvSpPr>
          <p:cNvPr id="48" name="Shape 46"/>
          <p:cNvSpPr/>
          <p:nvPr/>
        </p:nvSpPr>
        <p:spPr>
          <a:xfrm>
            <a:off x="8007096" y="5221224"/>
            <a:ext cx="3560064" cy="914400"/>
          </a:xfrm>
          <a:prstGeom prst="roundRect">
            <a:avLst>
              <a:gd name="adj" fmla="val 14000"/>
            </a:avLst>
          </a:prstGeom>
          <a:solidFill>
            <a:srgbClr val="F7F9FC"/>
          </a:solidFill>
          <a:ln w="12700">
            <a:solidFill>
              <a:srgbClr val="DFE7F1"/>
            </a:solidFill>
            <a:prstDash val="solid"/>
          </a:ln>
        </p:spPr>
        <p:txBody>
          <a:bodyPr/>
          <a:p/>
        </p:txBody>
      </p:sp>
      <p:sp>
        <p:nvSpPr>
          <p:cNvPr id="49" name="Shape 47"/>
          <p:cNvSpPr/>
          <p:nvPr/>
        </p:nvSpPr>
        <p:spPr>
          <a:xfrm>
            <a:off x="8007096" y="5221224"/>
            <a:ext cx="50292" cy="914400"/>
          </a:xfrm>
          <a:prstGeom prst="rect">
            <a:avLst/>
          </a:prstGeom>
          <a:solidFill>
            <a:srgbClr val="2866F6"/>
          </a:solidFill>
          <a:ln w="12700">
            <a:solidFill>
              <a:srgbClr val="2866F6"/>
            </a:solidFill>
            <a:prstDash val="solid"/>
          </a:ln>
        </p:spPr>
        <p:txBody>
          <a:bodyPr/>
          <a:p/>
        </p:txBody>
      </p:sp>
      <p:sp>
        <p:nvSpPr>
          <p:cNvPr id="50" name="Text 48"/>
          <p:cNvSpPr/>
          <p:nvPr/>
        </p:nvSpPr>
        <p:spPr>
          <a:xfrm>
            <a:off x="8180832" y="5340096"/>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Retention</a:t>
            </a:r>
            <a:endParaRPr lang="en-US" sz="1340" dirty="0"/>
          </a:p>
        </p:txBody>
      </p:sp>
      <p:sp>
        <p:nvSpPr>
          <p:cNvPr id="51" name="Text 49"/>
          <p:cNvSpPr/>
          <p:nvPr/>
        </p:nvSpPr>
        <p:spPr>
          <a:xfrm>
            <a:off x="8180832" y="5724144"/>
            <a:ext cx="3221736" cy="32918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Reading does not delete the record; it remains until retention removes it.</a:t>
            </a:r>
            <a:endParaRPr lang="en-US" sz="12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COMMUNICATION BASICS</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08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Kafka consumer groups read events independently</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Members share partitions within one group; different groups track separate progress.</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8</a:t>
            </a:r>
            <a:endParaRPr lang="en-US" sz="850" dirty="0"/>
          </a:p>
        </p:txBody>
      </p:sp>
      <p:sp>
        <p:nvSpPr>
          <p:cNvPr id="12" name="Shape 10"/>
          <p:cNvSpPr/>
          <p:nvPr/>
        </p:nvSpPr>
        <p:spPr>
          <a:xfrm>
            <a:off x="658368" y="2322576"/>
            <a:ext cx="10789920" cy="676656"/>
          </a:xfrm>
          <a:prstGeom prst="roundRect">
            <a:avLst>
              <a:gd name="adj" fmla="val 17568"/>
            </a:avLst>
          </a:prstGeom>
          <a:solidFill>
            <a:srgbClr val="ECF3FF"/>
          </a:solidFill>
          <a:ln w="12700">
            <a:solidFill>
              <a:srgbClr val="CBDBFF"/>
            </a:solidFill>
            <a:prstDash val="solid"/>
          </a:ln>
        </p:spPr>
        <p:txBody>
          <a:bodyPr/>
          <a:p/>
        </p:txBody>
      </p:sp>
      <p:sp>
        <p:nvSpPr>
          <p:cNvPr id="13" name="Text 11"/>
          <p:cNvSpPr/>
          <p:nvPr/>
        </p:nvSpPr>
        <p:spPr>
          <a:xfrm>
            <a:off x="932688" y="2523744"/>
            <a:ext cx="10168128" cy="237744"/>
          </a:xfrm>
          <a:prstGeom prst="rect">
            <a:avLst/>
          </a:prstGeom>
          <a:noFill/>
          <a:ln/>
        </p:spPr>
        <p:txBody>
          <a:bodyPr wrap="square" lIns="0" tIns="0" rIns="0" bIns="0" rtlCol="0" anchor="ctr">
            <a:normAutofit/>
          </a:bodyPr>
          <a:lstStyle/>
          <a:p>
            <a:pPr algn="ctr" indent="0" marL="0">
              <a:buNone/>
            </a:pPr>
            <a:r>
              <a:rPr lang="en-US" sz="1700" b="1" dirty="0">
                <a:solidFill>
                  <a:srgbClr val="122239"/>
                </a:solidFill>
                <a:latin typeface="Aptos" pitchFamily="34" charset="0"/>
                <a:ea typeface="Aptos" pitchFamily="34" charset="-122"/>
                <a:cs typeface="Aptos" pitchFamily="34" charset="-120"/>
              </a:rPr>
              <a:t>Kafka topic: payment-events   ·   Partition 0   ·   Partition 1</a:t>
            </a:r>
            <a:endParaRPr lang="en-US" sz="1700" dirty="0"/>
          </a:p>
        </p:txBody>
      </p:sp>
      <p:sp>
        <p:nvSpPr>
          <p:cNvPr id="14" name="Shape 12"/>
          <p:cNvSpPr/>
          <p:nvPr/>
        </p:nvSpPr>
        <p:spPr>
          <a:xfrm>
            <a:off x="3657600" y="3008376"/>
            <a:ext cx="0" cy="448056"/>
          </a:xfrm>
          <a:prstGeom prst="line">
            <a:avLst/>
          </a:prstGeom>
          <a:noFill/>
          <a:ln w="25400">
            <a:solidFill>
              <a:srgbClr val="2866F6"/>
            </a:solidFill>
            <a:prstDash val="solid"/>
            <a:headEnd type="none"/>
            <a:tailEnd type="triangle"/>
          </a:ln>
        </p:spPr>
        <p:txBody>
          <a:bodyPr/>
          <a:p/>
        </p:txBody>
      </p:sp>
      <p:sp>
        <p:nvSpPr>
          <p:cNvPr id="15" name="Shape 13"/>
          <p:cNvSpPr/>
          <p:nvPr/>
        </p:nvSpPr>
        <p:spPr>
          <a:xfrm>
            <a:off x="8412480" y="3008376"/>
            <a:ext cx="0" cy="448056"/>
          </a:xfrm>
          <a:prstGeom prst="line">
            <a:avLst/>
          </a:prstGeom>
          <a:noFill/>
          <a:ln w="25400">
            <a:solidFill>
              <a:srgbClr val="008F83"/>
            </a:solidFill>
            <a:prstDash val="solid"/>
            <a:headEnd type="none"/>
            <a:tailEnd type="triangle"/>
          </a:ln>
        </p:spPr>
        <p:txBody>
          <a:bodyPr/>
          <a:p/>
        </p:txBody>
      </p:sp>
      <p:sp>
        <p:nvSpPr>
          <p:cNvPr id="16" name="Shape 14"/>
          <p:cNvSpPr/>
          <p:nvPr/>
        </p:nvSpPr>
        <p:spPr>
          <a:xfrm>
            <a:off x="777240" y="3520440"/>
            <a:ext cx="4855464" cy="1353312"/>
          </a:xfrm>
          <a:prstGeom prst="roundRect">
            <a:avLst>
              <a:gd name="adj" fmla="val 8784"/>
            </a:avLst>
          </a:prstGeom>
          <a:solidFill>
            <a:srgbClr val="F7F9FC"/>
          </a:solidFill>
          <a:ln w="12700">
            <a:solidFill>
              <a:srgbClr val="DFE7F1"/>
            </a:solidFill>
            <a:prstDash val="solid"/>
          </a:ln>
        </p:spPr>
        <p:txBody>
          <a:bodyPr/>
          <a:p/>
        </p:txBody>
      </p:sp>
      <p:sp>
        <p:nvSpPr>
          <p:cNvPr id="17" name="Text 15"/>
          <p:cNvSpPr/>
          <p:nvPr/>
        </p:nvSpPr>
        <p:spPr>
          <a:xfrm>
            <a:off x="987552" y="3730752"/>
            <a:ext cx="4389120" cy="274320"/>
          </a:xfrm>
          <a:prstGeom prst="rect">
            <a:avLst/>
          </a:prstGeom>
          <a:noFill/>
          <a:ln/>
        </p:spPr>
        <p:txBody>
          <a:bodyPr wrap="square" lIns="0" tIns="0" rIns="0" bIns="0" rtlCol="0" anchor="ctr">
            <a:normAutofit/>
          </a:bodyPr>
          <a:lstStyle/>
          <a:p>
            <a:pPr algn="ctr" indent="0" marL="0">
              <a:buNone/>
            </a:pPr>
            <a:r>
              <a:rPr lang="en-US" sz="1700" b="1" dirty="0">
                <a:solidFill>
                  <a:srgbClr val="122239"/>
                </a:solidFill>
                <a:latin typeface="Aptos" pitchFamily="34" charset="0"/>
                <a:ea typeface="Aptos" pitchFamily="34" charset="-122"/>
                <a:cs typeface="Aptos" pitchFamily="34" charset="-120"/>
              </a:rPr>
              <a:t>email-service-group</a:t>
            </a:r>
            <a:endParaRPr lang="en-US" sz="1700" dirty="0"/>
          </a:p>
        </p:txBody>
      </p:sp>
      <p:sp>
        <p:nvSpPr>
          <p:cNvPr id="18" name="Text 16"/>
          <p:cNvSpPr/>
          <p:nvPr/>
        </p:nvSpPr>
        <p:spPr>
          <a:xfrm>
            <a:off x="941832" y="4251960"/>
            <a:ext cx="4526280" cy="347472"/>
          </a:xfrm>
          <a:prstGeom prst="rect">
            <a:avLst/>
          </a:prstGeom>
          <a:noFill/>
          <a:ln/>
        </p:spPr>
        <p:txBody>
          <a:bodyPr wrap="square" lIns="0" tIns="0" rIns="0" bIns="0" rtlCol="0" anchor="ctr">
            <a:normAutofit/>
          </a:bodyPr>
          <a:lstStyle/>
          <a:p>
            <a:pPr algn="ctr" indent="0" marL="0">
              <a:buNone/>
            </a:pPr>
            <a:r>
              <a:rPr lang="en-US" sz="1310" dirty="0">
                <a:solidFill>
                  <a:srgbClr val="354862"/>
                </a:solidFill>
                <a:latin typeface="Aptos" pitchFamily="34" charset="0"/>
                <a:ea typeface="Aptos" pitchFamily="34" charset="-122"/>
                <a:cs typeface="Aptos" pitchFamily="34" charset="-120"/>
              </a:rPr>
              <a:t>Email A   ·   Email B  (divide partitions)</a:t>
            </a:r>
            <a:endParaRPr lang="en-US" sz="1310" dirty="0"/>
          </a:p>
        </p:txBody>
      </p:sp>
      <p:sp>
        <p:nvSpPr>
          <p:cNvPr id="19" name="Shape 17"/>
          <p:cNvSpPr/>
          <p:nvPr/>
        </p:nvSpPr>
        <p:spPr>
          <a:xfrm>
            <a:off x="6537960" y="3520440"/>
            <a:ext cx="4855464" cy="1353312"/>
          </a:xfrm>
          <a:prstGeom prst="roundRect">
            <a:avLst>
              <a:gd name="adj" fmla="val 8784"/>
            </a:avLst>
          </a:prstGeom>
          <a:solidFill>
            <a:srgbClr val="F7F9FC"/>
          </a:solidFill>
          <a:ln w="12700">
            <a:solidFill>
              <a:srgbClr val="DFE7F1"/>
            </a:solidFill>
            <a:prstDash val="solid"/>
          </a:ln>
        </p:spPr>
        <p:txBody>
          <a:bodyPr/>
          <a:p/>
        </p:txBody>
      </p:sp>
      <p:sp>
        <p:nvSpPr>
          <p:cNvPr id="20" name="Text 18"/>
          <p:cNvSpPr/>
          <p:nvPr/>
        </p:nvSpPr>
        <p:spPr>
          <a:xfrm>
            <a:off x="6684264" y="3730752"/>
            <a:ext cx="4553712" cy="283464"/>
          </a:xfrm>
          <a:prstGeom prst="rect">
            <a:avLst/>
          </a:prstGeom>
          <a:noFill/>
          <a:ln/>
        </p:spPr>
        <p:txBody>
          <a:bodyPr wrap="square" lIns="0" tIns="0" rIns="0" bIns="0" rtlCol="0" anchor="ctr">
            <a:normAutofit/>
          </a:bodyPr>
          <a:lstStyle/>
          <a:p>
            <a:pPr algn="ctr" indent="0" marL="0">
              <a:buNone/>
            </a:pPr>
            <a:r>
              <a:rPr lang="en-US" sz="1700" b="1" dirty="0">
                <a:solidFill>
                  <a:srgbClr val="122239"/>
                </a:solidFill>
                <a:latin typeface="Aptos" pitchFamily="34" charset="0"/>
                <a:ea typeface="Aptos" pitchFamily="34" charset="-122"/>
                <a:cs typeface="Aptos" pitchFamily="34" charset="-120"/>
              </a:rPr>
              <a:t>notification-service-group</a:t>
            </a:r>
            <a:endParaRPr lang="en-US" sz="1700" dirty="0"/>
          </a:p>
        </p:txBody>
      </p:sp>
      <p:sp>
        <p:nvSpPr>
          <p:cNvPr id="21" name="Text 19"/>
          <p:cNvSpPr/>
          <p:nvPr/>
        </p:nvSpPr>
        <p:spPr>
          <a:xfrm>
            <a:off x="6720840" y="4251960"/>
            <a:ext cx="4489704" cy="347472"/>
          </a:xfrm>
          <a:prstGeom prst="rect">
            <a:avLst/>
          </a:prstGeom>
          <a:noFill/>
          <a:ln/>
        </p:spPr>
        <p:txBody>
          <a:bodyPr wrap="square" lIns="0" tIns="0" rIns="0" bIns="0" rtlCol="0" anchor="ctr">
            <a:normAutofit/>
          </a:bodyPr>
          <a:lstStyle/>
          <a:p>
            <a:pPr algn="ctr" indent="0" marL="0">
              <a:buNone/>
            </a:pPr>
            <a:r>
              <a:rPr lang="en-US" sz="1310" dirty="0">
                <a:solidFill>
                  <a:srgbClr val="354862"/>
                </a:solidFill>
                <a:latin typeface="Aptos" pitchFamily="34" charset="0"/>
                <a:ea typeface="Aptos" pitchFamily="34" charset="-122"/>
                <a:cs typeface="Aptos" pitchFamily="34" charset="-120"/>
              </a:rPr>
              <a:t>Reads the same retained events separately</a:t>
            </a:r>
            <a:endParaRPr lang="en-US" sz="1310" dirty="0"/>
          </a:p>
        </p:txBody>
      </p:sp>
      <p:sp>
        <p:nvSpPr>
          <p:cNvPr id="22" name="Shape 20"/>
          <p:cNvSpPr/>
          <p:nvPr/>
        </p:nvSpPr>
        <p:spPr>
          <a:xfrm>
            <a:off x="594360" y="5102352"/>
            <a:ext cx="3563112" cy="1069848"/>
          </a:xfrm>
          <a:prstGeom prst="roundRect">
            <a:avLst>
              <a:gd name="adj" fmla="val 11966"/>
            </a:avLst>
          </a:prstGeom>
          <a:solidFill>
            <a:srgbClr val="F7F9FC"/>
          </a:solidFill>
          <a:ln w="12700">
            <a:solidFill>
              <a:srgbClr val="DFE7F1"/>
            </a:solidFill>
            <a:prstDash val="solid"/>
          </a:ln>
        </p:spPr>
        <p:txBody>
          <a:bodyPr/>
          <a:p/>
        </p:txBody>
      </p:sp>
      <p:sp>
        <p:nvSpPr>
          <p:cNvPr id="23" name="Shape 21"/>
          <p:cNvSpPr/>
          <p:nvPr/>
        </p:nvSpPr>
        <p:spPr>
          <a:xfrm>
            <a:off x="594360" y="5102352"/>
            <a:ext cx="50292" cy="1069848"/>
          </a:xfrm>
          <a:prstGeom prst="rect">
            <a:avLst/>
          </a:prstGeom>
          <a:solidFill>
            <a:srgbClr val="2866F6"/>
          </a:solidFill>
          <a:ln w="12700">
            <a:solidFill>
              <a:srgbClr val="2866F6"/>
            </a:solidFill>
            <a:prstDash val="solid"/>
          </a:ln>
        </p:spPr>
        <p:txBody>
          <a:bodyPr/>
          <a:p/>
        </p:txBody>
      </p:sp>
      <p:sp>
        <p:nvSpPr>
          <p:cNvPr id="24" name="Text 22"/>
          <p:cNvSpPr/>
          <p:nvPr/>
        </p:nvSpPr>
        <p:spPr>
          <a:xfrm>
            <a:off x="768096" y="5221224"/>
            <a:ext cx="323392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Committed offset</a:t>
            </a:r>
            <a:endParaRPr lang="en-US" sz="1340" dirty="0"/>
          </a:p>
        </p:txBody>
      </p:sp>
      <p:sp>
        <p:nvSpPr>
          <p:cNvPr id="25" name="Text 23"/>
          <p:cNvSpPr/>
          <p:nvPr/>
        </p:nvSpPr>
        <p:spPr>
          <a:xfrm>
            <a:off x="768096" y="5605272"/>
            <a:ext cx="3224784" cy="48463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Records each group’s progress within a partition.</a:t>
            </a:r>
            <a:endParaRPr lang="en-US" sz="1230" dirty="0"/>
          </a:p>
        </p:txBody>
      </p:sp>
      <p:sp>
        <p:nvSpPr>
          <p:cNvPr id="26" name="Shape 24"/>
          <p:cNvSpPr/>
          <p:nvPr/>
        </p:nvSpPr>
        <p:spPr>
          <a:xfrm>
            <a:off x="4303776" y="5102352"/>
            <a:ext cx="3563112" cy="1069848"/>
          </a:xfrm>
          <a:prstGeom prst="roundRect">
            <a:avLst>
              <a:gd name="adj" fmla="val 11966"/>
            </a:avLst>
          </a:prstGeom>
          <a:solidFill>
            <a:srgbClr val="F7F9FC"/>
          </a:solidFill>
          <a:ln w="12700">
            <a:solidFill>
              <a:srgbClr val="DFE7F1"/>
            </a:solidFill>
            <a:prstDash val="solid"/>
          </a:ln>
        </p:spPr>
        <p:txBody>
          <a:bodyPr/>
          <a:p/>
        </p:txBody>
      </p:sp>
      <p:sp>
        <p:nvSpPr>
          <p:cNvPr id="27" name="Shape 25"/>
          <p:cNvSpPr/>
          <p:nvPr/>
        </p:nvSpPr>
        <p:spPr>
          <a:xfrm>
            <a:off x="4303776" y="5102352"/>
            <a:ext cx="50292" cy="1069848"/>
          </a:xfrm>
          <a:prstGeom prst="rect">
            <a:avLst/>
          </a:prstGeom>
          <a:solidFill>
            <a:srgbClr val="2866F6"/>
          </a:solidFill>
          <a:ln w="12700">
            <a:solidFill>
              <a:srgbClr val="2866F6"/>
            </a:solidFill>
            <a:prstDash val="solid"/>
          </a:ln>
        </p:spPr>
        <p:txBody>
          <a:bodyPr/>
          <a:p/>
        </p:txBody>
      </p:sp>
      <p:sp>
        <p:nvSpPr>
          <p:cNvPr id="28" name="Text 26"/>
          <p:cNvSpPr/>
          <p:nvPr/>
        </p:nvSpPr>
        <p:spPr>
          <a:xfrm>
            <a:off x="4477512" y="5221224"/>
            <a:ext cx="323392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Replay</a:t>
            </a:r>
            <a:endParaRPr lang="en-US" sz="1340" dirty="0"/>
          </a:p>
        </p:txBody>
      </p:sp>
      <p:sp>
        <p:nvSpPr>
          <p:cNvPr id="29" name="Text 27"/>
          <p:cNvSpPr/>
          <p:nvPr/>
        </p:nvSpPr>
        <p:spPr>
          <a:xfrm>
            <a:off x="4477512" y="5605272"/>
            <a:ext cx="3224784" cy="48463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 group can reread retained events from earlier positions.</a:t>
            </a:r>
            <a:endParaRPr lang="en-US" sz="1230" dirty="0"/>
          </a:p>
        </p:txBody>
      </p:sp>
      <p:sp>
        <p:nvSpPr>
          <p:cNvPr id="30" name="Shape 28"/>
          <p:cNvSpPr/>
          <p:nvPr/>
        </p:nvSpPr>
        <p:spPr>
          <a:xfrm>
            <a:off x="8013192" y="5102352"/>
            <a:ext cx="3563112" cy="1069848"/>
          </a:xfrm>
          <a:prstGeom prst="roundRect">
            <a:avLst>
              <a:gd name="adj" fmla="val 11966"/>
            </a:avLst>
          </a:prstGeom>
          <a:solidFill>
            <a:srgbClr val="F7F9FC"/>
          </a:solidFill>
          <a:ln w="12700">
            <a:solidFill>
              <a:srgbClr val="DFE7F1"/>
            </a:solidFill>
            <a:prstDash val="solid"/>
          </a:ln>
        </p:spPr>
        <p:txBody>
          <a:bodyPr/>
          <a:p/>
        </p:txBody>
      </p:sp>
      <p:sp>
        <p:nvSpPr>
          <p:cNvPr id="31" name="Shape 29"/>
          <p:cNvSpPr/>
          <p:nvPr/>
        </p:nvSpPr>
        <p:spPr>
          <a:xfrm>
            <a:off x="8013192" y="5102352"/>
            <a:ext cx="50292" cy="1069848"/>
          </a:xfrm>
          <a:prstGeom prst="rect">
            <a:avLst/>
          </a:prstGeom>
          <a:solidFill>
            <a:srgbClr val="2866F6"/>
          </a:solidFill>
          <a:ln w="12700">
            <a:solidFill>
              <a:srgbClr val="2866F6"/>
            </a:solidFill>
            <a:prstDash val="solid"/>
          </a:ln>
        </p:spPr>
        <p:txBody>
          <a:bodyPr/>
          <a:p/>
        </p:txBody>
      </p:sp>
      <p:sp>
        <p:nvSpPr>
          <p:cNvPr id="32" name="Text 30"/>
          <p:cNvSpPr/>
          <p:nvPr/>
        </p:nvSpPr>
        <p:spPr>
          <a:xfrm>
            <a:off x="8186928" y="5221224"/>
            <a:ext cx="323392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Consumer lag</a:t>
            </a:r>
            <a:endParaRPr lang="en-US" sz="1340" dirty="0"/>
          </a:p>
        </p:txBody>
      </p:sp>
      <p:sp>
        <p:nvSpPr>
          <p:cNvPr id="33" name="Text 31"/>
          <p:cNvSpPr/>
          <p:nvPr/>
        </p:nvSpPr>
        <p:spPr>
          <a:xfrm>
            <a:off x="8186928" y="5605272"/>
            <a:ext cx="3224784" cy="48463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Growing lag means processing falls behind produced records.</a:t>
            </a:r>
            <a:endParaRPr lang="en-US" sz="12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COMMUNICATION BASICS</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09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An API Gateway keeps public routing in one place</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Kong routes incoming requests; internal services remain separate.</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9</a:t>
            </a:r>
            <a:endParaRPr lang="en-US" sz="850" dirty="0"/>
          </a:p>
        </p:txBody>
      </p:sp>
      <p:sp>
        <p:nvSpPr>
          <p:cNvPr id="12" name="Shape 10"/>
          <p:cNvSpPr/>
          <p:nvPr/>
        </p:nvSpPr>
        <p:spPr>
          <a:xfrm>
            <a:off x="1280160" y="2377440"/>
            <a:ext cx="3520440" cy="987552"/>
          </a:xfrm>
          <a:prstGeom prst="roundRect">
            <a:avLst>
              <a:gd name="adj" fmla="val 12963"/>
            </a:avLst>
          </a:prstGeom>
          <a:solidFill>
            <a:srgbClr val="ECF3FF"/>
          </a:solidFill>
          <a:ln w="12700">
            <a:solidFill>
              <a:srgbClr val="CBDBFF"/>
            </a:solidFill>
            <a:prstDash val="solid"/>
          </a:ln>
        </p:spPr>
        <p:txBody>
          <a:bodyPr/>
          <a:p/>
        </p:txBody>
      </p:sp>
      <p:sp>
        <p:nvSpPr>
          <p:cNvPr id="13" name="Text 11"/>
          <p:cNvSpPr/>
          <p:nvPr/>
        </p:nvSpPr>
        <p:spPr>
          <a:xfrm>
            <a:off x="1389888" y="2496312"/>
            <a:ext cx="330098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Browser</a:t>
            </a:r>
            <a:endParaRPr lang="en-US" sz="1500" dirty="0"/>
          </a:p>
        </p:txBody>
      </p:sp>
      <p:sp>
        <p:nvSpPr>
          <p:cNvPr id="14" name="Text 12"/>
          <p:cNvSpPr/>
          <p:nvPr/>
        </p:nvSpPr>
        <p:spPr>
          <a:xfrm>
            <a:off x="1417320" y="2916936"/>
            <a:ext cx="324612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Client</a:t>
            </a:r>
            <a:endParaRPr lang="en-US" sz="1150" dirty="0"/>
          </a:p>
        </p:txBody>
      </p:sp>
      <p:sp>
        <p:nvSpPr>
          <p:cNvPr id="15" name="Shape 13"/>
          <p:cNvSpPr/>
          <p:nvPr/>
        </p:nvSpPr>
        <p:spPr>
          <a:xfrm>
            <a:off x="4837176" y="2880360"/>
            <a:ext cx="292608" cy="0"/>
          </a:xfrm>
          <a:prstGeom prst="line">
            <a:avLst/>
          </a:prstGeom>
          <a:noFill/>
          <a:ln w="21590">
            <a:solidFill>
              <a:srgbClr val="2866F6"/>
            </a:solidFill>
            <a:prstDash val="solid"/>
            <a:headEnd type="none"/>
            <a:tailEnd type="triangle"/>
          </a:ln>
        </p:spPr>
        <p:txBody>
          <a:bodyPr/>
          <a:p/>
        </p:txBody>
      </p:sp>
      <p:sp>
        <p:nvSpPr>
          <p:cNvPr id="16" name="Shape 14"/>
          <p:cNvSpPr/>
          <p:nvPr/>
        </p:nvSpPr>
        <p:spPr>
          <a:xfrm>
            <a:off x="5166360" y="2377440"/>
            <a:ext cx="3520440" cy="987552"/>
          </a:xfrm>
          <a:prstGeom prst="roundRect">
            <a:avLst>
              <a:gd name="adj" fmla="val 12963"/>
            </a:avLst>
          </a:prstGeom>
          <a:solidFill>
            <a:srgbClr val="ECF3FF"/>
          </a:solidFill>
          <a:ln w="12700">
            <a:solidFill>
              <a:srgbClr val="CBDBFF"/>
            </a:solidFill>
            <a:prstDash val="solid"/>
          </a:ln>
        </p:spPr>
        <p:txBody>
          <a:bodyPr/>
          <a:p/>
        </p:txBody>
      </p:sp>
      <p:sp>
        <p:nvSpPr>
          <p:cNvPr id="17" name="Text 15"/>
          <p:cNvSpPr/>
          <p:nvPr/>
        </p:nvSpPr>
        <p:spPr>
          <a:xfrm>
            <a:off x="5276088" y="2496312"/>
            <a:ext cx="330098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Kong Gateway</a:t>
            </a:r>
            <a:endParaRPr lang="en-US" sz="1500" dirty="0"/>
          </a:p>
        </p:txBody>
      </p:sp>
      <p:sp>
        <p:nvSpPr>
          <p:cNvPr id="18" name="Text 16"/>
          <p:cNvSpPr/>
          <p:nvPr/>
        </p:nvSpPr>
        <p:spPr>
          <a:xfrm>
            <a:off x="5303520" y="2916936"/>
            <a:ext cx="324612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Public entry point</a:t>
            </a:r>
            <a:endParaRPr lang="en-US" sz="1150" dirty="0"/>
          </a:p>
        </p:txBody>
      </p:sp>
      <p:sp>
        <p:nvSpPr>
          <p:cNvPr id="19" name="Shape 17"/>
          <p:cNvSpPr/>
          <p:nvPr/>
        </p:nvSpPr>
        <p:spPr>
          <a:xfrm>
            <a:off x="9034272" y="2313432"/>
            <a:ext cx="2432304" cy="640080"/>
          </a:xfrm>
          <a:prstGeom prst="roundRect">
            <a:avLst>
              <a:gd name="adj" fmla="val 18571"/>
            </a:avLst>
          </a:prstGeom>
          <a:solidFill>
            <a:srgbClr val="ECF3FF"/>
          </a:solidFill>
          <a:ln w="12700">
            <a:solidFill>
              <a:srgbClr val="CBDBFF"/>
            </a:solidFill>
            <a:prstDash val="solid"/>
          </a:ln>
        </p:spPr>
        <p:txBody>
          <a:bodyPr/>
          <a:p/>
        </p:txBody>
      </p:sp>
      <p:sp>
        <p:nvSpPr>
          <p:cNvPr id="20" name="Text 18"/>
          <p:cNvSpPr/>
          <p:nvPr/>
        </p:nvSpPr>
        <p:spPr>
          <a:xfrm>
            <a:off x="9134856" y="2478024"/>
            <a:ext cx="2221992" cy="164592"/>
          </a:xfrm>
          <a:prstGeom prst="rect">
            <a:avLst/>
          </a:prstGeom>
          <a:noFill/>
          <a:ln/>
        </p:spPr>
        <p:txBody>
          <a:bodyPr wrap="square" lIns="0" tIns="0" rIns="0" bIns="0" rtlCol="0" anchor="ctr">
            <a:normAutofit/>
          </a:bodyPr>
          <a:lstStyle/>
          <a:p>
            <a:pPr algn="l" indent="0" marL="0">
              <a:buNone/>
            </a:pPr>
            <a:r>
              <a:rPr lang="en-US" sz="1180" b="1" dirty="0">
                <a:solidFill>
                  <a:srgbClr val="122239"/>
                </a:solidFill>
                <a:latin typeface="Aptos" pitchFamily="34" charset="0"/>
                <a:ea typeface="Aptos" pitchFamily="34" charset="-122"/>
                <a:cs typeface="Aptos" pitchFamily="34" charset="-120"/>
              </a:rPr>
              <a:t>/api/orders  →  Order</a:t>
            </a:r>
            <a:endParaRPr lang="en-US" sz="1180" dirty="0"/>
          </a:p>
        </p:txBody>
      </p:sp>
      <p:sp>
        <p:nvSpPr>
          <p:cNvPr id="21" name="Shape 19"/>
          <p:cNvSpPr/>
          <p:nvPr/>
        </p:nvSpPr>
        <p:spPr>
          <a:xfrm>
            <a:off x="9034272" y="3136392"/>
            <a:ext cx="2432304" cy="640080"/>
          </a:xfrm>
          <a:prstGeom prst="roundRect">
            <a:avLst>
              <a:gd name="adj" fmla="val 18571"/>
            </a:avLst>
          </a:prstGeom>
          <a:solidFill>
            <a:srgbClr val="E7F8F3"/>
          </a:solidFill>
          <a:ln w="12700">
            <a:solidFill>
              <a:srgbClr val="B4E6DD"/>
            </a:solidFill>
            <a:prstDash val="solid"/>
          </a:ln>
        </p:spPr>
        <p:txBody>
          <a:bodyPr/>
          <a:p/>
        </p:txBody>
      </p:sp>
      <p:sp>
        <p:nvSpPr>
          <p:cNvPr id="22" name="Text 20"/>
          <p:cNvSpPr/>
          <p:nvPr/>
        </p:nvSpPr>
        <p:spPr>
          <a:xfrm>
            <a:off x="9134856" y="3310128"/>
            <a:ext cx="2221992" cy="164592"/>
          </a:xfrm>
          <a:prstGeom prst="rect">
            <a:avLst/>
          </a:prstGeom>
          <a:noFill/>
          <a:ln/>
        </p:spPr>
        <p:txBody>
          <a:bodyPr wrap="square" lIns="0" tIns="0" rIns="0" bIns="0" rtlCol="0" anchor="ctr">
            <a:normAutofit/>
          </a:bodyPr>
          <a:lstStyle/>
          <a:p>
            <a:pPr algn="l" indent="0" marL="0">
              <a:buNone/>
            </a:pPr>
            <a:r>
              <a:rPr lang="en-US" sz="1080" b="1" dirty="0">
                <a:solidFill>
                  <a:srgbClr val="122239"/>
                </a:solidFill>
                <a:latin typeface="Aptos" pitchFamily="34" charset="0"/>
                <a:ea typeface="Aptos" pitchFamily="34" charset="-122"/>
                <a:cs typeface="Aptos" pitchFamily="34" charset="-120"/>
              </a:rPr>
              <a:t>/api/products → Inventory</a:t>
            </a:r>
            <a:endParaRPr lang="en-US" sz="1080" dirty="0"/>
          </a:p>
        </p:txBody>
      </p:sp>
      <p:sp>
        <p:nvSpPr>
          <p:cNvPr id="23" name="Shape 21"/>
          <p:cNvSpPr/>
          <p:nvPr/>
        </p:nvSpPr>
        <p:spPr>
          <a:xfrm>
            <a:off x="8723376" y="2880360"/>
            <a:ext cx="237744" cy="-265176"/>
          </a:xfrm>
          <a:prstGeom prst="line">
            <a:avLst/>
          </a:prstGeom>
          <a:noFill/>
          <a:ln w="21590">
            <a:solidFill>
              <a:srgbClr val="2866F6"/>
            </a:solidFill>
            <a:prstDash val="solid"/>
            <a:headEnd type="none"/>
            <a:tailEnd type="triangle"/>
          </a:ln>
        </p:spPr>
        <p:txBody>
          <a:bodyPr/>
          <a:p/>
        </p:txBody>
      </p:sp>
      <p:sp>
        <p:nvSpPr>
          <p:cNvPr id="24" name="Shape 22"/>
          <p:cNvSpPr/>
          <p:nvPr/>
        </p:nvSpPr>
        <p:spPr>
          <a:xfrm>
            <a:off x="8723376" y="2926080"/>
            <a:ext cx="237744" cy="512064"/>
          </a:xfrm>
          <a:prstGeom prst="line">
            <a:avLst/>
          </a:prstGeom>
          <a:noFill/>
          <a:ln w="21590">
            <a:solidFill>
              <a:srgbClr val="008F83"/>
            </a:solidFill>
            <a:prstDash val="solid"/>
            <a:headEnd type="none"/>
            <a:tailEnd type="triangle"/>
          </a:ln>
        </p:spPr>
        <p:txBody>
          <a:bodyPr/>
          <a:p/>
        </p:txBody>
      </p:sp>
      <p:sp>
        <p:nvSpPr>
          <p:cNvPr id="25" name="Shape 23"/>
          <p:cNvSpPr/>
          <p:nvPr/>
        </p:nvSpPr>
        <p:spPr>
          <a:xfrm>
            <a:off x="621792" y="4882896"/>
            <a:ext cx="3550920" cy="1325880"/>
          </a:xfrm>
          <a:prstGeom prst="roundRect">
            <a:avLst>
              <a:gd name="adj" fmla="val 9655"/>
            </a:avLst>
          </a:prstGeom>
          <a:solidFill>
            <a:srgbClr val="F7F9FC"/>
          </a:solidFill>
          <a:ln w="12700">
            <a:solidFill>
              <a:srgbClr val="DFE7F1"/>
            </a:solidFill>
            <a:prstDash val="solid"/>
          </a:ln>
        </p:spPr>
        <p:txBody>
          <a:bodyPr/>
          <a:p/>
        </p:txBody>
      </p:sp>
      <p:sp>
        <p:nvSpPr>
          <p:cNvPr id="26" name="Shape 24"/>
          <p:cNvSpPr/>
          <p:nvPr/>
        </p:nvSpPr>
        <p:spPr>
          <a:xfrm>
            <a:off x="621792" y="4882896"/>
            <a:ext cx="50292" cy="1325880"/>
          </a:xfrm>
          <a:prstGeom prst="rect">
            <a:avLst/>
          </a:prstGeom>
          <a:solidFill>
            <a:srgbClr val="2866F6"/>
          </a:solidFill>
          <a:ln w="12700">
            <a:solidFill>
              <a:srgbClr val="2866F6"/>
            </a:solidFill>
            <a:prstDash val="solid"/>
          </a:ln>
        </p:spPr>
        <p:txBody>
          <a:bodyPr/>
          <a:p/>
        </p:txBody>
      </p:sp>
      <p:sp>
        <p:nvSpPr>
          <p:cNvPr id="27" name="Text 25"/>
          <p:cNvSpPr/>
          <p:nvPr/>
        </p:nvSpPr>
        <p:spPr>
          <a:xfrm>
            <a:off x="795528" y="5001768"/>
            <a:ext cx="3221736"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Routing</a:t>
            </a:r>
            <a:endParaRPr lang="en-US" sz="1340" dirty="0"/>
          </a:p>
        </p:txBody>
      </p:sp>
      <p:sp>
        <p:nvSpPr>
          <p:cNvPr id="28" name="Text 26"/>
          <p:cNvSpPr/>
          <p:nvPr/>
        </p:nvSpPr>
        <p:spPr>
          <a:xfrm>
            <a:off x="795528" y="5385816"/>
            <a:ext cx="3212592"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The client uses a stable public API rather than service-specific internal ports.</a:t>
            </a:r>
            <a:endParaRPr lang="en-US" sz="1230" dirty="0"/>
          </a:p>
        </p:txBody>
      </p:sp>
      <p:sp>
        <p:nvSpPr>
          <p:cNvPr id="29" name="Shape 27"/>
          <p:cNvSpPr/>
          <p:nvPr/>
        </p:nvSpPr>
        <p:spPr>
          <a:xfrm>
            <a:off x="4319016" y="4882896"/>
            <a:ext cx="3550920" cy="1325880"/>
          </a:xfrm>
          <a:prstGeom prst="roundRect">
            <a:avLst>
              <a:gd name="adj" fmla="val 9655"/>
            </a:avLst>
          </a:prstGeom>
          <a:solidFill>
            <a:srgbClr val="F7F9FC"/>
          </a:solidFill>
          <a:ln w="12700">
            <a:solidFill>
              <a:srgbClr val="DFE7F1"/>
            </a:solidFill>
            <a:prstDash val="solid"/>
          </a:ln>
        </p:spPr>
        <p:txBody>
          <a:bodyPr/>
          <a:p/>
        </p:txBody>
      </p:sp>
      <p:sp>
        <p:nvSpPr>
          <p:cNvPr id="30" name="Shape 28"/>
          <p:cNvSpPr/>
          <p:nvPr/>
        </p:nvSpPr>
        <p:spPr>
          <a:xfrm>
            <a:off x="4319016" y="4882896"/>
            <a:ext cx="50292" cy="1325880"/>
          </a:xfrm>
          <a:prstGeom prst="rect">
            <a:avLst/>
          </a:prstGeom>
          <a:solidFill>
            <a:srgbClr val="2866F6"/>
          </a:solidFill>
          <a:ln w="12700">
            <a:solidFill>
              <a:srgbClr val="2866F6"/>
            </a:solidFill>
            <a:prstDash val="solid"/>
          </a:ln>
        </p:spPr>
        <p:txBody>
          <a:bodyPr/>
          <a:p/>
        </p:txBody>
      </p:sp>
      <p:sp>
        <p:nvSpPr>
          <p:cNvPr id="31" name="Text 29"/>
          <p:cNvSpPr/>
          <p:nvPr/>
        </p:nvSpPr>
        <p:spPr>
          <a:xfrm>
            <a:off x="4492752" y="5001768"/>
            <a:ext cx="3221736"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Load balancing</a:t>
            </a:r>
            <a:endParaRPr lang="en-US" sz="1340" dirty="0"/>
          </a:p>
        </p:txBody>
      </p:sp>
      <p:sp>
        <p:nvSpPr>
          <p:cNvPr id="32" name="Text 30"/>
          <p:cNvSpPr/>
          <p:nvPr/>
        </p:nvSpPr>
        <p:spPr>
          <a:xfrm>
            <a:off x="4492752" y="5385816"/>
            <a:ext cx="3212592"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An upstream can distribute HTTP requests across available instances.</a:t>
            </a:r>
            <a:endParaRPr lang="en-US" sz="1230" dirty="0"/>
          </a:p>
        </p:txBody>
      </p:sp>
      <p:sp>
        <p:nvSpPr>
          <p:cNvPr id="33" name="Shape 31"/>
          <p:cNvSpPr/>
          <p:nvPr/>
        </p:nvSpPr>
        <p:spPr>
          <a:xfrm>
            <a:off x="8016240" y="4882896"/>
            <a:ext cx="3550920" cy="1325880"/>
          </a:xfrm>
          <a:prstGeom prst="roundRect">
            <a:avLst>
              <a:gd name="adj" fmla="val 9655"/>
            </a:avLst>
          </a:prstGeom>
          <a:solidFill>
            <a:srgbClr val="F7F9FC"/>
          </a:solidFill>
          <a:ln w="12700">
            <a:solidFill>
              <a:srgbClr val="DFE7F1"/>
            </a:solidFill>
            <a:prstDash val="solid"/>
          </a:ln>
        </p:spPr>
        <p:txBody>
          <a:bodyPr/>
          <a:p/>
        </p:txBody>
      </p:sp>
      <p:sp>
        <p:nvSpPr>
          <p:cNvPr id="34" name="Shape 32"/>
          <p:cNvSpPr/>
          <p:nvPr/>
        </p:nvSpPr>
        <p:spPr>
          <a:xfrm>
            <a:off x="8016240" y="4882896"/>
            <a:ext cx="50292" cy="1325880"/>
          </a:xfrm>
          <a:prstGeom prst="rect">
            <a:avLst/>
          </a:prstGeom>
          <a:solidFill>
            <a:srgbClr val="2866F6"/>
          </a:solidFill>
          <a:ln w="12700">
            <a:solidFill>
              <a:srgbClr val="2866F6"/>
            </a:solidFill>
            <a:prstDash val="solid"/>
          </a:ln>
        </p:spPr>
        <p:txBody>
          <a:bodyPr/>
          <a:p/>
        </p:txBody>
      </p:sp>
      <p:sp>
        <p:nvSpPr>
          <p:cNvPr id="35" name="Text 33"/>
          <p:cNvSpPr/>
          <p:nvPr/>
        </p:nvSpPr>
        <p:spPr>
          <a:xfrm>
            <a:off x="8189976" y="5001768"/>
            <a:ext cx="3221736"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Rate limiting</a:t>
            </a:r>
            <a:endParaRPr lang="en-US" sz="1340" dirty="0"/>
          </a:p>
        </p:txBody>
      </p:sp>
      <p:sp>
        <p:nvSpPr>
          <p:cNvPr id="36" name="Text 34"/>
          <p:cNvSpPr/>
          <p:nvPr/>
        </p:nvSpPr>
        <p:spPr>
          <a:xfrm>
            <a:off x="8189976" y="5385816"/>
            <a:ext cx="3212592"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Configured policies can reject excess requests (often HTTP 429).</a:t>
            </a:r>
            <a:endParaRPr lang="en-US" sz="1230" dirty="0"/>
          </a:p>
        </p:txBody>
      </p:sp>
      <p:sp>
        <p:nvSpPr>
          <p:cNvPr id="37" name="Text 35"/>
          <p:cNvSpPr/>
          <p:nvPr/>
        </p:nvSpPr>
        <p:spPr>
          <a:xfrm>
            <a:off x="667512" y="6163056"/>
            <a:ext cx="10744200" cy="274320"/>
          </a:xfrm>
          <a:prstGeom prst="rect">
            <a:avLst/>
          </a:prstGeom>
          <a:noFill/>
          <a:ln/>
        </p:spPr>
        <p:txBody>
          <a:bodyPr wrap="square" lIns="0" tIns="0" rIns="0" bIns="0" rtlCol="0" anchor="ctr">
            <a:normAutofit/>
          </a:bodyPr>
          <a:lstStyle/>
          <a:p>
            <a:pPr algn="ctr" indent="0" marL="0">
              <a:buNone/>
            </a:pPr>
            <a:r>
              <a:rPr lang="en-US" sz="1310" b="1" dirty="0">
                <a:solidFill>
                  <a:srgbClr val="2866F6"/>
                </a:solidFill>
                <a:latin typeface="Aptos" pitchFamily="34" charset="0"/>
                <a:ea typeface="Aptos" pitchFamily="34" charset="-122"/>
                <a:cs typeface="Aptos" pitchFamily="34" charset="-120"/>
              </a:rPr>
              <a:t>Gateway routing and Kafka/RabbitMQ messaging solve different communication problems.</a:t>
            </a:r>
            <a:endParaRPr lang="en-US" sz="13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A</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Changing inventory data breaks the order service</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Two services use the same database field. Inventory renames it, and Orders starts failing.</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BEFORE</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Orders reads</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products.stock</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CHANGE</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Inventory renames</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stock → available_qty</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FAILURE</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Orders still reads stock</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That field no longer exists</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Order Service depends directly on Inventory’s private database structure.</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 normal Inventory update can break checkout without changing Order Service.</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DATA &amp; CONSISTENCY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12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Database per service protects data ownership</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Each service controls its own schema and exposes operations through an API.</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12</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A</a:t>
            </a:r>
            <a:endParaRPr lang="en-US" sz="1000" dirty="0"/>
          </a:p>
        </p:txBody>
      </p:sp>
      <p:sp>
        <p:nvSpPr>
          <p:cNvPr id="14" name="Shape 12"/>
          <p:cNvSpPr/>
          <p:nvPr/>
        </p:nvSpPr>
        <p:spPr>
          <a:xfrm>
            <a:off x="594360" y="2359152"/>
            <a:ext cx="3593592" cy="2139696"/>
          </a:xfrm>
          <a:prstGeom prst="roundRect">
            <a:avLst>
              <a:gd name="adj" fmla="val 5556"/>
            </a:avLst>
          </a:prstGeom>
          <a:solidFill>
            <a:srgbClr val="F7F9FC"/>
          </a:solidFill>
          <a:ln w="12700">
            <a:solidFill>
              <a:srgbClr val="DFE7F1"/>
            </a:solidFill>
            <a:prstDash val="solid"/>
          </a:ln>
        </p:spPr>
        <p:txBody>
          <a:bodyPr/>
          <a:p/>
        </p:txBody>
      </p:sp>
      <p:sp>
        <p:nvSpPr>
          <p:cNvPr id="15" name="Shape 13"/>
          <p:cNvSpPr/>
          <p:nvPr/>
        </p:nvSpPr>
        <p:spPr>
          <a:xfrm>
            <a:off x="1042416" y="2587752"/>
            <a:ext cx="2697480" cy="603504"/>
          </a:xfrm>
          <a:prstGeom prst="roundRect">
            <a:avLst>
              <a:gd name="adj" fmla="val 19697"/>
            </a:avLst>
          </a:prstGeom>
          <a:solidFill>
            <a:srgbClr val="ECF3FF"/>
          </a:solidFill>
          <a:ln w="12700">
            <a:solidFill>
              <a:srgbClr val="CBDBFF"/>
            </a:solidFill>
            <a:prstDash val="solid"/>
          </a:ln>
        </p:spPr>
        <p:txBody>
          <a:bodyPr/>
          <a:p/>
        </p:txBody>
      </p:sp>
      <p:sp>
        <p:nvSpPr>
          <p:cNvPr id="16" name="Text 14"/>
          <p:cNvSpPr/>
          <p:nvPr/>
        </p:nvSpPr>
        <p:spPr>
          <a:xfrm>
            <a:off x="1143000" y="2752344"/>
            <a:ext cx="2505456" cy="210312"/>
          </a:xfrm>
          <a:prstGeom prst="rect">
            <a:avLst/>
          </a:prstGeom>
          <a:noFill/>
          <a:ln/>
        </p:spPr>
        <p:txBody>
          <a:bodyPr wrap="square" lIns="0" tIns="0" rIns="0" bIns="0" rtlCol="0" anchor="ctr">
            <a:normAutofit/>
          </a:bodyPr>
          <a:lstStyle/>
          <a:p>
            <a:pPr algn="ctr" indent="0" marL="0">
              <a:buNone/>
            </a:pPr>
            <a:r>
              <a:rPr lang="en-US" sz="1600" b="1" dirty="0">
                <a:solidFill>
                  <a:srgbClr val="122239"/>
                </a:solidFill>
                <a:latin typeface="Aptos" pitchFamily="34" charset="0"/>
                <a:ea typeface="Aptos" pitchFamily="34" charset="-122"/>
                <a:cs typeface="Aptos" pitchFamily="34" charset="-120"/>
              </a:rPr>
              <a:t>Order Service</a:t>
            </a:r>
            <a:endParaRPr lang="en-US" sz="1600" dirty="0"/>
          </a:p>
        </p:txBody>
      </p:sp>
      <p:sp>
        <p:nvSpPr>
          <p:cNvPr id="17" name="Shape 15"/>
          <p:cNvSpPr/>
          <p:nvPr/>
        </p:nvSpPr>
        <p:spPr>
          <a:xfrm>
            <a:off x="2368296" y="3200400"/>
            <a:ext cx="0" cy="329184"/>
          </a:xfrm>
          <a:prstGeom prst="line">
            <a:avLst/>
          </a:prstGeom>
          <a:noFill/>
          <a:ln w="21590">
            <a:solidFill>
              <a:srgbClr val="2866F6"/>
            </a:solidFill>
            <a:prstDash val="solid"/>
            <a:headEnd type="none"/>
            <a:tailEnd type="triangle"/>
          </a:ln>
        </p:spPr>
        <p:txBody>
          <a:bodyPr/>
          <a:p/>
        </p:txBody>
      </p:sp>
      <p:sp>
        <p:nvSpPr>
          <p:cNvPr id="18" name="Shape 16"/>
          <p:cNvSpPr/>
          <p:nvPr/>
        </p:nvSpPr>
        <p:spPr>
          <a:xfrm>
            <a:off x="1389888" y="3593592"/>
            <a:ext cx="1956816" cy="530352"/>
          </a:xfrm>
          <a:prstGeom prst="roundRect">
            <a:avLst>
              <a:gd name="adj" fmla="val 22414"/>
            </a:avLst>
          </a:prstGeom>
          <a:solidFill>
            <a:srgbClr val="FFFFFF"/>
          </a:solidFill>
          <a:ln w="12700">
            <a:solidFill>
              <a:srgbClr val="DFE7F1"/>
            </a:solidFill>
            <a:prstDash val="solid"/>
          </a:ln>
        </p:spPr>
        <p:txBody>
          <a:bodyPr/>
          <a:p/>
        </p:txBody>
      </p:sp>
      <p:sp>
        <p:nvSpPr>
          <p:cNvPr id="19" name="Text 17"/>
          <p:cNvSpPr/>
          <p:nvPr/>
        </p:nvSpPr>
        <p:spPr>
          <a:xfrm>
            <a:off x="1444752" y="3721608"/>
            <a:ext cx="1837944" cy="182880"/>
          </a:xfrm>
          <a:prstGeom prst="rect">
            <a:avLst/>
          </a:prstGeom>
          <a:noFill/>
          <a:ln/>
        </p:spPr>
        <p:txBody>
          <a:bodyPr wrap="square" lIns="0" tIns="0" rIns="0" bIns="0" rtlCol="0" anchor="ctr">
            <a:normAutofit/>
          </a:bodyPr>
          <a:lstStyle/>
          <a:p>
            <a:pPr algn="ctr" indent="0" marL="0">
              <a:buNone/>
            </a:pPr>
            <a:r>
              <a:rPr lang="en-US" sz="1400" b="1" dirty="0">
                <a:solidFill>
                  <a:srgbClr val="122239"/>
                </a:solidFill>
                <a:latin typeface="Aptos" pitchFamily="34" charset="0"/>
                <a:ea typeface="Aptos" pitchFamily="34" charset="-122"/>
                <a:cs typeface="Aptos" pitchFamily="34" charset="-120"/>
              </a:rPr>
              <a:t>order_db</a:t>
            </a:r>
            <a:endParaRPr lang="en-US" sz="1400" dirty="0"/>
          </a:p>
        </p:txBody>
      </p:sp>
      <p:sp>
        <p:nvSpPr>
          <p:cNvPr id="20" name="Shape 18"/>
          <p:cNvSpPr/>
          <p:nvPr/>
        </p:nvSpPr>
        <p:spPr>
          <a:xfrm>
            <a:off x="4398264" y="2359152"/>
            <a:ext cx="3593592" cy="2139696"/>
          </a:xfrm>
          <a:prstGeom prst="roundRect">
            <a:avLst>
              <a:gd name="adj" fmla="val 5556"/>
            </a:avLst>
          </a:prstGeom>
          <a:solidFill>
            <a:srgbClr val="F7F9FC"/>
          </a:solidFill>
          <a:ln w="12700">
            <a:solidFill>
              <a:srgbClr val="DFE7F1"/>
            </a:solidFill>
            <a:prstDash val="solid"/>
          </a:ln>
        </p:spPr>
        <p:txBody>
          <a:bodyPr/>
          <a:p/>
        </p:txBody>
      </p:sp>
      <p:sp>
        <p:nvSpPr>
          <p:cNvPr id="21" name="Shape 19"/>
          <p:cNvSpPr/>
          <p:nvPr/>
        </p:nvSpPr>
        <p:spPr>
          <a:xfrm>
            <a:off x="4846320" y="2587752"/>
            <a:ext cx="2697480" cy="603504"/>
          </a:xfrm>
          <a:prstGeom prst="roundRect">
            <a:avLst>
              <a:gd name="adj" fmla="val 19697"/>
            </a:avLst>
          </a:prstGeom>
          <a:solidFill>
            <a:srgbClr val="ECF3FF"/>
          </a:solidFill>
          <a:ln w="12700">
            <a:solidFill>
              <a:srgbClr val="CBDBFF"/>
            </a:solidFill>
            <a:prstDash val="solid"/>
          </a:ln>
        </p:spPr>
        <p:txBody>
          <a:bodyPr/>
          <a:p/>
        </p:txBody>
      </p:sp>
      <p:sp>
        <p:nvSpPr>
          <p:cNvPr id="22" name="Text 20"/>
          <p:cNvSpPr/>
          <p:nvPr/>
        </p:nvSpPr>
        <p:spPr>
          <a:xfrm>
            <a:off x="4946904" y="2752344"/>
            <a:ext cx="2505456" cy="210312"/>
          </a:xfrm>
          <a:prstGeom prst="rect">
            <a:avLst/>
          </a:prstGeom>
          <a:noFill/>
          <a:ln/>
        </p:spPr>
        <p:txBody>
          <a:bodyPr wrap="square" lIns="0" tIns="0" rIns="0" bIns="0" rtlCol="0" anchor="ctr">
            <a:normAutofit/>
          </a:bodyPr>
          <a:lstStyle/>
          <a:p>
            <a:pPr algn="ctr" indent="0" marL="0">
              <a:buNone/>
            </a:pPr>
            <a:r>
              <a:rPr lang="en-US" sz="1600" b="1" dirty="0">
                <a:solidFill>
                  <a:srgbClr val="122239"/>
                </a:solidFill>
                <a:latin typeface="Aptos" pitchFamily="34" charset="0"/>
                <a:ea typeface="Aptos" pitchFamily="34" charset="-122"/>
                <a:cs typeface="Aptos" pitchFamily="34" charset="-120"/>
              </a:rPr>
              <a:t>Inventory Service</a:t>
            </a:r>
            <a:endParaRPr lang="en-US" sz="1600" dirty="0"/>
          </a:p>
        </p:txBody>
      </p:sp>
      <p:sp>
        <p:nvSpPr>
          <p:cNvPr id="23" name="Shape 21"/>
          <p:cNvSpPr/>
          <p:nvPr/>
        </p:nvSpPr>
        <p:spPr>
          <a:xfrm>
            <a:off x="6172200" y="3200400"/>
            <a:ext cx="0" cy="329184"/>
          </a:xfrm>
          <a:prstGeom prst="line">
            <a:avLst/>
          </a:prstGeom>
          <a:noFill/>
          <a:ln w="21590">
            <a:solidFill>
              <a:srgbClr val="2866F6"/>
            </a:solidFill>
            <a:prstDash val="solid"/>
            <a:headEnd type="none"/>
            <a:tailEnd type="triangle"/>
          </a:ln>
        </p:spPr>
        <p:txBody>
          <a:bodyPr/>
          <a:p/>
        </p:txBody>
      </p:sp>
      <p:sp>
        <p:nvSpPr>
          <p:cNvPr id="24" name="Shape 22"/>
          <p:cNvSpPr/>
          <p:nvPr/>
        </p:nvSpPr>
        <p:spPr>
          <a:xfrm>
            <a:off x="5193792" y="3593592"/>
            <a:ext cx="1956816" cy="530352"/>
          </a:xfrm>
          <a:prstGeom prst="roundRect">
            <a:avLst>
              <a:gd name="adj" fmla="val 22414"/>
            </a:avLst>
          </a:prstGeom>
          <a:solidFill>
            <a:srgbClr val="FFFFFF"/>
          </a:solidFill>
          <a:ln w="12700">
            <a:solidFill>
              <a:srgbClr val="DFE7F1"/>
            </a:solidFill>
            <a:prstDash val="solid"/>
          </a:ln>
        </p:spPr>
        <p:txBody>
          <a:bodyPr/>
          <a:p/>
        </p:txBody>
      </p:sp>
      <p:sp>
        <p:nvSpPr>
          <p:cNvPr id="25" name="Text 23"/>
          <p:cNvSpPr/>
          <p:nvPr/>
        </p:nvSpPr>
        <p:spPr>
          <a:xfrm>
            <a:off x="5248656" y="3721608"/>
            <a:ext cx="1837944" cy="182880"/>
          </a:xfrm>
          <a:prstGeom prst="rect">
            <a:avLst/>
          </a:prstGeom>
          <a:noFill/>
          <a:ln/>
        </p:spPr>
        <p:txBody>
          <a:bodyPr wrap="square" lIns="0" tIns="0" rIns="0" bIns="0" rtlCol="0" anchor="ctr">
            <a:normAutofit/>
          </a:bodyPr>
          <a:lstStyle/>
          <a:p>
            <a:pPr algn="ctr" indent="0" marL="0">
              <a:buNone/>
            </a:pPr>
            <a:r>
              <a:rPr lang="en-US" sz="1400" b="1" dirty="0">
                <a:solidFill>
                  <a:srgbClr val="122239"/>
                </a:solidFill>
                <a:latin typeface="Aptos" pitchFamily="34" charset="0"/>
                <a:ea typeface="Aptos" pitchFamily="34" charset="-122"/>
                <a:cs typeface="Aptos" pitchFamily="34" charset="-120"/>
              </a:rPr>
              <a:t>inventory_db</a:t>
            </a:r>
            <a:endParaRPr lang="en-US" sz="1400" dirty="0"/>
          </a:p>
        </p:txBody>
      </p:sp>
      <p:sp>
        <p:nvSpPr>
          <p:cNvPr id="26" name="Shape 24"/>
          <p:cNvSpPr/>
          <p:nvPr/>
        </p:nvSpPr>
        <p:spPr>
          <a:xfrm>
            <a:off x="8202168" y="2359152"/>
            <a:ext cx="3593592" cy="2139696"/>
          </a:xfrm>
          <a:prstGeom prst="roundRect">
            <a:avLst>
              <a:gd name="adj" fmla="val 5556"/>
            </a:avLst>
          </a:prstGeom>
          <a:solidFill>
            <a:srgbClr val="F7F9FC"/>
          </a:solidFill>
          <a:ln w="12700">
            <a:solidFill>
              <a:srgbClr val="DFE7F1"/>
            </a:solidFill>
            <a:prstDash val="solid"/>
          </a:ln>
        </p:spPr>
        <p:txBody>
          <a:bodyPr/>
          <a:p/>
        </p:txBody>
      </p:sp>
      <p:sp>
        <p:nvSpPr>
          <p:cNvPr id="27" name="Shape 25"/>
          <p:cNvSpPr/>
          <p:nvPr/>
        </p:nvSpPr>
        <p:spPr>
          <a:xfrm>
            <a:off x="8650224" y="2587752"/>
            <a:ext cx="2697480" cy="603504"/>
          </a:xfrm>
          <a:prstGeom prst="roundRect">
            <a:avLst>
              <a:gd name="adj" fmla="val 19697"/>
            </a:avLst>
          </a:prstGeom>
          <a:solidFill>
            <a:srgbClr val="ECF3FF"/>
          </a:solidFill>
          <a:ln w="12700">
            <a:solidFill>
              <a:srgbClr val="CBDBFF"/>
            </a:solidFill>
            <a:prstDash val="solid"/>
          </a:ln>
        </p:spPr>
        <p:txBody>
          <a:bodyPr/>
          <a:p/>
        </p:txBody>
      </p:sp>
      <p:sp>
        <p:nvSpPr>
          <p:cNvPr id="28" name="Text 26"/>
          <p:cNvSpPr/>
          <p:nvPr/>
        </p:nvSpPr>
        <p:spPr>
          <a:xfrm>
            <a:off x="8750808" y="2752344"/>
            <a:ext cx="2505456" cy="210312"/>
          </a:xfrm>
          <a:prstGeom prst="rect">
            <a:avLst/>
          </a:prstGeom>
          <a:noFill/>
          <a:ln/>
        </p:spPr>
        <p:txBody>
          <a:bodyPr wrap="square" lIns="0" tIns="0" rIns="0" bIns="0" rtlCol="0" anchor="ctr">
            <a:normAutofit/>
          </a:bodyPr>
          <a:lstStyle/>
          <a:p>
            <a:pPr algn="ctr" indent="0" marL="0">
              <a:buNone/>
            </a:pPr>
            <a:r>
              <a:rPr lang="en-US" sz="1600" b="1" dirty="0">
                <a:solidFill>
                  <a:srgbClr val="122239"/>
                </a:solidFill>
                <a:latin typeface="Aptos" pitchFamily="34" charset="0"/>
                <a:ea typeface="Aptos" pitchFamily="34" charset="-122"/>
                <a:cs typeface="Aptos" pitchFamily="34" charset="-120"/>
              </a:rPr>
              <a:t>Payment Service</a:t>
            </a:r>
            <a:endParaRPr lang="en-US" sz="1600" dirty="0"/>
          </a:p>
        </p:txBody>
      </p:sp>
      <p:sp>
        <p:nvSpPr>
          <p:cNvPr id="29" name="Shape 27"/>
          <p:cNvSpPr/>
          <p:nvPr/>
        </p:nvSpPr>
        <p:spPr>
          <a:xfrm>
            <a:off x="9976104" y="3200400"/>
            <a:ext cx="0" cy="329184"/>
          </a:xfrm>
          <a:prstGeom prst="line">
            <a:avLst/>
          </a:prstGeom>
          <a:noFill/>
          <a:ln w="21590">
            <a:solidFill>
              <a:srgbClr val="2866F6"/>
            </a:solidFill>
            <a:prstDash val="solid"/>
            <a:headEnd type="none"/>
            <a:tailEnd type="triangle"/>
          </a:ln>
        </p:spPr>
        <p:txBody>
          <a:bodyPr/>
          <a:p/>
        </p:txBody>
      </p:sp>
      <p:sp>
        <p:nvSpPr>
          <p:cNvPr id="30" name="Shape 28"/>
          <p:cNvSpPr/>
          <p:nvPr/>
        </p:nvSpPr>
        <p:spPr>
          <a:xfrm>
            <a:off x="8997696" y="3593592"/>
            <a:ext cx="1956816" cy="530352"/>
          </a:xfrm>
          <a:prstGeom prst="roundRect">
            <a:avLst>
              <a:gd name="adj" fmla="val 22414"/>
            </a:avLst>
          </a:prstGeom>
          <a:solidFill>
            <a:srgbClr val="FFFFFF"/>
          </a:solidFill>
          <a:ln w="12700">
            <a:solidFill>
              <a:srgbClr val="DFE7F1"/>
            </a:solidFill>
            <a:prstDash val="solid"/>
          </a:ln>
        </p:spPr>
        <p:txBody>
          <a:bodyPr/>
          <a:p/>
        </p:txBody>
      </p:sp>
      <p:sp>
        <p:nvSpPr>
          <p:cNvPr id="31" name="Text 29"/>
          <p:cNvSpPr/>
          <p:nvPr/>
        </p:nvSpPr>
        <p:spPr>
          <a:xfrm>
            <a:off x="9052560" y="3721608"/>
            <a:ext cx="1837944" cy="182880"/>
          </a:xfrm>
          <a:prstGeom prst="rect">
            <a:avLst/>
          </a:prstGeom>
          <a:noFill/>
          <a:ln/>
        </p:spPr>
        <p:txBody>
          <a:bodyPr wrap="square" lIns="0" tIns="0" rIns="0" bIns="0" rtlCol="0" anchor="ctr">
            <a:normAutofit/>
          </a:bodyPr>
          <a:lstStyle/>
          <a:p>
            <a:pPr algn="ctr" indent="0" marL="0">
              <a:buNone/>
            </a:pPr>
            <a:r>
              <a:rPr lang="en-US" sz="1400" b="1" dirty="0">
                <a:solidFill>
                  <a:srgbClr val="122239"/>
                </a:solidFill>
                <a:latin typeface="Aptos" pitchFamily="34" charset="0"/>
                <a:ea typeface="Aptos" pitchFamily="34" charset="-122"/>
                <a:cs typeface="Aptos" pitchFamily="34" charset="-120"/>
              </a:rPr>
              <a:t>payment_db</a:t>
            </a:r>
            <a:endParaRPr lang="en-US" sz="1400" dirty="0"/>
          </a:p>
        </p:txBody>
      </p:sp>
      <p:sp>
        <p:nvSpPr>
          <p:cNvPr id="32" name="Shape 30"/>
          <p:cNvSpPr/>
          <p:nvPr/>
        </p:nvSpPr>
        <p:spPr>
          <a:xfrm>
            <a:off x="594360" y="4727448"/>
            <a:ext cx="3560064" cy="1353312"/>
          </a:xfrm>
          <a:prstGeom prst="roundRect">
            <a:avLst>
              <a:gd name="adj" fmla="val 9459"/>
            </a:avLst>
          </a:prstGeom>
          <a:solidFill>
            <a:srgbClr val="F7F9FC"/>
          </a:solidFill>
          <a:ln w="12700">
            <a:solidFill>
              <a:srgbClr val="DFE7F1"/>
            </a:solidFill>
            <a:prstDash val="solid"/>
          </a:ln>
        </p:spPr>
        <p:txBody>
          <a:bodyPr/>
          <a:p/>
        </p:txBody>
      </p:sp>
      <p:sp>
        <p:nvSpPr>
          <p:cNvPr id="33" name="Shape 31"/>
          <p:cNvSpPr/>
          <p:nvPr/>
        </p:nvSpPr>
        <p:spPr>
          <a:xfrm>
            <a:off x="594360" y="4727448"/>
            <a:ext cx="50292" cy="1353312"/>
          </a:xfrm>
          <a:prstGeom prst="rect">
            <a:avLst/>
          </a:prstGeom>
          <a:solidFill>
            <a:srgbClr val="2866F6"/>
          </a:solidFill>
          <a:ln w="12700">
            <a:solidFill>
              <a:srgbClr val="2866F6"/>
            </a:solidFill>
            <a:prstDash val="solid"/>
          </a:ln>
        </p:spPr>
        <p:txBody>
          <a:bodyPr/>
          <a:p/>
        </p:txBody>
      </p:sp>
      <p:sp>
        <p:nvSpPr>
          <p:cNvPr id="34" name="Text 32"/>
          <p:cNvSpPr/>
          <p:nvPr/>
        </p:nvSpPr>
        <p:spPr>
          <a:xfrm>
            <a:off x="768096" y="484632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Logical ownership</a:t>
            </a:r>
            <a:endParaRPr lang="en-US" sz="1340" dirty="0"/>
          </a:p>
        </p:txBody>
      </p:sp>
      <p:sp>
        <p:nvSpPr>
          <p:cNvPr id="35" name="Text 33"/>
          <p:cNvSpPr/>
          <p:nvPr/>
        </p:nvSpPr>
        <p:spPr>
          <a:xfrm>
            <a:off x="768096" y="5230368"/>
            <a:ext cx="3221736" cy="76809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Separate database names can share one physical MongoDB server in the demo.</a:t>
            </a:r>
            <a:endParaRPr lang="en-US" sz="1230" dirty="0"/>
          </a:p>
        </p:txBody>
      </p:sp>
      <p:sp>
        <p:nvSpPr>
          <p:cNvPr id="36" name="Shape 34"/>
          <p:cNvSpPr/>
          <p:nvPr/>
        </p:nvSpPr>
        <p:spPr>
          <a:xfrm>
            <a:off x="4300728" y="4727448"/>
            <a:ext cx="3560064" cy="1353312"/>
          </a:xfrm>
          <a:prstGeom prst="roundRect">
            <a:avLst>
              <a:gd name="adj" fmla="val 9459"/>
            </a:avLst>
          </a:prstGeom>
          <a:solidFill>
            <a:srgbClr val="F7F9FC"/>
          </a:solidFill>
          <a:ln w="12700">
            <a:solidFill>
              <a:srgbClr val="DFE7F1"/>
            </a:solidFill>
            <a:prstDash val="solid"/>
          </a:ln>
        </p:spPr>
        <p:txBody>
          <a:bodyPr/>
          <a:p/>
        </p:txBody>
      </p:sp>
      <p:sp>
        <p:nvSpPr>
          <p:cNvPr id="37" name="Shape 35"/>
          <p:cNvSpPr/>
          <p:nvPr/>
        </p:nvSpPr>
        <p:spPr>
          <a:xfrm>
            <a:off x="4300728" y="4727448"/>
            <a:ext cx="50292" cy="1353312"/>
          </a:xfrm>
          <a:prstGeom prst="rect">
            <a:avLst/>
          </a:prstGeom>
          <a:solidFill>
            <a:srgbClr val="2866F6"/>
          </a:solidFill>
          <a:ln w="12700">
            <a:solidFill>
              <a:srgbClr val="2866F6"/>
            </a:solidFill>
            <a:prstDash val="solid"/>
          </a:ln>
        </p:spPr>
        <p:txBody>
          <a:bodyPr/>
          <a:p/>
        </p:txBody>
      </p:sp>
      <p:sp>
        <p:nvSpPr>
          <p:cNvPr id="38" name="Text 36"/>
          <p:cNvSpPr/>
          <p:nvPr/>
        </p:nvSpPr>
        <p:spPr>
          <a:xfrm>
            <a:off x="4474464" y="484632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Boundary rule</a:t>
            </a:r>
            <a:endParaRPr lang="en-US" sz="1340" dirty="0"/>
          </a:p>
        </p:txBody>
      </p:sp>
      <p:sp>
        <p:nvSpPr>
          <p:cNvPr id="39" name="Text 37"/>
          <p:cNvSpPr/>
          <p:nvPr/>
        </p:nvSpPr>
        <p:spPr>
          <a:xfrm>
            <a:off x="4474464" y="5230368"/>
            <a:ext cx="3221736" cy="76809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Other services use the owner’s API instead of directly writing its tables.</a:t>
            </a:r>
            <a:endParaRPr lang="en-US" sz="1230" dirty="0"/>
          </a:p>
        </p:txBody>
      </p:sp>
      <p:sp>
        <p:nvSpPr>
          <p:cNvPr id="40" name="Shape 38"/>
          <p:cNvSpPr/>
          <p:nvPr/>
        </p:nvSpPr>
        <p:spPr>
          <a:xfrm>
            <a:off x="8007096" y="4727448"/>
            <a:ext cx="3560064" cy="1353312"/>
          </a:xfrm>
          <a:prstGeom prst="roundRect">
            <a:avLst>
              <a:gd name="adj" fmla="val 9459"/>
            </a:avLst>
          </a:prstGeom>
          <a:solidFill>
            <a:srgbClr val="F7F9FC"/>
          </a:solidFill>
          <a:ln w="12700">
            <a:solidFill>
              <a:srgbClr val="DFE7F1"/>
            </a:solidFill>
            <a:prstDash val="solid"/>
          </a:ln>
        </p:spPr>
        <p:txBody>
          <a:bodyPr/>
          <a:p/>
        </p:txBody>
      </p:sp>
      <p:sp>
        <p:nvSpPr>
          <p:cNvPr id="41" name="Shape 39"/>
          <p:cNvSpPr/>
          <p:nvPr/>
        </p:nvSpPr>
        <p:spPr>
          <a:xfrm>
            <a:off x="8007096" y="4727448"/>
            <a:ext cx="50292" cy="1353312"/>
          </a:xfrm>
          <a:prstGeom prst="rect">
            <a:avLst/>
          </a:prstGeom>
          <a:solidFill>
            <a:srgbClr val="2866F6"/>
          </a:solidFill>
          <a:ln w="12700">
            <a:solidFill>
              <a:srgbClr val="2866F6"/>
            </a:solidFill>
            <a:prstDash val="solid"/>
          </a:ln>
        </p:spPr>
        <p:txBody>
          <a:bodyPr/>
          <a:p/>
        </p:txBody>
      </p:sp>
      <p:sp>
        <p:nvSpPr>
          <p:cNvPr id="42" name="Text 40"/>
          <p:cNvSpPr/>
          <p:nvPr/>
        </p:nvSpPr>
        <p:spPr>
          <a:xfrm>
            <a:off x="8180832" y="484632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Trade-off</a:t>
            </a:r>
            <a:endParaRPr lang="en-US" sz="1340" dirty="0"/>
          </a:p>
        </p:txBody>
      </p:sp>
      <p:sp>
        <p:nvSpPr>
          <p:cNvPr id="43" name="Text 41"/>
          <p:cNvSpPr/>
          <p:nvPr/>
        </p:nvSpPr>
        <p:spPr>
          <a:xfrm>
            <a:off x="8180832" y="5230368"/>
            <a:ext cx="3221736" cy="76809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Cross-service queries and multi-service updates become more complex.</a:t>
            </a:r>
            <a:endParaRPr lang="en-US" sz="12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B</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The order is saved, but the payment fails</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Checkout spans three databases. Two steps finish, and the last step fails.</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SUCCESS</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 database</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Order saved</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SUCCESS</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Inventory database</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Stock reduced</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FAILURE</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Payment service</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Payment cannot complete</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Each service commits its own database changes independently.</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One local rollback cannot reverse commits that another service already finished.</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DATA &amp; CONSISTENCY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14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2800" b="1" dirty="0">
                <a:solidFill>
                  <a:srgbClr val="122239"/>
                </a:solidFill>
                <a:latin typeface="Aptos" pitchFamily="34" charset="0"/>
                <a:ea typeface="Aptos" pitchFamily="34" charset="-122"/>
                <a:cs typeface="Aptos" pitchFamily="34" charset="-120"/>
              </a:rPr>
              <a:t>Saga coordinates the steps of a distributed workflow</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A business transaction becomes a sequence of local transactions.</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14</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B</a:t>
            </a:r>
            <a:endParaRPr lang="en-US" sz="1000" dirty="0"/>
          </a:p>
        </p:txBody>
      </p:sp>
      <p:sp>
        <p:nvSpPr>
          <p:cNvPr id="14" name="Shape 12"/>
          <p:cNvSpPr/>
          <p:nvPr/>
        </p:nvSpPr>
        <p:spPr>
          <a:xfrm>
            <a:off x="594360" y="2276856"/>
            <a:ext cx="5468112" cy="2651760"/>
          </a:xfrm>
          <a:prstGeom prst="roundRect">
            <a:avLst>
              <a:gd name="adj" fmla="val 4483"/>
            </a:avLst>
          </a:prstGeom>
          <a:solidFill>
            <a:srgbClr val="F7F9FC"/>
          </a:solidFill>
          <a:ln w="12700">
            <a:solidFill>
              <a:srgbClr val="DFE7F1"/>
            </a:solidFill>
            <a:prstDash val="solid"/>
          </a:ln>
        </p:spPr>
        <p:txBody>
          <a:bodyPr/>
          <a:p/>
        </p:txBody>
      </p:sp>
      <p:sp>
        <p:nvSpPr>
          <p:cNvPr id="15" name="Shape 13"/>
          <p:cNvSpPr/>
          <p:nvPr/>
        </p:nvSpPr>
        <p:spPr>
          <a:xfrm>
            <a:off x="6217920" y="2276856"/>
            <a:ext cx="5404104" cy="2651760"/>
          </a:xfrm>
          <a:prstGeom prst="roundRect">
            <a:avLst>
              <a:gd name="adj" fmla="val 4483"/>
            </a:avLst>
          </a:prstGeom>
          <a:solidFill>
            <a:srgbClr val="F7F9FC"/>
          </a:solidFill>
          <a:ln w="12700">
            <a:solidFill>
              <a:srgbClr val="DFE7F1"/>
            </a:solidFill>
            <a:prstDash val="solid"/>
          </a:ln>
        </p:spPr>
        <p:txBody>
          <a:bodyPr/>
          <a:p/>
        </p:txBody>
      </p:sp>
      <p:sp>
        <p:nvSpPr>
          <p:cNvPr id="16" name="Shape 14"/>
          <p:cNvSpPr/>
          <p:nvPr/>
        </p:nvSpPr>
        <p:spPr>
          <a:xfrm>
            <a:off x="2139696" y="2487168"/>
            <a:ext cx="2404872" cy="274320"/>
          </a:xfrm>
          <a:prstGeom prst="roundRect">
            <a:avLst>
              <a:gd name="adj" fmla="val 40000"/>
            </a:avLst>
          </a:prstGeom>
          <a:solidFill>
            <a:srgbClr val="ECF3FF"/>
          </a:solidFill>
          <a:ln w="12700">
            <a:solidFill>
              <a:srgbClr val="ECF3FF"/>
            </a:solidFill>
            <a:prstDash val="solid"/>
          </a:ln>
        </p:spPr>
        <p:txBody>
          <a:bodyPr/>
          <a:p/>
        </p:txBody>
      </p:sp>
      <p:sp>
        <p:nvSpPr>
          <p:cNvPr id="17" name="Text 15"/>
          <p:cNvSpPr/>
          <p:nvPr/>
        </p:nvSpPr>
        <p:spPr>
          <a:xfrm>
            <a:off x="2240280" y="2514600"/>
            <a:ext cx="2203704"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2866F6"/>
                </a:solidFill>
                <a:latin typeface="Aptos" pitchFamily="34" charset="0"/>
                <a:ea typeface="Aptos" pitchFamily="34" charset="-122"/>
                <a:cs typeface="Aptos" pitchFamily="34" charset="-120"/>
              </a:rPr>
              <a:t>ORCHESTRATION</a:t>
            </a:r>
            <a:endParaRPr lang="en-US" sz="1000" dirty="0"/>
          </a:p>
        </p:txBody>
      </p:sp>
      <p:sp>
        <p:nvSpPr>
          <p:cNvPr id="18" name="Shape 16"/>
          <p:cNvSpPr/>
          <p:nvPr/>
        </p:nvSpPr>
        <p:spPr>
          <a:xfrm>
            <a:off x="1837944" y="2926080"/>
            <a:ext cx="2880360" cy="530352"/>
          </a:xfrm>
          <a:prstGeom prst="roundRect">
            <a:avLst>
              <a:gd name="adj" fmla="val 22414"/>
            </a:avLst>
          </a:prstGeom>
          <a:solidFill>
            <a:srgbClr val="ECF3FF"/>
          </a:solidFill>
          <a:ln w="12700">
            <a:solidFill>
              <a:srgbClr val="CBDBFF"/>
            </a:solidFill>
            <a:prstDash val="solid"/>
          </a:ln>
        </p:spPr>
        <p:txBody>
          <a:bodyPr/>
          <a:p/>
        </p:txBody>
      </p:sp>
      <p:sp>
        <p:nvSpPr>
          <p:cNvPr id="19" name="Text 17"/>
          <p:cNvSpPr/>
          <p:nvPr/>
        </p:nvSpPr>
        <p:spPr>
          <a:xfrm>
            <a:off x="2011680" y="3063240"/>
            <a:ext cx="2551176" cy="201168"/>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Coordinator</a:t>
            </a:r>
            <a:endParaRPr lang="en-US" sz="1500" dirty="0"/>
          </a:p>
        </p:txBody>
      </p:sp>
      <p:sp>
        <p:nvSpPr>
          <p:cNvPr id="20" name="Shape 18"/>
          <p:cNvSpPr/>
          <p:nvPr/>
        </p:nvSpPr>
        <p:spPr>
          <a:xfrm>
            <a:off x="960120" y="3858768"/>
            <a:ext cx="1344168" cy="566928"/>
          </a:xfrm>
          <a:prstGeom prst="roundRect">
            <a:avLst>
              <a:gd name="adj" fmla="val 20968"/>
            </a:avLst>
          </a:prstGeom>
          <a:solidFill>
            <a:srgbClr val="FFFFFF"/>
          </a:solidFill>
          <a:ln w="12700">
            <a:solidFill>
              <a:srgbClr val="DFE7F1"/>
            </a:solidFill>
            <a:prstDash val="solid"/>
          </a:ln>
        </p:spPr>
        <p:txBody>
          <a:bodyPr/>
          <a:p/>
        </p:txBody>
      </p:sp>
      <p:sp>
        <p:nvSpPr>
          <p:cNvPr id="21" name="Text 19"/>
          <p:cNvSpPr/>
          <p:nvPr/>
        </p:nvSpPr>
        <p:spPr>
          <a:xfrm>
            <a:off x="1005840" y="4014216"/>
            <a:ext cx="1234440" cy="164592"/>
          </a:xfrm>
          <a:prstGeom prst="rect">
            <a:avLst/>
          </a:prstGeom>
          <a:noFill/>
          <a:ln/>
        </p:spPr>
        <p:txBody>
          <a:bodyPr wrap="square" lIns="0" tIns="0" rIns="0" bIns="0" rtlCol="0" anchor="ctr">
            <a:normAutofit/>
          </a:bodyPr>
          <a:lstStyle/>
          <a:p>
            <a:pPr algn="ctr" indent="0" marL="0">
              <a:buNone/>
            </a:pPr>
            <a:r>
              <a:rPr lang="en-US" sz="1170" b="1" dirty="0">
                <a:solidFill>
                  <a:srgbClr val="122239"/>
                </a:solidFill>
                <a:latin typeface="Aptos" pitchFamily="34" charset="0"/>
                <a:ea typeface="Aptos" pitchFamily="34" charset="-122"/>
                <a:cs typeface="Aptos" pitchFamily="34" charset="-120"/>
              </a:rPr>
              <a:t>Order</a:t>
            </a:r>
            <a:endParaRPr lang="en-US" sz="1170" dirty="0"/>
          </a:p>
        </p:txBody>
      </p:sp>
      <p:sp>
        <p:nvSpPr>
          <p:cNvPr id="22" name="Shape 20"/>
          <p:cNvSpPr/>
          <p:nvPr/>
        </p:nvSpPr>
        <p:spPr>
          <a:xfrm>
            <a:off x="3255264" y="3483864"/>
            <a:ext cx="-1627632" cy="356616"/>
          </a:xfrm>
          <a:prstGeom prst="line">
            <a:avLst/>
          </a:prstGeom>
          <a:noFill/>
          <a:ln w="13970">
            <a:solidFill>
              <a:srgbClr val="2866F6"/>
            </a:solidFill>
            <a:prstDash val="solid"/>
            <a:headEnd type="none"/>
            <a:tailEnd type="triangle"/>
          </a:ln>
        </p:spPr>
        <p:txBody>
          <a:bodyPr/>
          <a:p/>
        </p:txBody>
      </p:sp>
      <p:sp>
        <p:nvSpPr>
          <p:cNvPr id="23" name="Shape 21"/>
          <p:cNvSpPr/>
          <p:nvPr/>
        </p:nvSpPr>
        <p:spPr>
          <a:xfrm>
            <a:off x="2523744" y="3858768"/>
            <a:ext cx="1344168" cy="566928"/>
          </a:xfrm>
          <a:prstGeom prst="roundRect">
            <a:avLst>
              <a:gd name="adj" fmla="val 20968"/>
            </a:avLst>
          </a:prstGeom>
          <a:solidFill>
            <a:srgbClr val="FFFFFF"/>
          </a:solidFill>
          <a:ln w="12700">
            <a:solidFill>
              <a:srgbClr val="DFE7F1"/>
            </a:solidFill>
            <a:prstDash val="solid"/>
          </a:ln>
        </p:spPr>
        <p:txBody>
          <a:bodyPr/>
          <a:p/>
        </p:txBody>
      </p:sp>
      <p:sp>
        <p:nvSpPr>
          <p:cNvPr id="24" name="Text 22"/>
          <p:cNvSpPr/>
          <p:nvPr/>
        </p:nvSpPr>
        <p:spPr>
          <a:xfrm>
            <a:off x="2569464" y="4014216"/>
            <a:ext cx="1234440" cy="164592"/>
          </a:xfrm>
          <a:prstGeom prst="rect">
            <a:avLst/>
          </a:prstGeom>
          <a:noFill/>
          <a:ln/>
        </p:spPr>
        <p:txBody>
          <a:bodyPr wrap="square" lIns="0" tIns="0" rIns="0" bIns="0" rtlCol="0" anchor="ctr">
            <a:normAutofit/>
          </a:bodyPr>
          <a:lstStyle/>
          <a:p>
            <a:pPr algn="ctr" indent="0" marL="0">
              <a:buNone/>
            </a:pPr>
            <a:r>
              <a:rPr lang="en-US" sz="1170" b="1" dirty="0">
                <a:solidFill>
                  <a:srgbClr val="122239"/>
                </a:solidFill>
                <a:latin typeface="Aptos" pitchFamily="34" charset="0"/>
                <a:ea typeface="Aptos" pitchFamily="34" charset="-122"/>
                <a:cs typeface="Aptos" pitchFamily="34" charset="-120"/>
              </a:rPr>
              <a:t>Inventory</a:t>
            </a:r>
            <a:endParaRPr lang="en-US" sz="1170" dirty="0"/>
          </a:p>
        </p:txBody>
      </p:sp>
      <p:sp>
        <p:nvSpPr>
          <p:cNvPr id="25" name="Shape 23"/>
          <p:cNvSpPr/>
          <p:nvPr/>
        </p:nvSpPr>
        <p:spPr>
          <a:xfrm>
            <a:off x="3255264" y="3483864"/>
            <a:ext cx="-64008" cy="356616"/>
          </a:xfrm>
          <a:prstGeom prst="line">
            <a:avLst/>
          </a:prstGeom>
          <a:noFill/>
          <a:ln w="13970">
            <a:solidFill>
              <a:srgbClr val="2866F6"/>
            </a:solidFill>
            <a:prstDash val="solid"/>
            <a:headEnd type="none"/>
            <a:tailEnd type="triangle"/>
          </a:ln>
        </p:spPr>
        <p:txBody>
          <a:bodyPr/>
          <a:p/>
        </p:txBody>
      </p:sp>
      <p:sp>
        <p:nvSpPr>
          <p:cNvPr id="26" name="Shape 24"/>
          <p:cNvSpPr/>
          <p:nvPr/>
        </p:nvSpPr>
        <p:spPr>
          <a:xfrm>
            <a:off x="4087368" y="3858768"/>
            <a:ext cx="1344168" cy="566928"/>
          </a:xfrm>
          <a:prstGeom prst="roundRect">
            <a:avLst>
              <a:gd name="adj" fmla="val 20968"/>
            </a:avLst>
          </a:prstGeom>
          <a:solidFill>
            <a:srgbClr val="FFFFFF"/>
          </a:solidFill>
          <a:ln w="12700">
            <a:solidFill>
              <a:srgbClr val="DFE7F1"/>
            </a:solidFill>
            <a:prstDash val="solid"/>
          </a:ln>
        </p:spPr>
        <p:txBody>
          <a:bodyPr/>
          <a:p/>
        </p:txBody>
      </p:sp>
      <p:sp>
        <p:nvSpPr>
          <p:cNvPr id="27" name="Text 25"/>
          <p:cNvSpPr/>
          <p:nvPr/>
        </p:nvSpPr>
        <p:spPr>
          <a:xfrm>
            <a:off x="4133088" y="4014216"/>
            <a:ext cx="1234440" cy="164592"/>
          </a:xfrm>
          <a:prstGeom prst="rect">
            <a:avLst/>
          </a:prstGeom>
          <a:noFill/>
          <a:ln/>
        </p:spPr>
        <p:txBody>
          <a:bodyPr wrap="square" lIns="0" tIns="0" rIns="0" bIns="0" rtlCol="0" anchor="ctr">
            <a:normAutofit/>
          </a:bodyPr>
          <a:lstStyle/>
          <a:p>
            <a:pPr algn="ctr" indent="0" marL="0">
              <a:buNone/>
            </a:pPr>
            <a:r>
              <a:rPr lang="en-US" sz="1170" b="1" dirty="0">
                <a:solidFill>
                  <a:srgbClr val="122239"/>
                </a:solidFill>
                <a:latin typeface="Aptos" pitchFamily="34" charset="0"/>
                <a:ea typeface="Aptos" pitchFamily="34" charset="-122"/>
                <a:cs typeface="Aptos" pitchFamily="34" charset="-120"/>
              </a:rPr>
              <a:t>Payment</a:t>
            </a:r>
            <a:endParaRPr lang="en-US" sz="1170" dirty="0"/>
          </a:p>
        </p:txBody>
      </p:sp>
      <p:sp>
        <p:nvSpPr>
          <p:cNvPr id="28" name="Shape 26"/>
          <p:cNvSpPr/>
          <p:nvPr/>
        </p:nvSpPr>
        <p:spPr>
          <a:xfrm>
            <a:off x="3255264" y="3483864"/>
            <a:ext cx="1499616" cy="356616"/>
          </a:xfrm>
          <a:prstGeom prst="line">
            <a:avLst/>
          </a:prstGeom>
          <a:noFill/>
          <a:ln w="13970">
            <a:solidFill>
              <a:srgbClr val="2866F6"/>
            </a:solidFill>
            <a:prstDash val="solid"/>
            <a:headEnd type="none"/>
            <a:tailEnd type="triangle"/>
          </a:ln>
        </p:spPr>
        <p:txBody>
          <a:bodyPr/>
          <a:p/>
        </p:txBody>
      </p:sp>
      <p:sp>
        <p:nvSpPr>
          <p:cNvPr id="29" name="Shape 27"/>
          <p:cNvSpPr/>
          <p:nvPr/>
        </p:nvSpPr>
        <p:spPr>
          <a:xfrm>
            <a:off x="7827264" y="2487168"/>
            <a:ext cx="2322576" cy="274320"/>
          </a:xfrm>
          <a:prstGeom prst="roundRect">
            <a:avLst>
              <a:gd name="adj" fmla="val 40000"/>
            </a:avLst>
          </a:prstGeom>
          <a:solidFill>
            <a:srgbClr val="E7F8F3"/>
          </a:solidFill>
          <a:ln w="12700">
            <a:solidFill>
              <a:srgbClr val="E7F8F3"/>
            </a:solidFill>
            <a:prstDash val="solid"/>
          </a:ln>
        </p:spPr>
        <p:txBody>
          <a:bodyPr/>
          <a:p/>
        </p:txBody>
      </p:sp>
      <p:sp>
        <p:nvSpPr>
          <p:cNvPr id="30" name="Text 28"/>
          <p:cNvSpPr/>
          <p:nvPr/>
        </p:nvSpPr>
        <p:spPr>
          <a:xfrm>
            <a:off x="7927848" y="2514600"/>
            <a:ext cx="2121408"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008F83"/>
                </a:solidFill>
                <a:latin typeface="Aptos" pitchFamily="34" charset="0"/>
                <a:ea typeface="Aptos" pitchFamily="34" charset="-122"/>
                <a:cs typeface="Aptos" pitchFamily="34" charset="-120"/>
              </a:rPr>
              <a:t>CHOREOGRAPHY</a:t>
            </a:r>
            <a:endParaRPr lang="en-US" sz="1000" dirty="0"/>
          </a:p>
        </p:txBody>
      </p:sp>
      <p:sp>
        <p:nvSpPr>
          <p:cNvPr id="31" name="Shape 29"/>
          <p:cNvSpPr/>
          <p:nvPr/>
        </p:nvSpPr>
        <p:spPr>
          <a:xfrm>
            <a:off x="6446520" y="3172968"/>
            <a:ext cx="1499616" cy="804672"/>
          </a:xfrm>
          <a:prstGeom prst="roundRect">
            <a:avLst>
              <a:gd name="adj" fmla="val 15909"/>
            </a:avLst>
          </a:prstGeom>
          <a:solidFill>
            <a:srgbClr val="ECF3FF"/>
          </a:solidFill>
          <a:ln w="12700">
            <a:solidFill>
              <a:srgbClr val="CBDBFF"/>
            </a:solidFill>
            <a:prstDash val="solid"/>
          </a:ln>
        </p:spPr>
        <p:txBody>
          <a:bodyPr/>
          <a:p/>
        </p:txBody>
      </p:sp>
      <p:sp>
        <p:nvSpPr>
          <p:cNvPr id="32" name="Text 30"/>
          <p:cNvSpPr/>
          <p:nvPr/>
        </p:nvSpPr>
        <p:spPr>
          <a:xfrm>
            <a:off x="6556248" y="3291840"/>
            <a:ext cx="1280160"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Order</a:t>
            </a:r>
            <a:endParaRPr lang="en-US" sz="1500" dirty="0"/>
          </a:p>
        </p:txBody>
      </p:sp>
      <p:sp>
        <p:nvSpPr>
          <p:cNvPr id="33" name="Text 31"/>
          <p:cNvSpPr/>
          <p:nvPr/>
        </p:nvSpPr>
        <p:spPr>
          <a:xfrm>
            <a:off x="6583680" y="3712464"/>
            <a:ext cx="1225296"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Event</a:t>
            </a:r>
            <a:endParaRPr lang="en-US" sz="1150" dirty="0"/>
          </a:p>
        </p:txBody>
      </p:sp>
      <p:sp>
        <p:nvSpPr>
          <p:cNvPr id="34" name="Shape 32"/>
          <p:cNvSpPr/>
          <p:nvPr/>
        </p:nvSpPr>
        <p:spPr>
          <a:xfrm>
            <a:off x="7982712" y="3675888"/>
            <a:ext cx="100584" cy="0"/>
          </a:xfrm>
          <a:prstGeom prst="line">
            <a:avLst/>
          </a:prstGeom>
          <a:noFill/>
          <a:ln w="21590">
            <a:solidFill>
              <a:srgbClr val="2866F6"/>
            </a:solidFill>
            <a:prstDash val="solid"/>
            <a:headEnd type="none"/>
            <a:tailEnd type="triangle"/>
          </a:ln>
        </p:spPr>
        <p:txBody>
          <a:bodyPr/>
          <a:p/>
        </p:txBody>
      </p:sp>
      <p:sp>
        <p:nvSpPr>
          <p:cNvPr id="35" name="Shape 33"/>
          <p:cNvSpPr/>
          <p:nvPr/>
        </p:nvSpPr>
        <p:spPr>
          <a:xfrm>
            <a:off x="8119872" y="3172968"/>
            <a:ext cx="1499616" cy="804672"/>
          </a:xfrm>
          <a:prstGeom prst="roundRect">
            <a:avLst>
              <a:gd name="adj" fmla="val 15909"/>
            </a:avLst>
          </a:prstGeom>
          <a:solidFill>
            <a:srgbClr val="ECF3FF"/>
          </a:solidFill>
          <a:ln w="12700">
            <a:solidFill>
              <a:srgbClr val="CBDBFF"/>
            </a:solidFill>
            <a:prstDash val="solid"/>
          </a:ln>
        </p:spPr>
        <p:txBody>
          <a:bodyPr/>
          <a:p/>
        </p:txBody>
      </p:sp>
      <p:sp>
        <p:nvSpPr>
          <p:cNvPr id="36" name="Text 34"/>
          <p:cNvSpPr/>
          <p:nvPr/>
        </p:nvSpPr>
        <p:spPr>
          <a:xfrm>
            <a:off x="8229600" y="3291840"/>
            <a:ext cx="1280160"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Inventory</a:t>
            </a:r>
            <a:endParaRPr lang="en-US" sz="1500" dirty="0"/>
          </a:p>
        </p:txBody>
      </p:sp>
      <p:sp>
        <p:nvSpPr>
          <p:cNvPr id="37" name="Text 35"/>
          <p:cNvSpPr/>
          <p:nvPr/>
        </p:nvSpPr>
        <p:spPr>
          <a:xfrm>
            <a:off x="8257032" y="3712464"/>
            <a:ext cx="1225296"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Event</a:t>
            </a:r>
            <a:endParaRPr lang="en-US" sz="1150" dirty="0"/>
          </a:p>
        </p:txBody>
      </p:sp>
      <p:sp>
        <p:nvSpPr>
          <p:cNvPr id="38" name="Shape 36"/>
          <p:cNvSpPr/>
          <p:nvPr/>
        </p:nvSpPr>
        <p:spPr>
          <a:xfrm>
            <a:off x="9656064" y="3675888"/>
            <a:ext cx="100584" cy="0"/>
          </a:xfrm>
          <a:prstGeom prst="line">
            <a:avLst/>
          </a:prstGeom>
          <a:noFill/>
          <a:ln w="21590">
            <a:solidFill>
              <a:srgbClr val="2866F6"/>
            </a:solidFill>
            <a:prstDash val="solid"/>
            <a:headEnd type="none"/>
            <a:tailEnd type="triangle"/>
          </a:ln>
        </p:spPr>
        <p:txBody>
          <a:bodyPr/>
          <a:p/>
        </p:txBody>
      </p:sp>
      <p:sp>
        <p:nvSpPr>
          <p:cNvPr id="39" name="Shape 37"/>
          <p:cNvSpPr/>
          <p:nvPr/>
        </p:nvSpPr>
        <p:spPr>
          <a:xfrm>
            <a:off x="9793224" y="3172968"/>
            <a:ext cx="1499616" cy="804672"/>
          </a:xfrm>
          <a:prstGeom prst="roundRect">
            <a:avLst>
              <a:gd name="adj" fmla="val 15909"/>
            </a:avLst>
          </a:prstGeom>
          <a:solidFill>
            <a:srgbClr val="ECF3FF"/>
          </a:solidFill>
          <a:ln w="12700">
            <a:solidFill>
              <a:srgbClr val="CBDBFF"/>
            </a:solidFill>
            <a:prstDash val="solid"/>
          </a:ln>
        </p:spPr>
        <p:txBody>
          <a:bodyPr/>
          <a:p/>
        </p:txBody>
      </p:sp>
      <p:sp>
        <p:nvSpPr>
          <p:cNvPr id="40" name="Text 38"/>
          <p:cNvSpPr/>
          <p:nvPr/>
        </p:nvSpPr>
        <p:spPr>
          <a:xfrm>
            <a:off x="9902952" y="3291840"/>
            <a:ext cx="1280160"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Payment</a:t>
            </a:r>
            <a:endParaRPr lang="en-US" sz="1500" dirty="0"/>
          </a:p>
        </p:txBody>
      </p:sp>
      <p:sp>
        <p:nvSpPr>
          <p:cNvPr id="41" name="Text 39"/>
          <p:cNvSpPr/>
          <p:nvPr/>
        </p:nvSpPr>
        <p:spPr>
          <a:xfrm>
            <a:off x="9930384" y="3712464"/>
            <a:ext cx="1225296"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Reacts</a:t>
            </a:r>
            <a:endParaRPr lang="en-US" sz="1150" dirty="0"/>
          </a:p>
        </p:txBody>
      </p:sp>
      <p:sp>
        <p:nvSpPr>
          <p:cNvPr id="42" name="Text 40"/>
          <p:cNvSpPr/>
          <p:nvPr/>
        </p:nvSpPr>
        <p:spPr>
          <a:xfrm>
            <a:off x="822960" y="4517136"/>
            <a:ext cx="5010912" cy="228600"/>
          </a:xfrm>
          <a:prstGeom prst="rect">
            <a:avLst/>
          </a:prstGeom>
          <a:noFill/>
          <a:ln/>
        </p:spPr>
        <p:txBody>
          <a:bodyPr wrap="square" lIns="0" tIns="0" rIns="0" bIns="0" rtlCol="0" anchor="ctr">
            <a:normAutofit/>
          </a:bodyPr>
          <a:lstStyle/>
          <a:p>
            <a:pPr algn="ctr" indent="0" marL="0">
              <a:buNone/>
            </a:pPr>
            <a:r>
              <a:rPr lang="en-US" sz="1280" dirty="0">
                <a:solidFill>
                  <a:srgbClr val="354862"/>
                </a:solidFill>
                <a:latin typeface="Aptos" pitchFamily="34" charset="0"/>
                <a:ea typeface="Aptos" pitchFamily="34" charset="-122"/>
                <a:cs typeface="Aptos" pitchFamily="34" charset="-120"/>
              </a:rPr>
              <a:t>Central component directs the sequence</a:t>
            </a:r>
            <a:endParaRPr lang="en-US" sz="1280" dirty="0"/>
          </a:p>
        </p:txBody>
      </p:sp>
      <p:sp>
        <p:nvSpPr>
          <p:cNvPr id="43" name="Text 41"/>
          <p:cNvSpPr/>
          <p:nvPr/>
        </p:nvSpPr>
        <p:spPr>
          <a:xfrm>
            <a:off x="6492240" y="4517136"/>
            <a:ext cx="4818888" cy="228600"/>
          </a:xfrm>
          <a:prstGeom prst="rect">
            <a:avLst/>
          </a:prstGeom>
          <a:noFill/>
          <a:ln/>
        </p:spPr>
        <p:txBody>
          <a:bodyPr wrap="square" lIns="0" tIns="0" rIns="0" bIns="0" rtlCol="0" anchor="ctr">
            <a:normAutofit/>
          </a:bodyPr>
          <a:lstStyle/>
          <a:p>
            <a:pPr algn="ctr" indent="0" marL="0">
              <a:buNone/>
            </a:pPr>
            <a:r>
              <a:rPr lang="en-US" sz="1280" dirty="0">
                <a:solidFill>
                  <a:srgbClr val="354862"/>
                </a:solidFill>
                <a:latin typeface="Aptos" pitchFamily="34" charset="0"/>
                <a:ea typeface="Aptos" pitchFamily="34" charset="-122"/>
                <a:cs typeface="Aptos" pitchFamily="34" charset="-120"/>
              </a:rPr>
              <a:t>Services react to each other’s events</a:t>
            </a:r>
            <a:endParaRPr lang="en-US" sz="1280" dirty="0"/>
          </a:p>
        </p:txBody>
      </p:sp>
      <p:sp>
        <p:nvSpPr>
          <p:cNvPr id="44" name="Shape 42"/>
          <p:cNvSpPr/>
          <p:nvPr/>
        </p:nvSpPr>
        <p:spPr>
          <a:xfrm>
            <a:off x="603504" y="5157216"/>
            <a:ext cx="3557016" cy="1078992"/>
          </a:xfrm>
          <a:prstGeom prst="roundRect">
            <a:avLst>
              <a:gd name="adj" fmla="val 11864"/>
            </a:avLst>
          </a:prstGeom>
          <a:solidFill>
            <a:srgbClr val="F7F9FC"/>
          </a:solidFill>
          <a:ln w="12700">
            <a:solidFill>
              <a:srgbClr val="DFE7F1"/>
            </a:solidFill>
            <a:prstDash val="solid"/>
          </a:ln>
        </p:spPr>
        <p:txBody>
          <a:bodyPr/>
          <a:p/>
        </p:txBody>
      </p:sp>
      <p:sp>
        <p:nvSpPr>
          <p:cNvPr id="45" name="Shape 43"/>
          <p:cNvSpPr/>
          <p:nvPr/>
        </p:nvSpPr>
        <p:spPr>
          <a:xfrm>
            <a:off x="603504" y="5157216"/>
            <a:ext cx="50292" cy="1078992"/>
          </a:xfrm>
          <a:prstGeom prst="rect">
            <a:avLst/>
          </a:prstGeom>
          <a:solidFill>
            <a:srgbClr val="2866F6"/>
          </a:solidFill>
          <a:ln w="12700">
            <a:solidFill>
              <a:srgbClr val="2866F6"/>
            </a:solidFill>
            <a:prstDash val="solid"/>
          </a:ln>
        </p:spPr>
        <p:txBody>
          <a:bodyPr/>
          <a:p/>
        </p:txBody>
      </p:sp>
      <p:sp>
        <p:nvSpPr>
          <p:cNvPr id="46" name="Text 44"/>
          <p:cNvSpPr/>
          <p:nvPr/>
        </p:nvSpPr>
        <p:spPr>
          <a:xfrm>
            <a:off x="777240" y="5276088"/>
            <a:ext cx="3227832"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Local transactions</a:t>
            </a:r>
            <a:endParaRPr lang="en-US" sz="1340" dirty="0"/>
          </a:p>
        </p:txBody>
      </p:sp>
      <p:sp>
        <p:nvSpPr>
          <p:cNvPr id="47" name="Text 45"/>
          <p:cNvSpPr/>
          <p:nvPr/>
        </p:nvSpPr>
        <p:spPr>
          <a:xfrm>
            <a:off x="777240" y="5660136"/>
            <a:ext cx="3218688" cy="49377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Each participant commits changes in the database it owns.</a:t>
            </a:r>
            <a:endParaRPr lang="en-US" sz="1230" dirty="0"/>
          </a:p>
        </p:txBody>
      </p:sp>
      <p:sp>
        <p:nvSpPr>
          <p:cNvPr id="48" name="Shape 46"/>
          <p:cNvSpPr/>
          <p:nvPr/>
        </p:nvSpPr>
        <p:spPr>
          <a:xfrm>
            <a:off x="4306824" y="5157216"/>
            <a:ext cx="3557016" cy="1078992"/>
          </a:xfrm>
          <a:prstGeom prst="roundRect">
            <a:avLst>
              <a:gd name="adj" fmla="val 11864"/>
            </a:avLst>
          </a:prstGeom>
          <a:solidFill>
            <a:srgbClr val="F7F9FC"/>
          </a:solidFill>
          <a:ln w="12700">
            <a:solidFill>
              <a:srgbClr val="DFE7F1"/>
            </a:solidFill>
            <a:prstDash val="solid"/>
          </a:ln>
        </p:spPr>
        <p:txBody>
          <a:bodyPr/>
          <a:p/>
        </p:txBody>
      </p:sp>
      <p:sp>
        <p:nvSpPr>
          <p:cNvPr id="49" name="Shape 47"/>
          <p:cNvSpPr/>
          <p:nvPr/>
        </p:nvSpPr>
        <p:spPr>
          <a:xfrm>
            <a:off x="4306824" y="5157216"/>
            <a:ext cx="50292" cy="1078992"/>
          </a:xfrm>
          <a:prstGeom prst="rect">
            <a:avLst/>
          </a:prstGeom>
          <a:solidFill>
            <a:srgbClr val="2866F6"/>
          </a:solidFill>
          <a:ln w="12700">
            <a:solidFill>
              <a:srgbClr val="2866F6"/>
            </a:solidFill>
            <a:prstDash val="solid"/>
          </a:ln>
        </p:spPr>
        <p:txBody>
          <a:bodyPr/>
          <a:p/>
        </p:txBody>
      </p:sp>
      <p:sp>
        <p:nvSpPr>
          <p:cNvPr id="50" name="Text 48"/>
          <p:cNvSpPr/>
          <p:nvPr/>
        </p:nvSpPr>
        <p:spPr>
          <a:xfrm>
            <a:off x="4480560" y="5276088"/>
            <a:ext cx="3227832"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Design trade-off</a:t>
            </a:r>
            <a:endParaRPr lang="en-US" sz="1340" dirty="0"/>
          </a:p>
        </p:txBody>
      </p:sp>
      <p:sp>
        <p:nvSpPr>
          <p:cNvPr id="51" name="Text 49"/>
          <p:cNvSpPr/>
          <p:nvPr/>
        </p:nvSpPr>
        <p:spPr>
          <a:xfrm>
            <a:off x="4480560" y="5660136"/>
            <a:ext cx="3218688" cy="49377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Orchestration centralizes flow; choreography spreads coordination logic.</a:t>
            </a:r>
            <a:endParaRPr lang="en-US" sz="1230" dirty="0"/>
          </a:p>
        </p:txBody>
      </p:sp>
      <p:sp>
        <p:nvSpPr>
          <p:cNvPr id="52" name="Shape 50"/>
          <p:cNvSpPr/>
          <p:nvPr/>
        </p:nvSpPr>
        <p:spPr>
          <a:xfrm>
            <a:off x="8010144" y="5157216"/>
            <a:ext cx="3557016" cy="1078992"/>
          </a:xfrm>
          <a:prstGeom prst="roundRect">
            <a:avLst>
              <a:gd name="adj" fmla="val 11864"/>
            </a:avLst>
          </a:prstGeom>
          <a:solidFill>
            <a:srgbClr val="F7F9FC"/>
          </a:solidFill>
          <a:ln w="12700">
            <a:solidFill>
              <a:srgbClr val="DFE7F1"/>
            </a:solidFill>
            <a:prstDash val="solid"/>
          </a:ln>
        </p:spPr>
        <p:txBody>
          <a:bodyPr/>
          <a:p/>
        </p:txBody>
      </p:sp>
      <p:sp>
        <p:nvSpPr>
          <p:cNvPr id="53" name="Shape 51"/>
          <p:cNvSpPr/>
          <p:nvPr/>
        </p:nvSpPr>
        <p:spPr>
          <a:xfrm>
            <a:off x="8010144" y="5157216"/>
            <a:ext cx="50292" cy="1078992"/>
          </a:xfrm>
          <a:prstGeom prst="rect">
            <a:avLst/>
          </a:prstGeom>
          <a:solidFill>
            <a:srgbClr val="2866F6"/>
          </a:solidFill>
          <a:ln w="12700">
            <a:solidFill>
              <a:srgbClr val="2866F6"/>
            </a:solidFill>
            <a:prstDash val="solid"/>
          </a:ln>
        </p:spPr>
        <p:txBody>
          <a:bodyPr/>
          <a:p/>
        </p:txBody>
      </p:sp>
      <p:sp>
        <p:nvSpPr>
          <p:cNvPr id="54" name="Text 52"/>
          <p:cNvSpPr/>
          <p:nvPr/>
        </p:nvSpPr>
        <p:spPr>
          <a:xfrm>
            <a:off x="8183880" y="5276088"/>
            <a:ext cx="3227832"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Failure paths</a:t>
            </a:r>
            <a:endParaRPr lang="en-US" sz="1340" dirty="0"/>
          </a:p>
        </p:txBody>
      </p:sp>
      <p:sp>
        <p:nvSpPr>
          <p:cNvPr id="55" name="Text 53"/>
          <p:cNvSpPr/>
          <p:nvPr/>
        </p:nvSpPr>
        <p:spPr>
          <a:xfrm>
            <a:off x="8183880" y="5660136"/>
            <a:ext cx="3218688" cy="49377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 Saga needs explicit recovery decisions when a local step fails.</a:t>
            </a:r>
            <a:endParaRPr lang="en-US" sz="12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DATA &amp; CONSISTENCY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16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sz="3050" b="1">
                <a:latin typeface="Aptos"/>
              </a:rPr>
              <a:t>Eventual consistency: handle a delayed read view</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sz="1400">
                <a:latin typeface="Aptos"/>
              </a:rPr>
              <a:t>Read views may briefly lag; display honest pending states while updates arrive.</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16</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C</a:t>
            </a:r>
            <a:endParaRPr lang="en-US" sz="1000" dirty="0"/>
          </a:p>
        </p:txBody>
      </p:sp>
      <p:sp>
        <p:nvSpPr>
          <p:cNvPr id="14" name="Shape 12"/>
          <p:cNvSpPr/>
          <p:nvPr/>
        </p:nvSpPr>
        <p:spPr>
          <a:xfrm>
            <a:off x="585216" y="2249424"/>
            <a:ext cx="10991088" cy="1938528"/>
          </a:xfrm>
          <a:prstGeom prst="roundRect">
            <a:avLst>
              <a:gd name="adj" fmla="val 6132"/>
            </a:avLst>
          </a:prstGeom>
          <a:solidFill>
            <a:srgbClr val="FFF0F0"/>
          </a:solidFill>
          <a:ln w="12700">
            <a:solidFill>
              <a:srgbClr val="F4C8CB"/>
            </a:solidFill>
            <a:prstDash val="solid"/>
          </a:ln>
        </p:spPr>
        <p:txBody>
          <a:bodyPr/>
          <a:p/>
        </p:txBody>
      </p:sp>
      <p:sp>
        <p:nvSpPr>
          <p:cNvPr id="15" name="Text 13"/>
          <p:cNvSpPr/>
          <p:nvPr/>
        </p:nvSpPr>
        <p:spPr>
          <a:xfrm>
            <a:off x="822960" y="2441448"/>
            <a:ext cx="3657600" cy="256032"/>
          </a:xfrm>
          <a:prstGeom prst="rect">
            <a:avLst/>
          </a:prstGeom>
          <a:noFill/>
          <a:ln/>
        </p:spPr>
        <p:txBody>
          <a:bodyPr wrap="square" lIns="0" tIns="0" rIns="0" bIns="0" rtlCol="0" anchor="ctr">
            <a:normAutofit/>
          </a:bodyPr>
          <a:lstStyle/>
          <a:p>
            <a:pPr algn="l" indent="0" marL="0">
              <a:buNone/>
            </a:pPr>
            <a:r>
              <a:rPr sz="1100" b="1">
                <a:solidFill>
                  <a:srgbClr val="2866F6"/>
                </a:solidFill>
                <a:latin typeface="Aptos"/>
              </a:rPr>
              <a:t>UPDATE TIMELINE</a:t>
            </a:r>
            <a:endParaRPr lang="en-US" sz="1100" dirty="0"/>
          </a:p>
        </p:txBody>
      </p:sp>
      <p:sp>
        <p:nvSpPr>
          <p:cNvPr id="16" name="Shape 14"/>
          <p:cNvSpPr/>
          <p:nvPr/>
        </p:nvSpPr>
        <p:spPr>
          <a:xfrm>
            <a:off x="877824" y="2871216"/>
            <a:ext cx="3291840" cy="795528"/>
          </a:xfrm>
          <a:prstGeom prst="roundRect">
            <a:avLst>
              <a:gd name="adj" fmla="val 16092"/>
            </a:avLst>
          </a:prstGeom>
          <a:solidFill>
            <a:srgbClr val="E7F8F3"/>
          </a:solidFill>
          <a:ln w="12700">
            <a:solidFill>
              <a:srgbClr val="B4E6DD"/>
            </a:solidFill>
            <a:prstDash val="solid"/>
          </a:ln>
        </p:spPr>
        <p:txBody>
          <a:bodyPr/>
          <a:p/>
        </p:txBody>
      </p:sp>
      <p:sp>
        <p:nvSpPr>
          <p:cNvPr id="17" name="Text 15"/>
          <p:cNvSpPr/>
          <p:nvPr/>
        </p:nvSpPr>
        <p:spPr>
          <a:xfrm>
            <a:off x="987552" y="2990088"/>
            <a:ext cx="307238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Order DB</a:t>
            </a:r>
            <a:endParaRPr lang="en-US" sz="1500" dirty="0"/>
          </a:p>
        </p:txBody>
      </p:sp>
      <p:sp>
        <p:nvSpPr>
          <p:cNvPr id="18" name="Text 16"/>
          <p:cNvSpPr/>
          <p:nvPr/>
        </p:nvSpPr>
        <p:spPr>
          <a:xfrm>
            <a:off x="1014984" y="3410712"/>
            <a:ext cx="301752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Created 10:00</a:t>
            </a:r>
            <a:endParaRPr lang="en-US" sz="1150" dirty="0"/>
          </a:p>
        </p:txBody>
      </p:sp>
      <p:sp>
        <p:nvSpPr>
          <p:cNvPr id="19" name="Shape 17"/>
          <p:cNvSpPr/>
          <p:nvPr/>
        </p:nvSpPr>
        <p:spPr>
          <a:xfrm>
            <a:off x="4206240" y="3374136"/>
            <a:ext cx="228600" cy="0"/>
          </a:xfrm>
          <a:prstGeom prst="line">
            <a:avLst/>
          </a:prstGeom>
          <a:noFill/>
          <a:ln w="21590">
            <a:solidFill>
              <a:srgbClr val="2866F6"/>
            </a:solidFill>
            <a:prstDash val="solid"/>
            <a:headEnd type="none"/>
            <a:tailEnd type="triangle"/>
          </a:ln>
        </p:spPr>
        <p:txBody>
          <a:bodyPr/>
          <a:p/>
        </p:txBody>
      </p:sp>
      <p:sp>
        <p:nvSpPr>
          <p:cNvPr id="20" name="Shape 18"/>
          <p:cNvSpPr/>
          <p:nvPr/>
        </p:nvSpPr>
        <p:spPr>
          <a:xfrm>
            <a:off x="4471416" y="2871216"/>
            <a:ext cx="3291840" cy="795528"/>
          </a:xfrm>
          <a:prstGeom prst="roundRect">
            <a:avLst>
              <a:gd name="adj" fmla="val 16092"/>
            </a:avLst>
          </a:prstGeom>
          <a:solidFill>
            <a:srgbClr val="FFF4E5"/>
          </a:solidFill>
          <a:ln w="12700">
            <a:solidFill>
              <a:srgbClr val="F0D8B3"/>
            </a:solidFill>
            <a:prstDash val="solid"/>
          </a:ln>
        </p:spPr>
        <p:txBody>
          <a:bodyPr/>
          <a:p/>
        </p:txBody>
      </p:sp>
      <p:sp>
        <p:nvSpPr>
          <p:cNvPr id="21" name="Text 19"/>
          <p:cNvSpPr/>
          <p:nvPr/>
        </p:nvSpPr>
        <p:spPr>
          <a:xfrm>
            <a:off x="4581144" y="2990088"/>
            <a:ext cx="307238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Event Update</a:t>
            </a:r>
            <a:endParaRPr lang="en-US" sz="1500" dirty="0"/>
          </a:p>
        </p:txBody>
      </p:sp>
      <p:sp>
        <p:nvSpPr>
          <p:cNvPr id="22" name="Text 20"/>
          <p:cNvSpPr/>
          <p:nvPr/>
        </p:nvSpPr>
        <p:spPr>
          <a:xfrm>
            <a:off x="4608576" y="3410712"/>
            <a:ext cx="301752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Still in transit</a:t>
            </a:r>
            <a:endParaRPr lang="en-US" sz="1150" dirty="0"/>
          </a:p>
        </p:txBody>
      </p:sp>
      <p:sp>
        <p:nvSpPr>
          <p:cNvPr id="23" name="Shape 21"/>
          <p:cNvSpPr/>
          <p:nvPr/>
        </p:nvSpPr>
        <p:spPr>
          <a:xfrm>
            <a:off x="7799832" y="3374136"/>
            <a:ext cx="228600" cy="0"/>
          </a:xfrm>
          <a:prstGeom prst="line">
            <a:avLst/>
          </a:prstGeom>
          <a:noFill/>
          <a:ln w="21590">
            <a:solidFill>
              <a:srgbClr val="2866F6"/>
            </a:solidFill>
            <a:prstDash val="solid"/>
            <a:headEnd type="none"/>
            <a:tailEnd type="triangle"/>
          </a:ln>
        </p:spPr>
        <p:txBody>
          <a:bodyPr/>
          <a:p/>
        </p:txBody>
      </p:sp>
      <p:sp>
        <p:nvSpPr>
          <p:cNvPr id="24" name="Shape 22"/>
          <p:cNvSpPr/>
          <p:nvPr/>
        </p:nvSpPr>
        <p:spPr>
          <a:xfrm>
            <a:off x="8065008" y="2871216"/>
            <a:ext cx="3291840" cy="795528"/>
          </a:xfrm>
          <a:prstGeom prst="roundRect">
            <a:avLst>
              <a:gd name="adj" fmla="val 16092"/>
            </a:avLst>
          </a:prstGeom>
          <a:solidFill>
            <a:srgbClr val="FFF0F0"/>
          </a:solidFill>
          <a:ln w="12700">
            <a:solidFill>
              <a:srgbClr val="F4C8CB"/>
            </a:solidFill>
            <a:prstDash val="solid"/>
          </a:ln>
        </p:spPr>
        <p:txBody>
          <a:bodyPr/>
          <a:p/>
        </p:txBody>
      </p:sp>
      <p:sp>
        <p:nvSpPr>
          <p:cNvPr id="25" name="Text 23"/>
          <p:cNvSpPr/>
          <p:nvPr/>
        </p:nvSpPr>
        <p:spPr>
          <a:xfrm>
            <a:off x="8174736" y="2990088"/>
            <a:ext cx="307238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Read View</a:t>
            </a:r>
            <a:endParaRPr lang="en-US" sz="1500" dirty="0"/>
          </a:p>
        </p:txBody>
      </p:sp>
      <p:sp>
        <p:nvSpPr>
          <p:cNvPr id="26" name="Text 24"/>
          <p:cNvSpPr/>
          <p:nvPr/>
        </p:nvSpPr>
        <p:spPr>
          <a:xfrm>
            <a:off x="8202168" y="3410712"/>
            <a:ext cx="301752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Old status</a:t>
            </a:r>
            <a:endParaRPr lang="en-US" sz="1150" dirty="0"/>
          </a:p>
        </p:txBody>
      </p:sp>
      <p:sp>
        <p:nvSpPr>
          <p:cNvPr id="27" name="Shape 25"/>
          <p:cNvSpPr/>
          <p:nvPr/>
        </p:nvSpPr>
        <p:spPr>
          <a:xfrm>
            <a:off x="594360" y="4498848"/>
            <a:ext cx="3560064" cy="1417320"/>
          </a:xfrm>
          <a:prstGeom prst="roundRect">
            <a:avLst>
              <a:gd name="adj" fmla="val 9032"/>
            </a:avLst>
          </a:prstGeom>
          <a:solidFill>
            <a:srgbClr val="F7F9FC"/>
          </a:solidFill>
          <a:ln w="12700">
            <a:solidFill>
              <a:srgbClr val="DFE7F1"/>
            </a:solidFill>
            <a:prstDash val="solid"/>
          </a:ln>
        </p:spPr>
        <p:txBody>
          <a:bodyPr/>
          <a:p/>
        </p:txBody>
      </p:sp>
      <p:sp>
        <p:nvSpPr>
          <p:cNvPr id="28" name="Shape 26"/>
          <p:cNvSpPr/>
          <p:nvPr/>
        </p:nvSpPr>
        <p:spPr>
          <a:xfrm>
            <a:off x="594360" y="4498848"/>
            <a:ext cx="50292" cy="1417320"/>
          </a:xfrm>
          <a:prstGeom prst="rect">
            <a:avLst/>
          </a:prstGeom>
          <a:solidFill>
            <a:srgbClr val="2866F6"/>
          </a:solidFill>
          <a:ln w="12700">
            <a:solidFill>
              <a:srgbClr val="2866F6"/>
            </a:solidFill>
            <a:prstDash val="solid"/>
          </a:ln>
        </p:spPr>
        <p:txBody>
          <a:bodyPr/>
          <a:p/>
        </p:txBody>
      </p:sp>
      <p:sp>
        <p:nvSpPr>
          <p:cNvPr id="29" name="Text 27"/>
          <p:cNvSpPr/>
          <p:nvPr/>
        </p:nvSpPr>
        <p:spPr>
          <a:xfrm>
            <a:off x="768096" y="461772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Eventual consistency</a:t>
            </a:r>
            <a:endParaRPr lang="en-US" sz="1340" dirty="0"/>
          </a:p>
        </p:txBody>
      </p:sp>
      <p:sp>
        <p:nvSpPr>
          <p:cNvPr id="30" name="Text 28"/>
          <p:cNvSpPr/>
          <p:nvPr/>
        </p:nvSpPr>
        <p:spPr>
          <a:xfrm>
            <a:off x="768096" y="5001768"/>
            <a:ext cx="3221736" cy="83210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Views can briefly differ and converge once updates are successfully processed.</a:t>
            </a:r>
            <a:endParaRPr lang="en-US" sz="1230" dirty="0"/>
          </a:p>
        </p:txBody>
      </p:sp>
      <p:sp>
        <p:nvSpPr>
          <p:cNvPr id="31" name="Shape 29"/>
          <p:cNvSpPr/>
          <p:nvPr/>
        </p:nvSpPr>
        <p:spPr>
          <a:xfrm>
            <a:off x="4300728" y="4498848"/>
            <a:ext cx="3560064" cy="1417320"/>
          </a:xfrm>
          <a:prstGeom prst="roundRect">
            <a:avLst>
              <a:gd name="adj" fmla="val 9032"/>
            </a:avLst>
          </a:prstGeom>
          <a:solidFill>
            <a:srgbClr val="F7F9FC"/>
          </a:solidFill>
          <a:ln w="12700">
            <a:solidFill>
              <a:srgbClr val="DFE7F1"/>
            </a:solidFill>
            <a:prstDash val="solid"/>
          </a:ln>
        </p:spPr>
        <p:txBody>
          <a:bodyPr/>
          <a:p/>
        </p:txBody>
      </p:sp>
      <p:sp>
        <p:nvSpPr>
          <p:cNvPr id="32" name="Shape 30"/>
          <p:cNvSpPr/>
          <p:nvPr/>
        </p:nvSpPr>
        <p:spPr>
          <a:xfrm>
            <a:off x="4300728" y="4498848"/>
            <a:ext cx="50292" cy="1417320"/>
          </a:xfrm>
          <a:prstGeom prst="rect">
            <a:avLst/>
          </a:prstGeom>
          <a:solidFill>
            <a:srgbClr val="2866F6"/>
          </a:solidFill>
          <a:ln w="12700">
            <a:solidFill>
              <a:srgbClr val="2866F6"/>
            </a:solidFill>
            <a:prstDash val="solid"/>
          </a:ln>
        </p:spPr>
        <p:txBody>
          <a:bodyPr/>
          <a:p/>
        </p:txBody>
      </p:sp>
      <p:sp>
        <p:nvSpPr>
          <p:cNvPr id="33" name="Text 31"/>
          <p:cNvSpPr/>
          <p:nvPr/>
        </p:nvSpPr>
        <p:spPr>
          <a:xfrm>
            <a:off x="4474464" y="461772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Design for lag</a:t>
            </a:r>
            <a:endParaRPr lang="en-US" sz="1340" dirty="0"/>
          </a:p>
        </p:txBody>
      </p:sp>
      <p:sp>
        <p:nvSpPr>
          <p:cNvPr id="34" name="Text 32"/>
          <p:cNvSpPr/>
          <p:nvPr/>
        </p:nvSpPr>
        <p:spPr>
          <a:xfrm>
            <a:off x="4474464" y="5001768"/>
            <a:ext cx="3221736" cy="83210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Show pending/processing states; avoid claiming all work is complete.</a:t>
            </a:r>
            <a:endParaRPr lang="en-US" sz="1230" dirty="0"/>
          </a:p>
        </p:txBody>
      </p:sp>
      <p:sp>
        <p:nvSpPr>
          <p:cNvPr id="35" name="Shape 33"/>
          <p:cNvSpPr/>
          <p:nvPr/>
        </p:nvSpPr>
        <p:spPr>
          <a:xfrm>
            <a:off x="8007096" y="4498848"/>
            <a:ext cx="3560064" cy="1417320"/>
          </a:xfrm>
          <a:prstGeom prst="roundRect">
            <a:avLst>
              <a:gd name="adj" fmla="val 9032"/>
            </a:avLst>
          </a:prstGeom>
          <a:solidFill>
            <a:srgbClr val="F7F9FC"/>
          </a:solidFill>
          <a:ln w="12700">
            <a:solidFill>
              <a:srgbClr val="DFE7F1"/>
            </a:solidFill>
            <a:prstDash val="solid"/>
          </a:ln>
        </p:spPr>
        <p:txBody>
          <a:bodyPr/>
          <a:p/>
        </p:txBody>
      </p:sp>
      <p:sp>
        <p:nvSpPr>
          <p:cNvPr id="36" name="Shape 34"/>
          <p:cNvSpPr/>
          <p:nvPr/>
        </p:nvSpPr>
        <p:spPr>
          <a:xfrm>
            <a:off x="8007096" y="4498848"/>
            <a:ext cx="50292" cy="1417320"/>
          </a:xfrm>
          <a:prstGeom prst="rect">
            <a:avLst/>
          </a:prstGeom>
          <a:solidFill>
            <a:srgbClr val="2866F6"/>
          </a:solidFill>
          <a:ln w="12700">
            <a:solidFill>
              <a:srgbClr val="2866F6"/>
            </a:solidFill>
            <a:prstDash val="solid"/>
          </a:ln>
        </p:spPr>
        <p:txBody>
          <a:bodyPr/>
          <a:p/>
        </p:txBody>
      </p:sp>
      <p:sp>
        <p:nvSpPr>
          <p:cNvPr id="37" name="Text 35"/>
          <p:cNvSpPr/>
          <p:nvPr/>
        </p:nvSpPr>
        <p:spPr>
          <a:xfrm>
            <a:off x="8180832" y="461772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Use appropriate consistency</a:t>
            </a:r>
            <a:endParaRPr lang="en-US" sz="1340" dirty="0"/>
          </a:p>
        </p:txBody>
      </p:sp>
      <p:sp>
        <p:nvSpPr>
          <p:cNvPr id="38" name="Text 36"/>
          <p:cNvSpPr/>
          <p:nvPr/>
        </p:nvSpPr>
        <p:spPr>
          <a:xfrm>
            <a:off x="8180832" y="5001768"/>
            <a:ext cx="3221736" cy="83210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 dashboard can tolerate lag; critical financial invariants may not.</a:t>
            </a:r>
            <a:endParaRPr lang="en-US" sz="12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D</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The payment succeeds, but the response disappears</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The customer was charged. Order Service sees a timeout and may try the same payment again.</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REQUEST</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 Service</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Charge Rs. 2,000</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SUCCESS</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Payment Service</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Customer charged</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LOST REPLY</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Network connection</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Order never gets result</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 timeout tells the caller it stopped waiting, not whether the charge succeeded.</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Retrying the same purchase can charge the customer twice.</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17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DATA &amp; CONSISTENCY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18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Idempotency protects a repeated business action</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The same logical payment must not create duplicate charges.</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18</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D</a:t>
            </a:r>
            <a:endParaRPr lang="en-US" sz="1000" dirty="0"/>
          </a:p>
        </p:txBody>
      </p:sp>
      <p:sp>
        <p:nvSpPr>
          <p:cNvPr id="14" name="Shape 12"/>
          <p:cNvSpPr/>
          <p:nvPr/>
        </p:nvSpPr>
        <p:spPr>
          <a:xfrm>
            <a:off x="685800" y="2459736"/>
            <a:ext cx="3474720" cy="1106424"/>
          </a:xfrm>
          <a:prstGeom prst="roundRect">
            <a:avLst>
              <a:gd name="adj" fmla="val 11570"/>
            </a:avLst>
          </a:prstGeom>
          <a:solidFill>
            <a:srgbClr val="ECF3FF"/>
          </a:solidFill>
          <a:ln w="12700">
            <a:solidFill>
              <a:srgbClr val="CBDBFF"/>
            </a:solidFill>
            <a:prstDash val="solid"/>
          </a:ln>
        </p:spPr>
        <p:txBody>
          <a:bodyPr/>
          <a:p/>
        </p:txBody>
      </p:sp>
      <p:sp>
        <p:nvSpPr>
          <p:cNvPr id="15" name="Text 13"/>
          <p:cNvSpPr/>
          <p:nvPr/>
        </p:nvSpPr>
        <p:spPr>
          <a:xfrm>
            <a:off x="795528" y="2578608"/>
            <a:ext cx="325526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First request</a:t>
            </a:r>
            <a:endParaRPr lang="en-US" sz="1500" dirty="0"/>
          </a:p>
        </p:txBody>
      </p:sp>
      <p:sp>
        <p:nvSpPr>
          <p:cNvPr id="16" name="Text 14"/>
          <p:cNvSpPr/>
          <p:nvPr/>
        </p:nvSpPr>
        <p:spPr>
          <a:xfrm>
            <a:off x="822960" y="2999232"/>
            <a:ext cx="320040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Key: pay-101</a:t>
            </a:r>
            <a:endParaRPr lang="en-US" sz="1150" dirty="0"/>
          </a:p>
        </p:txBody>
      </p:sp>
      <p:sp>
        <p:nvSpPr>
          <p:cNvPr id="17" name="Shape 15"/>
          <p:cNvSpPr/>
          <p:nvPr/>
        </p:nvSpPr>
        <p:spPr>
          <a:xfrm>
            <a:off x="4197096" y="2962656"/>
            <a:ext cx="155448" cy="0"/>
          </a:xfrm>
          <a:prstGeom prst="line">
            <a:avLst/>
          </a:prstGeom>
          <a:noFill/>
          <a:ln w="21590">
            <a:solidFill>
              <a:srgbClr val="2866F6"/>
            </a:solidFill>
            <a:prstDash val="solid"/>
            <a:headEnd type="none"/>
            <a:tailEnd type="triangle"/>
          </a:ln>
        </p:spPr>
        <p:txBody>
          <a:bodyPr/>
          <a:p/>
        </p:txBody>
      </p:sp>
      <p:sp>
        <p:nvSpPr>
          <p:cNvPr id="18" name="Shape 16"/>
          <p:cNvSpPr/>
          <p:nvPr/>
        </p:nvSpPr>
        <p:spPr>
          <a:xfrm>
            <a:off x="4389120" y="2459736"/>
            <a:ext cx="3474720" cy="1106424"/>
          </a:xfrm>
          <a:prstGeom prst="roundRect">
            <a:avLst>
              <a:gd name="adj" fmla="val 11570"/>
            </a:avLst>
          </a:prstGeom>
          <a:solidFill>
            <a:srgbClr val="ECF3FF"/>
          </a:solidFill>
          <a:ln w="12700">
            <a:solidFill>
              <a:srgbClr val="CBDBFF"/>
            </a:solidFill>
            <a:prstDash val="solid"/>
          </a:ln>
        </p:spPr>
        <p:txBody>
          <a:bodyPr/>
          <a:p/>
        </p:txBody>
      </p:sp>
      <p:sp>
        <p:nvSpPr>
          <p:cNvPr id="19" name="Text 17"/>
          <p:cNvSpPr/>
          <p:nvPr/>
        </p:nvSpPr>
        <p:spPr>
          <a:xfrm>
            <a:off x="4498848" y="2578608"/>
            <a:ext cx="325526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Payment Service</a:t>
            </a:r>
            <a:endParaRPr lang="en-US" sz="1500" dirty="0"/>
          </a:p>
        </p:txBody>
      </p:sp>
      <p:sp>
        <p:nvSpPr>
          <p:cNvPr id="20" name="Text 18"/>
          <p:cNvSpPr/>
          <p:nvPr/>
        </p:nvSpPr>
        <p:spPr>
          <a:xfrm>
            <a:off x="4526280" y="2999232"/>
            <a:ext cx="320040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Charge once</a:t>
            </a:r>
            <a:endParaRPr lang="en-US" sz="1150" dirty="0"/>
          </a:p>
        </p:txBody>
      </p:sp>
      <p:sp>
        <p:nvSpPr>
          <p:cNvPr id="21" name="Shape 19"/>
          <p:cNvSpPr/>
          <p:nvPr/>
        </p:nvSpPr>
        <p:spPr>
          <a:xfrm>
            <a:off x="7900416" y="2962656"/>
            <a:ext cx="155448" cy="0"/>
          </a:xfrm>
          <a:prstGeom prst="line">
            <a:avLst/>
          </a:prstGeom>
          <a:noFill/>
          <a:ln w="21590">
            <a:solidFill>
              <a:srgbClr val="2866F6"/>
            </a:solidFill>
            <a:prstDash val="solid"/>
            <a:headEnd type="none"/>
            <a:tailEnd type="triangle"/>
          </a:ln>
        </p:spPr>
        <p:txBody>
          <a:bodyPr/>
          <a:p/>
        </p:txBody>
      </p:sp>
      <p:sp>
        <p:nvSpPr>
          <p:cNvPr id="22" name="Shape 20"/>
          <p:cNvSpPr/>
          <p:nvPr/>
        </p:nvSpPr>
        <p:spPr>
          <a:xfrm>
            <a:off x="8092440" y="2459736"/>
            <a:ext cx="3474720" cy="1106424"/>
          </a:xfrm>
          <a:prstGeom prst="roundRect">
            <a:avLst>
              <a:gd name="adj" fmla="val 11570"/>
            </a:avLst>
          </a:prstGeom>
          <a:solidFill>
            <a:srgbClr val="ECF3FF"/>
          </a:solidFill>
          <a:ln w="12700">
            <a:solidFill>
              <a:srgbClr val="CBDBFF"/>
            </a:solidFill>
            <a:prstDash val="solid"/>
          </a:ln>
        </p:spPr>
        <p:txBody>
          <a:bodyPr/>
          <a:p/>
        </p:txBody>
      </p:sp>
      <p:sp>
        <p:nvSpPr>
          <p:cNvPr id="23" name="Text 21"/>
          <p:cNvSpPr/>
          <p:nvPr/>
        </p:nvSpPr>
        <p:spPr>
          <a:xfrm>
            <a:off x="8202168" y="2578608"/>
            <a:ext cx="325526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Retry with key</a:t>
            </a:r>
            <a:endParaRPr lang="en-US" sz="1500" dirty="0"/>
          </a:p>
        </p:txBody>
      </p:sp>
      <p:sp>
        <p:nvSpPr>
          <p:cNvPr id="24" name="Text 22"/>
          <p:cNvSpPr/>
          <p:nvPr/>
        </p:nvSpPr>
        <p:spPr>
          <a:xfrm>
            <a:off x="8229600" y="2999232"/>
            <a:ext cx="320040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Return stored result</a:t>
            </a:r>
            <a:endParaRPr lang="en-US" sz="1150" dirty="0"/>
          </a:p>
        </p:txBody>
      </p:sp>
      <p:sp>
        <p:nvSpPr>
          <p:cNvPr id="25" name="Shape 23"/>
          <p:cNvSpPr/>
          <p:nvPr/>
        </p:nvSpPr>
        <p:spPr>
          <a:xfrm>
            <a:off x="749808" y="3803904"/>
            <a:ext cx="10698480" cy="539496"/>
          </a:xfrm>
          <a:prstGeom prst="roundRect">
            <a:avLst>
              <a:gd name="adj" fmla="val 22034"/>
            </a:avLst>
          </a:prstGeom>
          <a:solidFill>
            <a:srgbClr val="E7F8F3"/>
          </a:solidFill>
          <a:ln w="12700">
            <a:solidFill>
              <a:srgbClr val="B4E6DD"/>
            </a:solidFill>
            <a:prstDash val="solid"/>
          </a:ln>
        </p:spPr>
        <p:txBody>
          <a:bodyPr/>
          <a:p/>
        </p:txBody>
      </p:sp>
      <p:sp>
        <p:nvSpPr>
          <p:cNvPr id="26" name="Text 24"/>
          <p:cNvSpPr/>
          <p:nvPr/>
        </p:nvSpPr>
        <p:spPr>
          <a:xfrm>
            <a:off x="1024128" y="3950208"/>
            <a:ext cx="10104120" cy="201168"/>
          </a:xfrm>
          <a:prstGeom prst="rect">
            <a:avLst/>
          </a:prstGeom>
          <a:noFill/>
          <a:ln/>
        </p:spPr>
        <p:txBody>
          <a:bodyPr wrap="square" lIns="0" tIns="0" rIns="0" bIns="0" rtlCol="0" anchor="ctr">
            <a:normAutofit/>
          </a:bodyPr>
          <a:lstStyle/>
          <a:p>
            <a:pPr algn="ctr" indent="0" marL="0">
              <a:buNone/>
            </a:pPr>
            <a:r>
              <a:rPr lang="en-US" sz="1600" b="1" dirty="0">
                <a:solidFill>
                  <a:srgbClr val="008F83"/>
                </a:solidFill>
                <a:latin typeface="Aptos" pitchFamily="34" charset="0"/>
                <a:ea typeface="Aptos" pitchFamily="34" charset="-122"/>
                <a:cs typeface="Aptos" pitchFamily="34" charset="-120"/>
              </a:rPr>
              <a:t>Same idempotency key on every retry of ONE logical operation</a:t>
            </a:r>
            <a:endParaRPr lang="en-US" sz="1600" dirty="0"/>
          </a:p>
        </p:txBody>
      </p:sp>
      <p:sp>
        <p:nvSpPr>
          <p:cNvPr id="27" name="Shape 25"/>
          <p:cNvSpPr/>
          <p:nvPr/>
        </p:nvSpPr>
        <p:spPr>
          <a:xfrm>
            <a:off x="594360" y="4663440"/>
            <a:ext cx="3560064" cy="1426464"/>
          </a:xfrm>
          <a:prstGeom prst="roundRect">
            <a:avLst>
              <a:gd name="adj" fmla="val 8974"/>
            </a:avLst>
          </a:prstGeom>
          <a:solidFill>
            <a:srgbClr val="F7F9FC"/>
          </a:solidFill>
          <a:ln w="12700">
            <a:solidFill>
              <a:srgbClr val="DFE7F1"/>
            </a:solidFill>
            <a:prstDash val="solid"/>
          </a:ln>
        </p:spPr>
        <p:txBody>
          <a:bodyPr/>
          <a:p/>
        </p:txBody>
      </p:sp>
      <p:sp>
        <p:nvSpPr>
          <p:cNvPr id="28" name="Shape 26"/>
          <p:cNvSpPr/>
          <p:nvPr/>
        </p:nvSpPr>
        <p:spPr>
          <a:xfrm>
            <a:off x="594360" y="4663440"/>
            <a:ext cx="50292" cy="1426464"/>
          </a:xfrm>
          <a:prstGeom prst="rect">
            <a:avLst/>
          </a:prstGeom>
          <a:solidFill>
            <a:srgbClr val="2866F6"/>
          </a:solidFill>
          <a:ln w="12700">
            <a:solidFill>
              <a:srgbClr val="2866F6"/>
            </a:solidFill>
            <a:prstDash val="solid"/>
          </a:ln>
        </p:spPr>
        <p:txBody>
          <a:bodyPr/>
          <a:p/>
        </p:txBody>
      </p:sp>
      <p:sp>
        <p:nvSpPr>
          <p:cNvPr id="29" name="Text 27"/>
          <p:cNvSpPr/>
          <p:nvPr/>
        </p:nvSpPr>
        <p:spPr>
          <a:xfrm>
            <a:off x="768096" y="4782312"/>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Persist the result</a:t>
            </a:r>
            <a:endParaRPr lang="en-US" sz="1340" dirty="0"/>
          </a:p>
        </p:txBody>
      </p:sp>
      <p:sp>
        <p:nvSpPr>
          <p:cNvPr id="30" name="Text 28"/>
          <p:cNvSpPr/>
          <p:nvPr/>
        </p:nvSpPr>
        <p:spPr>
          <a:xfrm>
            <a:off x="768096" y="5166360"/>
            <a:ext cx="3221736" cy="841248"/>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Keep a durable record that a logical request was already processed.</a:t>
            </a:r>
            <a:endParaRPr lang="en-US" sz="1230" dirty="0"/>
          </a:p>
        </p:txBody>
      </p:sp>
      <p:sp>
        <p:nvSpPr>
          <p:cNvPr id="31" name="Shape 29"/>
          <p:cNvSpPr/>
          <p:nvPr/>
        </p:nvSpPr>
        <p:spPr>
          <a:xfrm>
            <a:off x="4300728" y="4663440"/>
            <a:ext cx="3560064" cy="1426464"/>
          </a:xfrm>
          <a:prstGeom prst="roundRect">
            <a:avLst>
              <a:gd name="adj" fmla="val 8974"/>
            </a:avLst>
          </a:prstGeom>
          <a:solidFill>
            <a:srgbClr val="F7F9FC"/>
          </a:solidFill>
          <a:ln w="12700">
            <a:solidFill>
              <a:srgbClr val="DFE7F1"/>
            </a:solidFill>
            <a:prstDash val="solid"/>
          </a:ln>
        </p:spPr>
        <p:txBody>
          <a:bodyPr/>
          <a:p/>
        </p:txBody>
      </p:sp>
      <p:sp>
        <p:nvSpPr>
          <p:cNvPr id="32" name="Shape 30"/>
          <p:cNvSpPr/>
          <p:nvPr/>
        </p:nvSpPr>
        <p:spPr>
          <a:xfrm>
            <a:off x="4300728" y="4663440"/>
            <a:ext cx="50292" cy="1426464"/>
          </a:xfrm>
          <a:prstGeom prst="rect">
            <a:avLst/>
          </a:prstGeom>
          <a:solidFill>
            <a:srgbClr val="2866F6"/>
          </a:solidFill>
          <a:ln w="12700">
            <a:solidFill>
              <a:srgbClr val="2866F6"/>
            </a:solidFill>
            <a:prstDash val="solid"/>
          </a:ln>
        </p:spPr>
        <p:txBody>
          <a:bodyPr/>
          <a:p/>
        </p:txBody>
      </p:sp>
      <p:sp>
        <p:nvSpPr>
          <p:cNvPr id="33" name="Text 31"/>
          <p:cNvSpPr/>
          <p:nvPr/>
        </p:nvSpPr>
        <p:spPr>
          <a:xfrm>
            <a:off x="4474464" y="4782312"/>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Atomic duplicate protection</a:t>
            </a:r>
            <a:endParaRPr lang="en-US" sz="1340" dirty="0"/>
          </a:p>
        </p:txBody>
      </p:sp>
      <p:sp>
        <p:nvSpPr>
          <p:cNvPr id="34" name="Text 32"/>
          <p:cNvSpPr/>
          <p:nvPr/>
        </p:nvSpPr>
        <p:spPr>
          <a:xfrm>
            <a:off x="4474464" y="5166360"/>
            <a:ext cx="3221736" cy="841248"/>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Concurrent retries must not both pass a check-then-charge race.</a:t>
            </a:r>
            <a:endParaRPr lang="en-US" sz="1230" dirty="0"/>
          </a:p>
        </p:txBody>
      </p:sp>
      <p:sp>
        <p:nvSpPr>
          <p:cNvPr id="35" name="Shape 33"/>
          <p:cNvSpPr/>
          <p:nvPr/>
        </p:nvSpPr>
        <p:spPr>
          <a:xfrm>
            <a:off x="8007096" y="4663440"/>
            <a:ext cx="3560064" cy="1426464"/>
          </a:xfrm>
          <a:prstGeom prst="roundRect">
            <a:avLst>
              <a:gd name="adj" fmla="val 8974"/>
            </a:avLst>
          </a:prstGeom>
          <a:solidFill>
            <a:srgbClr val="F7F9FC"/>
          </a:solidFill>
          <a:ln w="12700">
            <a:solidFill>
              <a:srgbClr val="DFE7F1"/>
            </a:solidFill>
            <a:prstDash val="solid"/>
          </a:ln>
        </p:spPr>
        <p:txBody>
          <a:bodyPr/>
          <a:p/>
        </p:txBody>
      </p:sp>
      <p:sp>
        <p:nvSpPr>
          <p:cNvPr id="36" name="Shape 34"/>
          <p:cNvSpPr/>
          <p:nvPr/>
        </p:nvSpPr>
        <p:spPr>
          <a:xfrm>
            <a:off x="8007096" y="4663440"/>
            <a:ext cx="50292" cy="1426464"/>
          </a:xfrm>
          <a:prstGeom prst="rect">
            <a:avLst/>
          </a:prstGeom>
          <a:solidFill>
            <a:srgbClr val="2866F6"/>
          </a:solidFill>
          <a:ln w="12700">
            <a:solidFill>
              <a:srgbClr val="2866F6"/>
            </a:solidFill>
            <a:prstDash val="solid"/>
          </a:ln>
        </p:spPr>
        <p:txBody>
          <a:bodyPr/>
          <a:p/>
        </p:txBody>
      </p:sp>
      <p:sp>
        <p:nvSpPr>
          <p:cNvPr id="37" name="Text 35"/>
          <p:cNvSpPr/>
          <p:nvPr/>
        </p:nvSpPr>
        <p:spPr>
          <a:xfrm>
            <a:off x="8180832" y="4782312"/>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Check request details</a:t>
            </a:r>
            <a:endParaRPr lang="en-US" sz="1340" dirty="0"/>
          </a:p>
        </p:txBody>
      </p:sp>
      <p:sp>
        <p:nvSpPr>
          <p:cNvPr id="38" name="Text 36"/>
          <p:cNvSpPr/>
          <p:nvPr/>
        </p:nvSpPr>
        <p:spPr>
          <a:xfrm>
            <a:off x="8180832" y="5166360"/>
            <a:ext cx="3221736" cy="841248"/>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Reuse a key only for the same action and parameters.</a:t>
            </a:r>
            <a:endParaRPr lang="en-US" sz="12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DATA &amp; CONSISTENCY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20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sz="2900" b="1">
                <a:latin typeface="Aptos"/>
              </a:rPr>
              <a:t>Delivery semantics: protect against duplicate effects</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sz="1400">
                <a:latin typeface="Aptos"/>
              </a:rPr>
              <a:t>Message brokers may redeliver work; the application must handle repeats safely.</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20</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E</a:t>
            </a:r>
            <a:endParaRPr lang="en-US" sz="1000" dirty="0"/>
          </a:p>
        </p:txBody>
      </p:sp>
      <p:sp>
        <p:nvSpPr>
          <p:cNvPr id="14" name="Shape 12"/>
          <p:cNvSpPr/>
          <p:nvPr/>
        </p:nvSpPr>
        <p:spPr>
          <a:xfrm>
            <a:off x="566928" y="2221992"/>
            <a:ext cx="11036808" cy="731520"/>
          </a:xfrm>
          <a:prstGeom prst="roundRect">
            <a:avLst>
              <a:gd name="adj" fmla="val 16250"/>
            </a:avLst>
          </a:prstGeom>
          <a:solidFill>
            <a:srgbClr val="FFF0F0"/>
          </a:solidFill>
          <a:ln w="12700">
            <a:solidFill>
              <a:srgbClr val="F4C8CB"/>
            </a:solidFill>
            <a:prstDash val="solid"/>
          </a:ln>
        </p:spPr>
        <p:txBody>
          <a:bodyPr/>
          <a:p/>
        </p:txBody>
      </p:sp>
      <p:sp>
        <p:nvSpPr>
          <p:cNvPr id="15" name="Text 13"/>
          <p:cNvSpPr/>
          <p:nvPr/>
        </p:nvSpPr>
        <p:spPr>
          <a:xfrm>
            <a:off x="795528" y="2441448"/>
            <a:ext cx="10497312" cy="237744"/>
          </a:xfrm>
          <a:prstGeom prst="rect">
            <a:avLst/>
          </a:prstGeom>
          <a:noFill/>
          <a:ln/>
        </p:spPr>
        <p:txBody>
          <a:bodyPr wrap="square" lIns="0" tIns="0" rIns="0" bIns="0" rtlCol="0" anchor="ctr">
            <a:normAutofit/>
          </a:bodyPr>
          <a:lstStyle/>
          <a:p>
            <a:pPr algn="ctr" indent="0" marL="0">
              <a:buNone/>
            </a:pPr>
            <a:r>
              <a:rPr lang="en-US" sz="1700" b="1" dirty="0">
                <a:solidFill>
                  <a:srgbClr val="A92D39"/>
                </a:solidFill>
                <a:latin typeface="Aptos" pitchFamily="34" charset="0"/>
                <a:ea typeface="Aptos" pitchFamily="34" charset="-122"/>
                <a:cs typeface="Aptos" pitchFamily="34" charset="-120"/>
              </a:rPr>
              <a:t>Event processed  →  Worker crashes before ACK  →  Broker redelivers</a:t>
            </a:r>
            <a:endParaRPr lang="en-US" sz="1700" dirty="0"/>
          </a:p>
        </p:txBody>
      </p:sp>
      <p:sp>
        <p:nvSpPr>
          <p:cNvPr id="16" name="Shape 14"/>
          <p:cNvSpPr/>
          <p:nvPr/>
        </p:nvSpPr>
        <p:spPr>
          <a:xfrm>
            <a:off x="594360" y="3264408"/>
            <a:ext cx="3560064" cy="1892808"/>
          </a:xfrm>
          <a:prstGeom prst="roundRect">
            <a:avLst>
              <a:gd name="adj" fmla="val 6763"/>
            </a:avLst>
          </a:prstGeom>
          <a:solidFill>
            <a:srgbClr val="F7F9FC"/>
          </a:solidFill>
          <a:ln w="12700">
            <a:solidFill>
              <a:srgbClr val="DFE7F1"/>
            </a:solidFill>
            <a:prstDash val="solid"/>
          </a:ln>
        </p:spPr>
        <p:txBody>
          <a:bodyPr/>
          <a:p/>
        </p:txBody>
      </p:sp>
      <p:sp>
        <p:nvSpPr>
          <p:cNvPr id="17" name="Shape 15"/>
          <p:cNvSpPr/>
          <p:nvPr/>
        </p:nvSpPr>
        <p:spPr>
          <a:xfrm>
            <a:off x="594360" y="3264408"/>
            <a:ext cx="50292" cy="1892808"/>
          </a:xfrm>
          <a:prstGeom prst="rect">
            <a:avLst/>
          </a:prstGeom>
          <a:solidFill>
            <a:srgbClr val="2866F6"/>
          </a:solidFill>
          <a:ln w="12700">
            <a:solidFill>
              <a:srgbClr val="2866F6"/>
            </a:solidFill>
            <a:prstDash val="solid"/>
          </a:ln>
        </p:spPr>
        <p:txBody>
          <a:bodyPr/>
          <a:p/>
        </p:txBody>
      </p:sp>
      <p:sp>
        <p:nvSpPr>
          <p:cNvPr id="18" name="Text 16"/>
          <p:cNvSpPr/>
          <p:nvPr/>
        </p:nvSpPr>
        <p:spPr>
          <a:xfrm>
            <a:off x="768096" y="338328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AT-MOST-ONCE</a:t>
            </a:r>
            <a:endParaRPr lang="en-US" sz="1340" dirty="0"/>
          </a:p>
        </p:txBody>
      </p:sp>
      <p:sp>
        <p:nvSpPr>
          <p:cNvPr id="19" name="Text 17"/>
          <p:cNvSpPr/>
          <p:nvPr/>
        </p:nvSpPr>
        <p:spPr>
          <a:xfrm>
            <a:off x="768096" y="3767328"/>
            <a:ext cx="3221736" cy="130759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May lose work; a message is not redelivered.</a:t>
            </a:r>
            <a:endParaRPr lang="en-US" sz="1230" dirty="0"/>
          </a:p>
        </p:txBody>
      </p:sp>
      <p:sp>
        <p:nvSpPr>
          <p:cNvPr id="20" name="Shape 18"/>
          <p:cNvSpPr/>
          <p:nvPr/>
        </p:nvSpPr>
        <p:spPr>
          <a:xfrm>
            <a:off x="4300728" y="3264408"/>
            <a:ext cx="3560064" cy="1892808"/>
          </a:xfrm>
          <a:prstGeom prst="roundRect">
            <a:avLst>
              <a:gd name="adj" fmla="val 6763"/>
            </a:avLst>
          </a:prstGeom>
          <a:solidFill>
            <a:srgbClr val="F7F9FC"/>
          </a:solidFill>
          <a:ln w="12700">
            <a:solidFill>
              <a:srgbClr val="DFE7F1"/>
            </a:solidFill>
            <a:prstDash val="solid"/>
          </a:ln>
        </p:spPr>
        <p:txBody>
          <a:bodyPr/>
          <a:p/>
        </p:txBody>
      </p:sp>
      <p:sp>
        <p:nvSpPr>
          <p:cNvPr id="21" name="Shape 19"/>
          <p:cNvSpPr/>
          <p:nvPr/>
        </p:nvSpPr>
        <p:spPr>
          <a:xfrm>
            <a:off x="4300728" y="3264408"/>
            <a:ext cx="50292" cy="1892808"/>
          </a:xfrm>
          <a:prstGeom prst="rect">
            <a:avLst/>
          </a:prstGeom>
          <a:solidFill>
            <a:srgbClr val="2866F6"/>
          </a:solidFill>
          <a:ln w="12700">
            <a:solidFill>
              <a:srgbClr val="2866F6"/>
            </a:solidFill>
            <a:prstDash val="solid"/>
          </a:ln>
        </p:spPr>
        <p:txBody>
          <a:bodyPr/>
          <a:p/>
        </p:txBody>
      </p:sp>
      <p:sp>
        <p:nvSpPr>
          <p:cNvPr id="22" name="Text 20"/>
          <p:cNvSpPr/>
          <p:nvPr/>
        </p:nvSpPr>
        <p:spPr>
          <a:xfrm>
            <a:off x="4474464" y="338328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AT-LEAST-ONCE</a:t>
            </a:r>
            <a:endParaRPr lang="en-US" sz="1340" dirty="0"/>
          </a:p>
        </p:txBody>
      </p:sp>
      <p:sp>
        <p:nvSpPr>
          <p:cNvPr id="23" name="Text 21"/>
          <p:cNvSpPr/>
          <p:nvPr/>
        </p:nvSpPr>
        <p:spPr>
          <a:xfrm>
            <a:off x="4474464" y="3767328"/>
            <a:ext cx="3221736" cy="130759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Redelivery reduces loss risk but can repeat a side effect.</a:t>
            </a:r>
            <a:endParaRPr lang="en-US" sz="1230" dirty="0"/>
          </a:p>
        </p:txBody>
      </p:sp>
      <p:sp>
        <p:nvSpPr>
          <p:cNvPr id="24" name="Shape 22"/>
          <p:cNvSpPr/>
          <p:nvPr/>
        </p:nvSpPr>
        <p:spPr>
          <a:xfrm>
            <a:off x="8007096" y="3264408"/>
            <a:ext cx="3560064" cy="1892808"/>
          </a:xfrm>
          <a:prstGeom prst="roundRect">
            <a:avLst>
              <a:gd name="adj" fmla="val 6763"/>
            </a:avLst>
          </a:prstGeom>
          <a:solidFill>
            <a:srgbClr val="F7F9FC"/>
          </a:solidFill>
          <a:ln w="12700">
            <a:solidFill>
              <a:srgbClr val="DFE7F1"/>
            </a:solidFill>
            <a:prstDash val="solid"/>
          </a:ln>
        </p:spPr>
        <p:txBody>
          <a:bodyPr/>
          <a:p/>
        </p:txBody>
      </p:sp>
      <p:sp>
        <p:nvSpPr>
          <p:cNvPr id="25" name="Shape 23"/>
          <p:cNvSpPr/>
          <p:nvPr/>
        </p:nvSpPr>
        <p:spPr>
          <a:xfrm>
            <a:off x="8007096" y="3264408"/>
            <a:ext cx="50292" cy="1892808"/>
          </a:xfrm>
          <a:prstGeom prst="rect">
            <a:avLst/>
          </a:prstGeom>
          <a:solidFill>
            <a:srgbClr val="2866F6"/>
          </a:solidFill>
          <a:ln w="12700">
            <a:solidFill>
              <a:srgbClr val="2866F6"/>
            </a:solidFill>
            <a:prstDash val="solid"/>
          </a:ln>
        </p:spPr>
        <p:txBody>
          <a:bodyPr/>
          <a:p/>
        </p:txBody>
      </p:sp>
      <p:sp>
        <p:nvSpPr>
          <p:cNvPr id="26" name="Text 24"/>
          <p:cNvSpPr/>
          <p:nvPr/>
        </p:nvSpPr>
        <p:spPr>
          <a:xfrm>
            <a:off x="8180832" y="338328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EXACTLY-ONCE EFFECT</a:t>
            </a:r>
            <a:endParaRPr lang="en-US" sz="1340" dirty="0"/>
          </a:p>
        </p:txBody>
      </p:sp>
      <p:sp>
        <p:nvSpPr>
          <p:cNvPr id="27" name="Text 25"/>
          <p:cNvSpPr/>
          <p:nvPr/>
        </p:nvSpPr>
        <p:spPr>
          <a:xfrm>
            <a:off x="8180832" y="3767328"/>
            <a:ext cx="3221736" cy="130759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Duplicate delivery must not repeat the protected business effect.</a:t>
            </a:r>
            <a:endParaRPr lang="en-US" sz="1230" dirty="0"/>
          </a:p>
        </p:txBody>
      </p:sp>
      <p:sp>
        <p:nvSpPr>
          <p:cNvPr id="28" name="Shape 26"/>
          <p:cNvSpPr/>
          <p:nvPr/>
        </p:nvSpPr>
        <p:spPr>
          <a:xfrm>
            <a:off x="585216" y="5431536"/>
            <a:ext cx="10972800" cy="448056"/>
          </a:xfrm>
          <a:prstGeom prst="roundRect">
            <a:avLst>
              <a:gd name="adj" fmla="val 26531"/>
            </a:avLst>
          </a:prstGeom>
          <a:solidFill>
            <a:srgbClr val="E7F8F3"/>
          </a:solidFill>
          <a:ln w="12700">
            <a:solidFill>
              <a:srgbClr val="B4E6DD"/>
            </a:solidFill>
            <a:prstDash val="solid"/>
          </a:ln>
        </p:spPr>
        <p:txBody>
          <a:bodyPr/>
          <a:p/>
        </p:txBody>
      </p:sp>
      <p:sp>
        <p:nvSpPr>
          <p:cNvPr id="29" name="Text 27"/>
          <p:cNvSpPr/>
          <p:nvPr/>
        </p:nvSpPr>
        <p:spPr>
          <a:xfrm>
            <a:off x="758952" y="5559552"/>
            <a:ext cx="10588752" cy="155448"/>
          </a:xfrm>
          <a:prstGeom prst="rect">
            <a:avLst/>
          </a:prstGeom>
          <a:noFill/>
          <a:ln/>
        </p:spPr>
        <p:txBody>
          <a:bodyPr wrap="square" lIns="0" tIns="0" rIns="0" bIns="0" rtlCol="0" anchor="ctr">
            <a:normAutofit/>
          </a:bodyPr>
          <a:lstStyle/>
          <a:p>
            <a:pPr algn="ctr" indent="0" marL="0">
              <a:buNone/>
            </a:pPr>
            <a:r>
              <a:rPr lang="en-US" sz="1240" b="1" dirty="0">
                <a:solidFill>
                  <a:srgbClr val="008F83"/>
                </a:solidFill>
                <a:latin typeface="Aptos" pitchFamily="34" charset="0"/>
                <a:ea typeface="Aptos" pitchFamily="34" charset="-122"/>
                <a:cs typeface="Aptos" pitchFamily="34" charset="-120"/>
              </a:rPr>
              <a:t>RabbitMQ uses acknowledgments; Kafka uses committed offsets. Neither alone prevents every duplicate business action.</a:t>
            </a:r>
            <a:endParaRPr lang="en-US" sz="12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D84148"/>
          </a:solidFill>
          <a:ln w="12700">
            <a:solidFill>
              <a:srgbClr val="D84148"/>
            </a:solidFill>
            <a:prstDash val="solid"/>
          </a:ln>
        </p:spPr>
        <p:txBody>
          <a:bodyPr/>
          <a:p/>
        </p:txBody>
      </p:sp>
      <p:sp>
        <p:nvSpPr>
          <p:cNvPr id="3" name="Shape 1"/>
          <p:cNvSpPr/>
          <p:nvPr/>
        </p:nvSpPr>
        <p:spPr>
          <a:xfrm>
            <a:off x="512064" y="310896"/>
            <a:ext cx="91440" cy="91440"/>
          </a:xfrm>
          <a:prstGeom prst="ellipse">
            <a:avLst/>
          </a:prstGeom>
          <a:solidFill>
            <a:srgbClr val="D84148"/>
          </a:solidFill>
          <a:ln w="12700">
            <a:solidFill>
              <a:srgbClr val="D84148"/>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sz="1000" b="1">
                <a:solidFill>
                  <a:srgbClr val="2866F6"/>
                </a:solidFill>
                <a:latin typeface="Aptos"/>
              </a:rPr>
              <a:t>DATA &amp; CONSISTENCY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22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sz="3050" b="1">
                <a:latin typeface="Aptos"/>
              </a:rPr>
              <a:t>CAP: consistency and availability during a partition</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sz="1400">
                <a:latin typeface="Aptos"/>
              </a:rPr>
              <a:t>Separated replicas must make a trade-off when they cannot coordinate.</a:t>
            </a:r>
            <a:endParaRPr lang="en-US" sz="1400" dirty="0"/>
          </a:p>
        </p:txBody>
      </p:sp>
      <p:sp>
        <p:nvSpPr>
          <p:cNvPr id="8" name="Shape 6"/>
          <p:cNvSpPr/>
          <p:nvPr/>
        </p:nvSpPr>
        <p:spPr>
          <a:xfrm>
            <a:off x="530352" y="1773936"/>
            <a:ext cx="11155680" cy="0"/>
          </a:xfrm>
          <a:prstGeom prst="line">
            <a:avLst/>
          </a:prstGeom>
          <a:noFill/>
          <a:ln w="12700">
            <a:solidFill>
              <a:srgbClr val="F4C8CB"/>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22</a:t>
            </a:r>
            <a:endParaRPr lang="en-US" sz="850" dirty="0"/>
          </a:p>
        </p:txBody>
      </p:sp>
      <p:sp>
        <p:nvSpPr>
          <p:cNvPr id="12" name="Shape 10"/>
          <p:cNvSpPr/>
          <p:nvPr/>
        </p:nvSpPr>
        <p:spPr>
          <a:xfrm>
            <a:off x="9948672" y="1938528"/>
            <a:ext cx="1664208" cy="274320"/>
          </a:xfrm>
          <a:prstGeom prst="roundRect">
            <a:avLst>
              <a:gd name="adj" fmla="val 40000"/>
            </a:avLst>
          </a:prstGeom>
          <a:solidFill>
            <a:srgbClr val="FFF0F0"/>
          </a:solidFill>
          <a:ln w="12700">
            <a:solidFill>
              <a:srgbClr val="FFF0F0"/>
            </a:solidFill>
            <a:prstDash val="solid"/>
          </a:ln>
        </p:spPr>
        <p:txBody>
          <a:bodyPr/>
          <a:p/>
        </p:txBody>
      </p:sp>
      <p:sp>
        <p:nvSpPr>
          <p:cNvPr id="13" name="Text 11"/>
          <p:cNvSpPr/>
          <p:nvPr/>
        </p:nvSpPr>
        <p:spPr>
          <a:xfrm>
            <a:off x="10049256" y="1965960"/>
            <a:ext cx="1463040"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F</a:t>
            </a:r>
            <a:endParaRPr lang="en-US" sz="1000" dirty="0"/>
          </a:p>
        </p:txBody>
      </p:sp>
      <p:sp>
        <p:nvSpPr>
          <p:cNvPr id="14" name="Shape 12"/>
          <p:cNvSpPr/>
          <p:nvPr/>
        </p:nvSpPr>
        <p:spPr>
          <a:xfrm>
            <a:off x="603504" y="2240280"/>
            <a:ext cx="10991088" cy="1892808"/>
          </a:xfrm>
          <a:prstGeom prst="roundRect">
            <a:avLst>
              <a:gd name="adj" fmla="val 6280"/>
            </a:avLst>
          </a:prstGeom>
          <a:solidFill>
            <a:srgbClr val="FFF0F0"/>
          </a:solidFill>
          <a:ln w="12700">
            <a:solidFill>
              <a:srgbClr val="F4C8CB"/>
            </a:solidFill>
            <a:prstDash val="solid"/>
          </a:ln>
        </p:spPr>
        <p:txBody>
          <a:bodyPr/>
          <a:p/>
        </p:txBody>
      </p:sp>
      <p:sp>
        <p:nvSpPr>
          <p:cNvPr id="15" name="Shape 13"/>
          <p:cNvSpPr/>
          <p:nvPr/>
        </p:nvSpPr>
        <p:spPr>
          <a:xfrm>
            <a:off x="1188720" y="2633472"/>
            <a:ext cx="3108960" cy="795528"/>
          </a:xfrm>
          <a:prstGeom prst="roundRect">
            <a:avLst>
              <a:gd name="adj" fmla="val 14943"/>
            </a:avLst>
          </a:prstGeom>
          <a:solidFill>
            <a:srgbClr val="FFFFFF"/>
          </a:solidFill>
          <a:ln w="12700">
            <a:solidFill>
              <a:srgbClr val="F4C8CB"/>
            </a:solidFill>
            <a:prstDash val="solid"/>
          </a:ln>
        </p:spPr>
        <p:txBody>
          <a:bodyPr/>
          <a:p/>
        </p:txBody>
      </p:sp>
      <p:sp>
        <p:nvSpPr>
          <p:cNvPr id="16" name="Text 14"/>
          <p:cNvSpPr/>
          <p:nvPr/>
        </p:nvSpPr>
        <p:spPr>
          <a:xfrm>
            <a:off x="1335024" y="2862072"/>
            <a:ext cx="2816352" cy="246888"/>
          </a:xfrm>
          <a:prstGeom prst="rect">
            <a:avLst/>
          </a:prstGeom>
          <a:noFill/>
          <a:ln/>
        </p:spPr>
        <p:txBody>
          <a:bodyPr wrap="square" lIns="0" tIns="0" rIns="0" bIns="0" rtlCol="0" anchor="ctr">
            <a:normAutofit/>
          </a:bodyPr>
          <a:lstStyle/>
          <a:p>
            <a:pPr algn="ctr" indent="0" marL="0">
              <a:buNone/>
            </a:pPr>
            <a:r>
              <a:rPr lang="en-US" sz="1800" b="1" dirty="0">
                <a:solidFill>
                  <a:srgbClr val="122239"/>
                </a:solidFill>
                <a:latin typeface="Aptos" pitchFamily="34" charset="0"/>
                <a:ea typeface="Aptos" pitchFamily="34" charset="-122"/>
                <a:cs typeface="Aptos" pitchFamily="34" charset="-120"/>
              </a:rPr>
              <a:t>Replica A</a:t>
            </a:r>
            <a:endParaRPr lang="en-US" sz="1800" dirty="0"/>
          </a:p>
        </p:txBody>
      </p:sp>
      <p:sp>
        <p:nvSpPr>
          <p:cNvPr id="17" name="Shape 15"/>
          <p:cNvSpPr/>
          <p:nvPr/>
        </p:nvSpPr>
        <p:spPr>
          <a:xfrm>
            <a:off x="7882128" y="2633472"/>
            <a:ext cx="3108960" cy="795528"/>
          </a:xfrm>
          <a:prstGeom prst="roundRect">
            <a:avLst>
              <a:gd name="adj" fmla="val 14943"/>
            </a:avLst>
          </a:prstGeom>
          <a:solidFill>
            <a:srgbClr val="FFFFFF"/>
          </a:solidFill>
          <a:ln w="12700">
            <a:solidFill>
              <a:srgbClr val="F4C8CB"/>
            </a:solidFill>
            <a:prstDash val="solid"/>
          </a:ln>
        </p:spPr>
        <p:txBody>
          <a:bodyPr/>
          <a:p/>
        </p:txBody>
      </p:sp>
      <p:sp>
        <p:nvSpPr>
          <p:cNvPr id="18" name="Text 16"/>
          <p:cNvSpPr/>
          <p:nvPr/>
        </p:nvSpPr>
        <p:spPr>
          <a:xfrm>
            <a:off x="8037576" y="2862072"/>
            <a:ext cx="2816352" cy="246888"/>
          </a:xfrm>
          <a:prstGeom prst="rect">
            <a:avLst/>
          </a:prstGeom>
          <a:noFill/>
          <a:ln/>
        </p:spPr>
        <p:txBody>
          <a:bodyPr wrap="square" lIns="0" tIns="0" rIns="0" bIns="0" rtlCol="0" anchor="ctr">
            <a:normAutofit/>
          </a:bodyPr>
          <a:lstStyle/>
          <a:p>
            <a:pPr algn="ctr" indent="0" marL="0">
              <a:buNone/>
            </a:pPr>
            <a:r>
              <a:rPr lang="en-US" sz="1800" b="1" dirty="0">
                <a:solidFill>
                  <a:srgbClr val="122239"/>
                </a:solidFill>
                <a:latin typeface="Aptos" pitchFamily="34" charset="0"/>
                <a:ea typeface="Aptos" pitchFamily="34" charset="-122"/>
                <a:cs typeface="Aptos" pitchFamily="34" charset="-120"/>
              </a:rPr>
              <a:t>Replica B</a:t>
            </a:r>
            <a:endParaRPr lang="en-US" sz="1800" dirty="0"/>
          </a:p>
        </p:txBody>
      </p:sp>
      <p:sp>
        <p:nvSpPr>
          <p:cNvPr id="19" name="Shape 17"/>
          <p:cNvSpPr/>
          <p:nvPr/>
        </p:nvSpPr>
        <p:spPr>
          <a:xfrm>
            <a:off x="4416552" y="3017520"/>
            <a:ext cx="3264408" cy="0"/>
          </a:xfrm>
          <a:prstGeom prst="line">
            <a:avLst/>
          </a:prstGeom>
          <a:noFill/>
          <a:ln w="25400">
            <a:solidFill>
              <a:srgbClr val="D84148"/>
            </a:solidFill>
            <a:prstDash val="dash"/>
            <a:headEnd type="none"/>
            <a:tailEnd type="none"/>
          </a:ln>
        </p:spPr>
        <p:txBody>
          <a:bodyPr/>
          <a:p/>
        </p:txBody>
      </p:sp>
      <p:sp>
        <p:nvSpPr>
          <p:cNvPr id="20" name="Text 18"/>
          <p:cNvSpPr/>
          <p:nvPr/>
        </p:nvSpPr>
        <p:spPr>
          <a:xfrm>
            <a:off x="4791456" y="2551176"/>
            <a:ext cx="2660904" cy="283464"/>
          </a:xfrm>
          <a:prstGeom prst="rect">
            <a:avLst/>
          </a:prstGeom>
          <a:noFill/>
          <a:ln/>
        </p:spPr>
        <p:txBody>
          <a:bodyPr wrap="square" lIns="0" tIns="0" rIns="0" bIns="0" rtlCol="0" anchor="ctr">
            <a:normAutofit/>
          </a:bodyPr>
          <a:lstStyle/>
          <a:p>
            <a:pPr algn="ctr" indent="0" marL="0">
              <a:buNone/>
            </a:pPr>
            <a:r>
              <a:rPr lang="en-US" sz="1200" b="1" dirty="0">
                <a:solidFill>
                  <a:srgbClr val="D84148"/>
                </a:solidFill>
                <a:latin typeface="Aptos" pitchFamily="34" charset="0"/>
                <a:ea typeface="Aptos" pitchFamily="34" charset="-122"/>
                <a:cs typeface="Aptos" pitchFamily="34" charset="-120"/>
              </a:rPr>
              <a:t>NETWORK PARTITION</a:t>
            </a:r>
            <a:endParaRPr lang="en-US" sz="1200" dirty="0"/>
          </a:p>
        </p:txBody>
      </p:sp>
      <p:sp>
        <p:nvSpPr>
          <p:cNvPr id="21" name="Text 19"/>
          <p:cNvSpPr/>
          <p:nvPr/>
        </p:nvSpPr>
        <p:spPr>
          <a:xfrm>
            <a:off x="5879592" y="2834640"/>
            <a:ext cx="448056" cy="374904"/>
          </a:xfrm>
          <a:prstGeom prst="rect">
            <a:avLst/>
          </a:prstGeom>
          <a:noFill/>
          <a:ln/>
        </p:spPr>
        <p:txBody>
          <a:bodyPr wrap="square" lIns="0" tIns="0" rIns="0" bIns="0" rtlCol="0" anchor="ctr">
            <a:normAutofit/>
          </a:bodyPr>
          <a:lstStyle/>
          <a:p>
            <a:pPr algn="ctr" indent="0" marL="0">
              <a:buNone/>
            </a:pPr>
            <a:r>
              <a:rPr lang="en-US" sz="2800" b="1" dirty="0">
                <a:solidFill>
                  <a:srgbClr val="D84148"/>
                </a:solidFill>
                <a:latin typeface="Aptos" pitchFamily="34" charset="0"/>
                <a:ea typeface="Aptos" pitchFamily="34" charset="-122"/>
                <a:cs typeface="Aptos" pitchFamily="34" charset="-120"/>
              </a:rPr>
              <a:t>X</a:t>
            </a:r>
            <a:endParaRPr lang="en-US" sz="2800" dirty="0"/>
          </a:p>
        </p:txBody>
      </p:sp>
      <p:sp>
        <p:nvSpPr>
          <p:cNvPr id="22" name="Shape 20"/>
          <p:cNvSpPr/>
          <p:nvPr/>
        </p:nvSpPr>
        <p:spPr>
          <a:xfrm>
            <a:off x="594360" y="4471416"/>
            <a:ext cx="3560064" cy="1444752"/>
          </a:xfrm>
          <a:prstGeom prst="roundRect">
            <a:avLst>
              <a:gd name="adj" fmla="val 8861"/>
            </a:avLst>
          </a:prstGeom>
          <a:solidFill>
            <a:srgbClr val="F7F9FC"/>
          </a:solidFill>
          <a:ln w="12700">
            <a:solidFill>
              <a:srgbClr val="DFE7F1"/>
            </a:solidFill>
            <a:prstDash val="solid"/>
          </a:ln>
        </p:spPr>
        <p:txBody>
          <a:bodyPr/>
          <a:p/>
        </p:txBody>
      </p:sp>
      <p:sp>
        <p:nvSpPr>
          <p:cNvPr id="23" name="Shape 21"/>
          <p:cNvSpPr/>
          <p:nvPr/>
        </p:nvSpPr>
        <p:spPr>
          <a:xfrm>
            <a:off x="594360" y="4471416"/>
            <a:ext cx="50292" cy="1444752"/>
          </a:xfrm>
          <a:prstGeom prst="rect">
            <a:avLst/>
          </a:prstGeom>
          <a:solidFill>
            <a:srgbClr val="2866F6"/>
          </a:solidFill>
          <a:ln w="12700">
            <a:solidFill>
              <a:srgbClr val="2866F6"/>
            </a:solidFill>
            <a:prstDash val="solid"/>
          </a:ln>
        </p:spPr>
        <p:txBody>
          <a:bodyPr/>
          <a:p/>
        </p:txBody>
      </p:sp>
      <p:sp>
        <p:nvSpPr>
          <p:cNvPr id="24" name="Text 22"/>
          <p:cNvSpPr/>
          <p:nvPr/>
        </p:nvSpPr>
        <p:spPr>
          <a:xfrm>
            <a:off x="768096" y="4590288"/>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CONSISTENCY-FIRST</a:t>
            </a:r>
            <a:endParaRPr lang="en-US" sz="1340" dirty="0"/>
          </a:p>
        </p:txBody>
      </p:sp>
      <p:sp>
        <p:nvSpPr>
          <p:cNvPr id="25" name="Text 23"/>
          <p:cNvSpPr/>
          <p:nvPr/>
        </p:nvSpPr>
        <p:spPr>
          <a:xfrm>
            <a:off x="768096" y="4974336"/>
            <a:ext cx="3221736" cy="85953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Some operations wait or fail rather than return conflicting results.</a:t>
            </a:r>
            <a:endParaRPr lang="en-US" sz="1230" dirty="0"/>
          </a:p>
        </p:txBody>
      </p:sp>
      <p:sp>
        <p:nvSpPr>
          <p:cNvPr id="26" name="Shape 24"/>
          <p:cNvSpPr/>
          <p:nvPr/>
        </p:nvSpPr>
        <p:spPr>
          <a:xfrm>
            <a:off x="4300728" y="4471416"/>
            <a:ext cx="3560064" cy="1444752"/>
          </a:xfrm>
          <a:prstGeom prst="roundRect">
            <a:avLst>
              <a:gd name="adj" fmla="val 8861"/>
            </a:avLst>
          </a:prstGeom>
          <a:solidFill>
            <a:srgbClr val="F7F9FC"/>
          </a:solidFill>
          <a:ln w="12700">
            <a:solidFill>
              <a:srgbClr val="DFE7F1"/>
            </a:solidFill>
            <a:prstDash val="solid"/>
          </a:ln>
        </p:spPr>
        <p:txBody>
          <a:bodyPr/>
          <a:p/>
        </p:txBody>
      </p:sp>
      <p:sp>
        <p:nvSpPr>
          <p:cNvPr id="27" name="Shape 25"/>
          <p:cNvSpPr/>
          <p:nvPr/>
        </p:nvSpPr>
        <p:spPr>
          <a:xfrm>
            <a:off x="4300728" y="4471416"/>
            <a:ext cx="50292" cy="1444752"/>
          </a:xfrm>
          <a:prstGeom prst="rect">
            <a:avLst/>
          </a:prstGeom>
          <a:solidFill>
            <a:srgbClr val="2866F6"/>
          </a:solidFill>
          <a:ln w="12700">
            <a:solidFill>
              <a:srgbClr val="2866F6"/>
            </a:solidFill>
            <a:prstDash val="solid"/>
          </a:ln>
        </p:spPr>
        <p:txBody>
          <a:bodyPr/>
          <a:p/>
        </p:txBody>
      </p:sp>
      <p:sp>
        <p:nvSpPr>
          <p:cNvPr id="28" name="Text 26"/>
          <p:cNvSpPr/>
          <p:nvPr/>
        </p:nvSpPr>
        <p:spPr>
          <a:xfrm>
            <a:off x="4474464" y="4590288"/>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AVAILABILITY-FIRST</a:t>
            </a:r>
            <a:endParaRPr lang="en-US" sz="1340" dirty="0"/>
          </a:p>
        </p:txBody>
      </p:sp>
      <p:sp>
        <p:nvSpPr>
          <p:cNvPr id="29" name="Text 27"/>
          <p:cNvSpPr/>
          <p:nvPr/>
        </p:nvSpPr>
        <p:spPr>
          <a:xfrm>
            <a:off x="4474464" y="4974336"/>
            <a:ext cx="3221736" cy="85953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Separated sides may continue responding but disagree temporarily.</a:t>
            </a:r>
            <a:endParaRPr lang="en-US" sz="1230" dirty="0"/>
          </a:p>
        </p:txBody>
      </p:sp>
      <p:sp>
        <p:nvSpPr>
          <p:cNvPr id="30" name="Shape 28"/>
          <p:cNvSpPr/>
          <p:nvPr/>
        </p:nvSpPr>
        <p:spPr>
          <a:xfrm>
            <a:off x="8007096" y="4471416"/>
            <a:ext cx="3560064" cy="1444752"/>
          </a:xfrm>
          <a:prstGeom prst="roundRect">
            <a:avLst>
              <a:gd name="adj" fmla="val 8861"/>
            </a:avLst>
          </a:prstGeom>
          <a:solidFill>
            <a:srgbClr val="F7F9FC"/>
          </a:solidFill>
          <a:ln w="12700">
            <a:solidFill>
              <a:srgbClr val="DFE7F1"/>
            </a:solidFill>
            <a:prstDash val="solid"/>
          </a:ln>
        </p:spPr>
        <p:txBody>
          <a:bodyPr/>
          <a:p/>
        </p:txBody>
      </p:sp>
      <p:sp>
        <p:nvSpPr>
          <p:cNvPr id="31" name="Shape 29"/>
          <p:cNvSpPr/>
          <p:nvPr/>
        </p:nvSpPr>
        <p:spPr>
          <a:xfrm>
            <a:off x="8007096" y="4471416"/>
            <a:ext cx="50292" cy="1444752"/>
          </a:xfrm>
          <a:prstGeom prst="rect">
            <a:avLst/>
          </a:prstGeom>
          <a:solidFill>
            <a:srgbClr val="2866F6"/>
          </a:solidFill>
          <a:ln w="12700">
            <a:solidFill>
              <a:srgbClr val="2866F6"/>
            </a:solidFill>
            <a:prstDash val="solid"/>
          </a:ln>
        </p:spPr>
        <p:txBody>
          <a:bodyPr/>
          <a:p/>
        </p:txBody>
      </p:sp>
      <p:sp>
        <p:nvSpPr>
          <p:cNvPr id="32" name="Text 30"/>
          <p:cNvSpPr/>
          <p:nvPr/>
        </p:nvSpPr>
        <p:spPr>
          <a:xfrm>
            <a:off x="8180832" y="4590288"/>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THE CAP INSIGHT</a:t>
            </a:r>
            <a:endParaRPr lang="en-US" sz="1340" dirty="0"/>
          </a:p>
        </p:txBody>
      </p:sp>
      <p:sp>
        <p:nvSpPr>
          <p:cNvPr id="33" name="Text 31"/>
          <p:cNvSpPr/>
          <p:nvPr/>
        </p:nvSpPr>
        <p:spPr>
          <a:xfrm>
            <a:off x="8180832" y="4974336"/>
            <a:ext cx="3221736" cy="85953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The forced trade-off appears during a partition, not all the time.</a:t>
            </a:r>
            <a:endParaRPr lang="en-US" sz="12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G</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Three workers run the same billing job</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All three instances start the monthly billing task at the same time.</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SCHEDULE</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Billing A</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Starts billing</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SAME TIME</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Billing B</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Also starts billing</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DUPLICATE</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Billing C</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Also starts billing</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 mutex inside one instance is invisible to instances on other machines.</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The same customer may receive multiple charges for one billing cycle.</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23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DATA &amp; CONSISTENCY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24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A shared lock gives one worker a temporary lease</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Workers compete for ownership through shared coordination infrastructure.</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24</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G</a:t>
            </a:r>
            <a:endParaRPr lang="en-US" sz="1000" dirty="0"/>
          </a:p>
        </p:txBody>
      </p:sp>
      <p:sp>
        <p:nvSpPr>
          <p:cNvPr id="14" name="Shape 12"/>
          <p:cNvSpPr/>
          <p:nvPr/>
        </p:nvSpPr>
        <p:spPr>
          <a:xfrm>
            <a:off x="704088" y="2532888"/>
            <a:ext cx="3413760" cy="1188720"/>
          </a:xfrm>
          <a:prstGeom prst="roundRect">
            <a:avLst>
              <a:gd name="adj" fmla="val 10769"/>
            </a:avLst>
          </a:prstGeom>
          <a:solidFill>
            <a:srgbClr val="ECF3FF"/>
          </a:solidFill>
          <a:ln w="12700">
            <a:solidFill>
              <a:srgbClr val="CBDBFF"/>
            </a:solidFill>
            <a:prstDash val="solid"/>
          </a:ln>
        </p:spPr>
        <p:txBody>
          <a:bodyPr/>
          <a:p/>
        </p:txBody>
      </p:sp>
      <p:sp>
        <p:nvSpPr>
          <p:cNvPr id="15" name="Text 13"/>
          <p:cNvSpPr/>
          <p:nvPr/>
        </p:nvSpPr>
        <p:spPr>
          <a:xfrm>
            <a:off x="813816" y="2651760"/>
            <a:ext cx="319430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Worker A</a:t>
            </a:r>
            <a:endParaRPr lang="en-US" sz="1500" dirty="0"/>
          </a:p>
        </p:txBody>
      </p:sp>
      <p:sp>
        <p:nvSpPr>
          <p:cNvPr id="16" name="Text 14"/>
          <p:cNvSpPr/>
          <p:nvPr/>
        </p:nvSpPr>
        <p:spPr>
          <a:xfrm>
            <a:off x="841248" y="3072384"/>
            <a:ext cx="313944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Requests lock</a:t>
            </a:r>
            <a:endParaRPr lang="en-US" sz="1150" dirty="0"/>
          </a:p>
        </p:txBody>
      </p:sp>
      <p:sp>
        <p:nvSpPr>
          <p:cNvPr id="17" name="Shape 15"/>
          <p:cNvSpPr/>
          <p:nvPr/>
        </p:nvSpPr>
        <p:spPr>
          <a:xfrm>
            <a:off x="4154424" y="3035808"/>
            <a:ext cx="192024" cy="0"/>
          </a:xfrm>
          <a:prstGeom prst="line">
            <a:avLst/>
          </a:prstGeom>
          <a:noFill/>
          <a:ln w="21590">
            <a:solidFill>
              <a:srgbClr val="2866F6"/>
            </a:solidFill>
            <a:prstDash val="solid"/>
            <a:headEnd type="none"/>
            <a:tailEnd type="triangle"/>
          </a:ln>
        </p:spPr>
        <p:txBody>
          <a:bodyPr/>
          <a:p/>
        </p:txBody>
      </p:sp>
      <p:sp>
        <p:nvSpPr>
          <p:cNvPr id="18" name="Shape 16"/>
          <p:cNvSpPr/>
          <p:nvPr/>
        </p:nvSpPr>
        <p:spPr>
          <a:xfrm>
            <a:off x="4383024" y="2532888"/>
            <a:ext cx="3413760" cy="1188720"/>
          </a:xfrm>
          <a:prstGeom prst="roundRect">
            <a:avLst>
              <a:gd name="adj" fmla="val 10769"/>
            </a:avLst>
          </a:prstGeom>
          <a:solidFill>
            <a:srgbClr val="ECF3FF"/>
          </a:solidFill>
          <a:ln w="12700">
            <a:solidFill>
              <a:srgbClr val="CBDBFF"/>
            </a:solidFill>
            <a:prstDash val="solid"/>
          </a:ln>
        </p:spPr>
        <p:txBody>
          <a:bodyPr/>
          <a:p/>
        </p:txBody>
      </p:sp>
      <p:sp>
        <p:nvSpPr>
          <p:cNvPr id="19" name="Text 17"/>
          <p:cNvSpPr/>
          <p:nvPr/>
        </p:nvSpPr>
        <p:spPr>
          <a:xfrm>
            <a:off x="4492752" y="2651760"/>
            <a:ext cx="319430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Lock Coordinator</a:t>
            </a:r>
            <a:endParaRPr lang="en-US" sz="1500" dirty="0"/>
          </a:p>
        </p:txBody>
      </p:sp>
      <p:sp>
        <p:nvSpPr>
          <p:cNvPr id="20" name="Text 18"/>
          <p:cNvSpPr/>
          <p:nvPr/>
        </p:nvSpPr>
        <p:spPr>
          <a:xfrm>
            <a:off x="4520184" y="3072384"/>
            <a:ext cx="313944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Lease owner: A</a:t>
            </a:r>
            <a:endParaRPr lang="en-US" sz="1150" dirty="0"/>
          </a:p>
        </p:txBody>
      </p:sp>
      <p:sp>
        <p:nvSpPr>
          <p:cNvPr id="21" name="Shape 19"/>
          <p:cNvSpPr/>
          <p:nvPr/>
        </p:nvSpPr>
        <p:spPr>
          <a:xfrm>
            <a:off x="7833360" y="3035808"/>
            <a:ext cx="192024" cy="0"/>
          </a:xfrm>
          <a:prstGeom prst="line">
            <a:avLst/>
          </a:prstGeom>
          <a:noFill/>
          <a:ln w="21590">
            <a:solidFill>
              <a:srgbClr val="2866F6"/>
            </a:solidFill>
            <a:prstDash val="solid"/>
            <a:headEnd type="none"/>
            <a:tailEnd type="triangle"/>
          </a:ln>
        </p:spPr>
        <p:txBody>
          <a:bodyPr/>
          <a:p/>
        </p:txBody>
      </p:sp>
      <p:sp>
        <p:nvSpPr>
          <p:cNvPr id="22" name="Shape 20"/>
          <p:cNvSpPr/>
          <p:nvPr/>
        </p:nvSpPr>
        <p:spPr>
          <a:xfrm>
            <a:off x="8061960" y="2532888"/>
            <a:ext cx="3413760" cy="1188720"/>
          </a:xfrm>
          <a:prstGeom prst="roundRect">
            <a:avLst>
              <a:gd name="adj" fmla="val 10769"/>
            </a:avLst>
          </a:prstGeom>
          <a:solidFill>
            <a:srgbClr val="ECF3FF"/>
          </a:solidFill>
          <a:ln w="12700">
            <a:solidFill>
              <a:srgbClr val="CBDBFF"/>
            </a:solidFill>
            <a:prstDash val="solid"/>
          </a:ln>
        </p:spPr>
        <p:txBody>
          <a:bodyPr/>
          <a:p/>
        </p:txBody>
      </p:sp>
      <p:sp>
        <p:nvSpPr>
          <p:cNvPr id="23" name="Text 21"/>
          <p:cNvSpPr/>
          <p:nvPr/>
        </p:nvSpPr>
        <p:spPr>
          <a:xfrm>
            <a:off x="8171688" y="2651760"/>
            <a:ext cx="319430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Billing Job</a:t>
            </a:r>
            <a:endParaRPr lang="en-US" sz="1500" dirty="0"/>
          </a:p>
        </p:txBody>
      </p:sp>
      <p:sp>
        <p:nvSpPr>
          <p:cNvPr id="24" name="Text 22"/>
          <p:cNvSpPr/>
          <p:nvPr/>
        </p:nvSpPr>
        <p:spPr>
          <a:xfrm>
            <a:off x="8199120" y="3072384"/>
            <a:ext cx="313944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Only current owner</a:t>
            </a:r>
            <a:endParaRPr lang="en-US" sz="1150" dirty="0"/>
          </a:p>
        </p:txBody>
      </p:sp>
      <p:sp>
        <p:nvSpPr>
          <p:cNvPr id="25" name="Shape 23"/>
          <p:cNvSpPr/>
          <p:nvPr/>
        </p:nvSpPr>
        <p:spPr>
          <a:xfrm>
            <a:off x="594360" y="4590288"/>
            <a:ext cx="3560064" cy="1408176"/>
          </a:xfrm>
          <a:prstGeom prst="roundRect">
            <a:avLst>
              <a:gd name="adj" fmla="val 9091"/>
            </a:avLst>
          </a:prstGeom>
          <a:solidFill>
            <a:srgbClr val="F7F9FC"/>
          </a:solidFill>
          <a:ln w="12700">
            <a:solidFill>
              <a:srgbClr val="DFE7F1"/>
            </a:solidFill>
            <a:prstDash val="solid"/>
          </a:ln>
        </p:spPr>
        <p:txBody>
          <a:bodyPr/>
          <a:p/>
        </p:txBody>
      </p:sp>
      <p:sp>
        <p:nvSpPr>
          <p:cNvPr id="26" name="Shape 24"/>
          <p:cNvSpPr/>
          <p:nvPr/>
        </p:nvSpPr>
        <p:spPr>
          <a:xfrm>
            <a:off x="594360" y="4590288"/>
            <a:ext cx="50292" cy="1408176"/>
          </a:xfrm>
          <a:prstGeom prst="rect">
            <a:avLst/>
          </a:prstGeom>
          <a:solidFill>
            <a:srgbClr val="2866F6"/>
          </a:solidFill>
          <a:ln w="12700">
            <a:solidFill>
              <a:srgbClr val="2866F6"/>
            </a:solidFill>
            <a:prstDash val="solid"/>
          </a:ln>
        </p:spPr>
        <p:txBody>
          <a:bodyPr/>
          <a:p/>
        </p:txBody>
      </p:sp>
      <p:sp>
        <p:nvSpPr>
          <p:cNvPr id="27" name="Text 25"/>
          <p:cNvSpPr/>
          <p:nvPr/>
        </p:nvSpPr>
        <p:spPr>
          <a:xfrm>
            <a:off x="768096" y="470916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Shared authority</a:t>
            </a:r>
            <a:endParaRPr lang="en-US" sz="1340" dirty="0"/>
          </a:p>
        </p:txBody>
      </p:sp>
      <p:sp>
        <p:nvSpPr>
          <p:cNvPr id="28" name="Text 26"/>
          <p:cNvSpPr/>
          <p:nvPr/>
        </p:nvSpPr>
        <p:spPr>
          <a:xfrm>
            <a:off x="768096" y="5093208"/>
            <a:ext cx="3221736" cy="822960"/>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Workers consult one coordinator instead of independent local mutexes.</a:t>
            </a:r>
            <a:endParaRPr lang="en-US" sz="1230" dirty="0"/>
          </a:p>
        </p:txBody>
      </p:sp>
      <p:sp>
        <p:nvSpPr>
          <p:cNvPr id="29" name="Shape 27"/>
          <p:cNvSpPr/>
          <p:nvPr/>
        </p:nvSpPr>
        <p:spPr>
          <a:xfrm>
            <a:off x="4300728" y="4590288"/>
            <a:ext cx="3560064" cy="1408176"/>
          </a:xfrm>
          <a:prstGeom prst="roundRect">
            <a:avLst>
              <a:gd name="adj" fmla="val 9091"/>
            </a:avLst>
          </a:prstGeom>
          <a:solidFill>
            <a:srgbClr val="F7F9FC"/>
          </a:solidFill>
          <a:ln w="12700">
            <a:solidFill>
              <a:srgbClr val="DFE7F1"/>
            </a:solidFill>
            <a:prstDash val="solid"/>
          </a:ln>
        </p:spPr>
        <p:txBody>
          <a:bodyPr/>
          <a:p/>
        </p:txBody>
      </p:sp>
      <p:sp>
        <p:nvSpPr>
          <p:cNvPr id="30" name="Shape 28"/>
          <p:cNvSpPr/>
          <p:nvPr/>
        </p:nvSpPr>
        <p:spPr>
          <a:xfrm>
            <a:off x="4300728" y="4590288"/>
            <a:ext cx="50292" cy="1408176"/>
          </a:xfrm>
          <a:prstGeom prst="rect">
            <a:avLst/>
          </a:prstGeom>
          <a:solidFill>
            <a:srgbClr val="2866F6"/>
          </a:solidFill>
          <a:ln w="12700">
            <a:solidFill>
              <a:srgbClr val="2866F6"/>
            </a:solidFill>
            <a:prstDash val="solid"/>
          </a:ln>
        </p:spPr>
        <p:txBody>
          <a:bodyPr/>
          <a:p/>
        </p:txBody>
      </p:sp>
      <p:sp>
        <p:nvSpPr>
          <p:cNvPr id="31" name="Text 29"/>
          <p:cNvSpPr/>
          <p:nvPr/>
        </p:nvSpPr>
        <p:spPr>
          <a:xfrm>
            <a:off x="4474464" y="470916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Lease expiry</a:t>
            </a:r>
            <a:endParaRPr lang="en-US" sz="1340" dirty="0"/>
          </a:p>
        </p:txBody>
      </p:sp>
      <p:sp>
        <p:nvSpPr>
          <p:cNvPr id="32" name="Text 30"/>
          <p:cNvSpPr/>
          <p:nvPr/>
        </p:nvSpPr>
        <p:spPr>
          <a:xfrm>
            <a:off x="4474464" y="5093208"/>
            <a:ext cx="3221736" cy="822960"/>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If a worker dies, ownership can eventually be granted again.</a:t>
            </a:r>
            <a:endParaRPr lang="en-US" sz="1230" dirty="0"/>
          </a:p>
        </p:txBody>
      </p:sp>
      <p:sp>
        <p:nvSpPr>
          <p:cNvPr id="33" name="Shape 31"/>
          <p:cNvSpPr/>
          <p:nvPr/>
        </p:nvSpPr>
        <p:spPr>
          <a:xfrm>
            <a:off x="8007096" y="4590288"/>
            <a:ext cx="3560064" cy="1408176"/>
          </a:xfrm>
          <a:prstGeom prst="roundRect">
            <a:avLst>
              <a:gd name="adj" fmla="val 9091"/>
            </a:avLst>
          </a:prstGeom>
          <a:solidFill>
            <a:srgbClr val="F7F9FC"/>
          </a:solidFill>
          <a:ln w="12700">
            <a:solidFill>
              <a:srgbClr val="DFE7F1"/>
            </a:solidFill>
            <a:prstDash val="solid"/>
          </a:ln>
        </p:spPr>
        <p:txBody>
          <a:bodyPr/>
          <a:p/>
        </p:txBody>
      </p:sp>
      <p:sp>
        <p:nvSpPr>
          <p:cNvPr id="34" name="Shape 32"/>
          <p:cNvSpPr/>
          <p:nvPr/>
        </p:nvSpPr>
        <p:spPr>
          <a:xfrm>
            <a:off x="8007096" y="4590288"/>
            <a:ext cx="50292" cy="1408176"/>
          </a:xfrm>
          <a:prstGeom prst="rect">
            <a:avLst/>
          </a:prstGeom>
          <a:solidFill>
            <a:srgbClr val="2866F6"/>
          </a:solidFill>
          <a:ln w="12700">
            <a:solidFill>
              <a:srgbClr val="2866F6"/>
            </a:solidFill>
            <a:prstDash val="solid"/>
          </a:ln>
        </p:spPr>
        <p:txBody>
          <a:bodyPr/>
          <a:p/>
        </p:txBody>
      </p:sp>
      <p:sp>
        <p:nvSpPr>
          <p:cNvPr id="35" name="Text 33"/>
          <p:cNvSpPr/>
          <p:nvPr/>
        </p:nvSpPr>
        <p:spPr>
          <a:xfrm>
            <a:off x="8180832" y="470916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Not a complete guarantee</a:t>
            </a:r>
            <a:endParaRPr lang="en-US" sz="1340" dirty="0"/>
          </a:p>
        </p:txBody>
      </p:sp>
      <p:sp>
        <p:nvSpPr>
          <p:cNvPr id="36" name="Text 34"/>
          <p:cNvSpPr/>
          <p:nvPr/>
        </p:nvSpPr>
        <p:spPr>
          <a:xfrm>
            <a:off x="8180832" y="5093208"/>
            <a:ext cx="3221736" cy="822960"/>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 paused worker may resume after its lease has expired.</a:t>
            </a:r>
            <a:endParaRPr lang="en-US" sz="1230" dirty="0"/>
          </a:p>
        </p:txBody>
      </p:sp>
      <p:sp>
        <p:nvSpPr>
          <p:cNvPr id="37" name="Text 35"/>
          <p:cNvSpPr/>
          <p:nvPr/>
        </p:nvSpPr>
        <p:spPr>
          <a:xfrm>
            <a:off x="667512" y="6208776"/>
            <a:ext cx="10744200" cy="274320"/>
          </a:xfrm>
          <a:prstGeom prst="rect">
            <a:avLst/>
          </a:prstGeom>
          <a:noFill/>
          <a:ln/>
        </p:spPr>
        <p:txBody>
          <a:bodyPr wrap="square" lIns="0" tIns="0" rIns="0" bIns="0" rtlCol="0" anchor="ctr">
            <a:normAutofit/>
          </a:bodyPr>
          <a:lstStyle/>
          <a:p>
            <a:pPr algn="ctr" indent="0" marL="0">
              <a:buNone/>
            </a:pPr>
            <a:r>
              <a:rPr lang="en-US" sz="1310" b="1" dirty="0">
                <a:solidFill>
                  <a:srgbClr val="D84148"/>
                </a:solidFill>
                <a:latin typeface="Aptos" pitchFamily="34" charset="0"/>
                <a:ea typeface="Aptos" pitchFamily="34" charset="-122"/>
                <a:cs typeface="Aptos" pitchFamily="34" charset="-120"/>
              </a:rPr>
              <a:t>The next challenge appears when an old owner wakes up after the lease expires.</a:t>
            </a:r>
            <a:endParaRPr lang="en-US" sz="131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H</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The old worker continues after its lock expires</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Worker A pauses. Its lease expires, Worker B takes over, and A suddenly resumes.</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PAUSE</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Worker A</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Stops responding</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TAKEOVER</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Worker B</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Gets the new lease</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OVERLAP</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Worker A wakes up</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Both may try to write</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 lease can expire without physically stopping the previous worker.</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An old worker may overwrite newer work even though it no longer owns the lock.</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25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DATA &amp; CONSISTENCY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26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Fencing tokens reject stale workers</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Each new lock owner receives a higher number that the destination validates.</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26</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H</a:t>
            </a:r>
            <a:endParaRPr lang="en-US" sz="1000" dirty="0"/>
          </a:p>
        </p:txBody>
      </p:sp>
      <p:sp>
        <p:nvSpPr>
          <p:cNvPr id="14" name="Shape 12"/>
          <p:cNvSpPr/>
          <p:nvPr/>
        </p:nvSpPr>
        <p:spPr>
          <a:xfrm>
            <a:off x="694944" y="2359152"/>
            <a:ext cx="5102352" cy="2093976"/>
          </a:xfrm>
          <a:prstGeom prst="roundRect">
            <a:avLst>
              <a:gd name="adj" fmla="val 5677"/>
            </a:avLst>
          </a:prstGeom>
          <a:solidFill>
            <a:srgbClr val="FFF0F0"/>
          </a:solidFill>
          <a:ln w="12700">
            <a:solidFill>
              <a:srgbClr val="F4C8CB"/>
            </a:solidFill>
            <a:prstDash val="solid"/>
          </a:ln>
        </p:spPr>
        <p:txBody>
          <a:bodyPr/>
          <a:p/>
        </p:txBody>
      </p:sp>
      <p:sp>
        <p:nvSpPr>
          <p:cNvPr id="15" name="Shape 13"/>
          <p:cNvSpPr/>
          <p:nvPr/>
        </p:nvSpPr>
        <p:spPr>
          <a:xfrm>
            <a:off x="6144768" y="2359152"/>
            <a:ext cx="5285232" cy="2093976"/>
          </a:xfrm>
          <a:prstGeom prst="roundRect">
            <a:avLst>
              <a:gd name="adj" fmla="val 5677"/>
            </a:avLst>
          </a:prstGeom>
          <a:solidFill>
            <a:srgbClr val="E7F8F3"/>
          </a:solidFill>
          <a:ln w="12700">
            <a:solidFill>
              <a:srgbClr val="B4E6DD"/>
            </a:solidFill>
            <a:prstDash val="solid"/>
          </a:ln>
        </p:spPr>
        <p:txBody>
          <a:bodyPr/>
          <a:p/>
        </p:txBody>
      </p:sp>
      <p:sp>
        <p:nvSpPr>
          <p:cNvPr id="16" name="Shape 14"/>
          <p:cNvSpPr/>
          <p:nvPr/>
        </p:nvSpPr>
        <p:spPr>
          <a:xfrm>
            <a:off x="932688" y="2569464"/>
            <a:ext cx="1856232" cy="274320"/>
          </a:xfrm>
          <a:prstGeom prst="roundRect">
            <a:avLst>
              <a:gd name="adj" fmla="val 40000"/>
            </a:avLst>
          </a:prstGeom>
          <a:solidFill>
            <a:srgbClr val="FFF0F0"/>
          </a:solidFill>
          <a:ln w="12700">
            <a:solidFill>
              <a:srgbClr val="FFF0F0"/>
            </a:solidFill>
            <a:prstDash val="solid"/>
          </a:ln>
        </p:spPr>
        <p:txBody>
          <a:bodyPr/>
          <a:p/>
        </p:txBody>
      </p:sp>
      <p:sp>
        <p:nvSpPr>
          <p:cNvPr id="17" name="Text 15"/>
          <p:cNvSpPr/>
          <p:nvPr/>
        </p:nvSpPr>
        <p:spPr>
          <a:xfrm>
            <a:off x="1033272" y="2596896"/>
            <a:ext cx="1655064"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D84148"/>
                </a:solidFill>
                <a:latin typeface="Aptos" pitchFamily="34" charset="0"/>
                <a:ea typeface="Aptos" pitchFamily="34" charset="-122"/>
                <a:cs typeface="Aptos" pitchFamily="34" charset="-120"/>
              </a:rPr>
              <a:t>OLD OWNER</a:t>
            </a:r>
            <a:endParaRPr lang="en-US" sz="1000" dirty="0"/>
          </a:p>
        </p:txBody>
      </p:sp>
      <p:sp>
        <p:nvSpPr>
          <p:cNvPr id="18" name="Text 16"/>
          <p:cNvSpPr/>
          <p:nvPr/>
        </p:nvSpPr>
        <p:spPr>
          <a:xfrm>
            <a:off x="1042416" y="3090672"/>
            <a:ext cx="2532888" cy="338328"/>
          </a:xfrm>
          <a:prstGeom prst="rect">
            <a:avLst/>
          </a:prstGeom>
          <a:noFill/>
          <a:ln/>
        </p:spPr>
        <p:txBody>
          <a:bodyPr wrap="square" lIns="0" tIns="0" rIns="0" bIns="0" rtlCol="0" anchor="ctr">
            <a:normAutofit/>
          </a:bodyPr>
          <a:lstStyle/>
          <a:p>
            <a:pPr algn="l" indent="0" marL="0">
              <a:buNone/>
            </a:pPr>
            <a:r>
              <a:rPr lang="en-US" sz="2200" b="1" dirty="0">
                <a:solidFill>
                  <a:srgbClr val="122239"/>
                </a:solidFill>
                <a:latin typeface="Aptos" pitchFamily="34" charset="0"/>
                <a:ea typeface="Aptos" pitchFamily="34" charset="-122"/>
                <a:cs typeface="Aptos" pitchFamily="34" charset="-120"/>
              </a:rPr>
              <a:t>Worker A</a:t>
            </a:r>
            <a:endParaRPr lang="en-US" sz="2200" dirty="0"/>
          </a:p>
        </p:txBody>
      </p:sp>
      <p:sp>
        <p:nvSpPr>
          <p:cNvPr id="19" name="Text 17"/>
          <p:cNvSpPr/>
          <p:nvPr/>
        </p:nvSpPr>
        <p:spPr>
          <a:xfrm>
            <a:off x="1051560" y="3593592"/>
            <a:ext cx="3474720" cy="246888"/>
          </a:xfrm>
          <a:prstGeom prst="rect">
            <a:avLst/>
          </a:prstGeom>
          <a:noFill/>
          <a:ln/>
        </p:spPr>
        <p:txBody>
          <a:bodyPr wrap="square" lIns="0" tIns="0" rIns="0" bIns="0" rtlCol="0" anchor="ctr">
            <a:normAutofit/>
          </a:bodyPr>
          <a:lstStyle/>
          <a:p>
            <a:pPr algn="l" indent="0" marL="0">
              <a:buNone/>
            </a:pPr>
            <a:r>
              <a:rPr lang="en-US" sz="1700" b="1" dirty="0">
                <a:solidFill>
                  <a:srgbClr val="A92D39"/>
                </a:solidFill>
                <a:latin typeface="Aptos" pitchFamily="34" charset="0"/>
                <a:ea typeface="Aptos" pitchFamily="34" charset="-122"/>
                <a:cs typeface="Aptos" pitchFamily="34" charset="-120"/>
              </a:rPr>
              <a:t>Fencing token 41</a:t>
            </a:r>
            <a:endParaRPr lang="en-US" sz="1700" dirty="0"/>
          </a:p>
        </p:txBody>
      </p:sp>
      <p:sp>
        <p:nvSpPr>
          <p:cNvPr id="20" name="Shape 18"/>
          <p:cNvSpPr/>
          <p:nvPr/>
        </p:nvSpPr>
        <p:spPr>
          <a:xfrm>
            <a:off x="6437376" y="2569464"/>
            <a:ext cx="2157984" cy="274320"/>
          </a:xfrm>
          <a:prstGeom prst="roundRect">
            <a:avLst>
              <a:gd name="adj" fmla="val 40000"/>
            </a:avLst>
          </a:prstGeom>
          <a:solidFill>
            <a:srgbClr val="E7F8F3"/>
          </a:solidFill>
          <a:ln w="12700">
            <a:solidFill>
              <a:srgbClr val="E7F8F3"/>
            </a:solidFill>
            <a:prstDash val="solid"/>
          </a:ln>
        </p:spPr>
        <p:txBody>
          <a:bodyPr/>
          <a:p/>
        </p:txBody>
      </p:sp>
      <p:sp>
        <p:nvSpPr>
          <p:cNvPr id="21" name="Text 19"/>
          <p:cNvSpPr/>
          <p:nvPr/>
        </p:nvSpPr>
        <p:spPr>
          <a:xfrm>
            <a:off x="6537960" y="2596896"/>
            <a:ext cx="1956816"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008F83"/>
                </a:solidFill>
                <a:latin typeface="Aptos" pitchFamily="34" charset="0"/>
                <a:ea typeface="Aptos" pitchFamily="34" charset="-122"/>
                <a:cs typeface="Aptos" pitchFamily="34" charset="-120"/>
              </a:rPr>
              <a:t>CURRENT OWNER</a:t>
            </a:r>
            <a:endParaRPr lang="en-US" sz="1000" dirty="0"/>
          </a:p>
        </p:txBody>
      </p:sp>
      <p:sp>
        <p:nvSpPr>
          <p:cNvPr id="22" name="Text 20"/>
          <p:cNvSpPr/>
          <p:nvPr/>
        </p:nvSpPr>
        <p:spPr>
          <a:xfrm>
            <a:off x="6528816" y="3090672"/>
            <a:ext cx="2505456" cy="338328"/>
          </a:xfrm>
          <a:prstGeom prst="rect">
            <a:avLst/>
          </a:prstGeom>
          <a:noFill/>
          <a:ln/>
        </p:spPr>
        <p:txBody>
          <a:bodyPr wrap="square" lIns="0" tIns="0" rIns="0" bIns="0" rtlCol="0" anchor="ctr">
            <a:normAutofit/>
          </a:bodyPr>
          <a:lstStyle/>
          <a:p>
            <a:pPr algn="l" indent="0" marL="0">
              <a:buNone/>
            </a:pPr>
            <a:r>
              <a:rPr lang="en-US" sz="2200" b="1" dirty="0">
                <a:solidFill>
                  <a:srgbClr val="122239"/>
                </a:solidFill>
                <a:latin typeface="Aptos" pitchFamily="34" charset="0"/>
                <a:ea typeface="Aptos" pitchFamily="34" charset="-122"/>
                <a:cs typeface="Aptos" pitchFamily="34" charset="-120"/>
              </a:rPr>
              <a:t>Worker B</a:t>
            </a:r>
            <a:endParaRPr lang="en-US" sz="2200" dirty="0"/>
          </a:p>
        </p:txBody>
      </p:sp>
      <p:sp>
        <p:nvSpPr>
          <p:cNvPr id="23" name="Text 21"/>
          <p:cNvSpPr/>
          <p:nvPr/>
        </p:nvSpPr>
        <p:spPr>
          <a:xfrm>
            <a:off x="6519672" y="3593592"/>
            <a:ext cx="3721608" cy="246888"/>
          </a:xfrm>
          <a:prstGeom prst="rect">
            <a:avLst/>
          </a:prstGeom>
          <a:noFill/>
          <a:ln/>
        </p:spPr>
        <p:txBody>
          <a:bodyPr wrap="square" lIns="0" tIns="0" rIns="0" bIns="0" rtlCol="0" anchor="ctr">
            <a:normAutofit/>
          </a:bodyPr>
          <a:lstStyle/>
          <a:p>
            <a:pPr algn="l" indent="0" marL="0">
              <a:buNone/>
            </a:pPr>
            <a:r>
              <a:rPr lang="en-US" sz="1700" b="1" dirty="0">
                <a:solidFill>
                  <a:srgbClr val="008F83"/>
                </a:solidFill>
                <a:latin typeface="Aptos" pitchFamily="34" charset="0"/>
                <a:ea typeface="Aptos" pitchFamily="34" charset="-122"/>
                <a:cs typeface="Aptos" pitchFamily="34" charset="-120"/>
              </a:rPr>
              <a:t>Fencing token 42</a:t>
            </a:r>
            <a:endParaRPr lang="en-US" sz="1700" dirty="0"/>
          </a:p>
        </p:txBody>
      </p:sp>
      <p:sp>
        <p:nvSpPr>
          <p:cNvPr id="24" name="Shape 22"/>
          <p:cNvSpPr/>
          <p:nvPr/>
        </p:nvSpPr>
        <p:spPr>
          <a:xfrm>
            <a:off x="603504" y="4773168"/>
            <a:ext cx="3557016" cy="1325880"/>
          </a:xfrm>
          <a:prstGeom prst="roundRect">
            <a:avLst>
              <a:gd name="adj" fmla="val 9655"/>
            </a:avLst>
          </a:prstGeom>
          <a:solidFill>
            <a:srgbClr val="F7F9FC"/>
          </a:solidFill>
          <a:ln w="12700">
            <a:solidFill>
              <a:srgbClr val="DFE7F1"/>
            </a:solidFill>
            <a:prstDash val="solid"/>
          </a:ln>
        </p:spPr>
        <p:txBody>
          <a:bodyPr/>
          <a:p/>
        </p:txBody>
      </p:sp>
      <p:sp>
        <p:nvSpPr>
          <p:cNvPr id="25" name="Shape 23"/>
          <p:cNvSpPr/>
          <p:nvPr/>
        </p:nvSpPr>
        <p:spPr>
          <a:xfrm>
            <a:off x="603504" y="4773168"/>
            <a:ext cx="50292" cy="1325880"/>
          </a:xfrm>
          <a:prstGeom prst="rect">
            <a:avLst/>
          </a:prstGeom>
          <a:solidFill>
            <a:srgbClr val="2866F6"/>
          </a:solidFill>
          <a:ln w="12700">
            <a:solidFill>
              <a:srgbClr val="2866F6"/>
            </a:solidFill>
            <a:prstDash val="solid"/>
          </a:ln>
        </p:spPr>
        <p:txBody>
          <a:bodyPr/>
          <a:p/>
        </p:txBody>
      </p:sp>
      <p:sp>
        <p:nvSpPr>
          <p:cNvPr id="26" name="Text 24"/>
          <p:cNvSpPr/>
          <p:nvPr/>
        </p:nvSpPr>
        <p:spPr>
          <a:xfrm>
            <a:off x="777240" y="4892040"/>
            <a:ext cx="3227832"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Increasing tokens</a:t>
            </a:r>
            <a:endParaRPr lang="en-US" sz="1340" dirty="0"/>
          </a:p>
        </p:txBody>
      </p:sp>
      <p:sp>
        <p:nvSpPr>
          <p:cNvPr id="27" name="Text 25"/>
          <p:cNvSpPr/>
          <p:nvPr/>
        </p:nvSpPr>
        <p:spPr>
          <a:xfrm>
            <a:off x="777240" y="5276088"/>
            <a:ext cx="3218688"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New leases receive monotonically increasing ownership generations.</a:t>
            </a:r>
            <a:endParaRPr lang="en-US" sz="1230" dirty="0"/>
          </a:p>
        </p:txBody>
      </p:sp>
      <p:sp>
        <p:nvSpPr>
          <p:cNvPr id="28" name="Shape 26"/>
          <p:cNvSpPr/>
          <p:nvPr/>
        </p:nvSpPr>
        <p:spPr>
          <a:xfrm>
            <a:off x="4306824" y="4773168"/>
            <a:ext cx="3557016" cy="1325880"/>
          </a:xfrm>
          <a:prstGeom prst="roundRect">
            <a:avLst>
              <a:gd name="adj" fmla="val 9655"/>
            </a:avLst>
          </a:prstGeom>
          <a:solidFill>
            <a:srgbClr val="F7F9FC"/>
          </a:solidFill>
          <a:ln w="12700">
            <a:solidFill>
              <a:srgbClr val="DFE7F1"/>
            </a:solidFill>
            <a:prstDash val="solid"/>
          </a:ln>
        </p:spPr>
        <p:txBody>
          <a:bodyPr/>
          <a:p/>
        </p:txBody>
      </p:sp>
      <p:sp>
        <p:nvSpPr>
          <p:cNvPr id="29" name="Shape 27"/>
          <p:cNvSpPr/>
          <p:nvPr/>
        </p:nvSpPr>
        <p:spPr>
          <a:xfrm>
            <a:off x="4306824" y="4773168"/>
            <a:ext cx="50292" cy="1325880"/>
          </a:xfrm>
          <a:prstGeom prst="rect">
            <a:avLst/>
          </a:prstGeom>
          <a:solidFill>
            <a:srgbClr val="2866F6"/>
          </a:solidFill>
          <a:ln w="12700">
            <a:solidFill>
              <a:srgbClr val="2866F6"/>
            </a:solidFill>
            <a:prstDash val="solid"/>
          </a:ln>
        </p:spPr>
        <p:txBody>
          <a:bodyPr/>
          <a:p/>
        </p:txBody>
      </p:sp>
      <p:sp>
        <p:nvSpPr>
          <p:cNvPr id="30" name="Text 28"/>
          <p:cNvSpPr/>
          <p:nvPr/>
        </p:nvSpPr>
        <p:spPr>
          <a:xfrm>
            <a:off x="4480560" y="4892040"/>
            <a:ext cx="3227832"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Destination check</a:t>
            </a:r>
            <a:endParaRPr lang="en-US" sz="1340" dirty="0"/>
          </a:p>
        </p:txBody>
      </p:sp>
      <p:sp>
        <p:nvSpPr>
          <p:cNvPr id="31" name="Text 29"/>
          <p:cNvSpPr/>
          <p:nvPr/>
        </p:nvSpPr>
        <p:spPr>
          <a:xfrm>
            <a:off x="4480560" y="5276088"/>
            <a:ext cx="3218688"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The protected storage system rejects old tokens after accepting newer ones.</a:t>
            </a:r>
            <a:endParaRPr lang="en-US" sz="1230" dirty="0"/>
          </a:p>
        </p:txBody>
      </p:sp>
      <p:sp>
        <p:nvSpPr>
          <p:cNvPr id="32" name="Shape 30"/>
          <p:cNvSpPr/>
          <p:nvPr/>
        </p:nvSpPr>
        <p:spPr>
          <a:xfrm>
            <a:off x="8010144" y="4773168"/>
            <a:ext cx="3557016" cy="1325880"/>
          </a:xfrm>
          <a:prstGeom prst="roundRect">
            <a:avLst>
              <a:gd name="adj" fmla="val 9655"/>
            </a:avLst>
          </a:prstGeom>
          <a:solidFill>
            <a:srgbClr val="F7F9FC"/>
          </a:solidFill>
          <a:ln w="12700">
            <a:solidFill>
              <a:srgbClr val="DFE7F1"/>
            </a:solidFill>
            <a:prstDash val="solid"/>
          </a:ln>
        </p:spPr>
        <p:txBody>
          <a:bodyPr/>
          <a:p/>
        </p:txBody>
      </p:sp>
      <p:sp>
        <p:nvSpPr>
          <p:cNvPr id="33" name="Shape 31"/>
          <p:cNvSpPr/>
          <p:nvPr/>
        </p:nvSpPr>
        <p:spPr>
          <a:xfrm>
            <a:off x="8010144" y="4773168"/>
            <a:ext cx="50292" cy="1325880"/>
          </a:xfrm>
          <a:prstGeom prst="rect">
            <a:avLst/>
          </a:prstGeom>
          <a:solidFill>
            <a:srgbClr val="2866F6"/>
          </a:solidFill>
          <a:ln w="12700">
            <a:solidFill>
              <a:srgbClr val="2866F6"/>
            </a:solidFill>
            <a:prstDash val="solid"/>
          </a:ln>
        </p:spPr>
        <p:txBody>
          <a:bodyPr/>
          <a:p/>
        </p:txBody>
      </p:sp>
      <p:sp>
        <p:nvSpPr>
          <p:cNvPr id="34" name="Text 32"/>
          <p:cNvSpPr/>
          <p:nvPr/>
        </p:nvSpPr>
        <p:spPr>
          <a:xfrm>
            <a:off x="8183880" y="4892040"/>
            <a:ext cx="3227832"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Keep idempotency</a:t>
            </a:r>
            <a:endParaRPr lang="en-US" sz="1340" dirty="0"/>
          </a:p>
        </p:txBody>
      </p:sp>
      <p:sp>
        <p:nvSpPr>
          <p:cNvPr id="35" name="Text 33"/>
          <p:cNvSpPr/>
          <p:nvPr/>
        </p:nvSpPr>
        <p:spPr>
          <a:xfrm>
            <a:off x="8183880" y="5276088"/>
            <a:ext cx="3218688"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Fencing helps with stale writes; it does not replace payment-level duplicate protection.</a:t>
            </a:r>
            <a:endParaRPr lang="en-US" sz="123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D84148"/>
          </a:solidFill>
          <a:ln w="12700">
            <a:solidFill>
              <a:srgbClr val="D84148"/>
            </a:solidFill>
            <a:prstDash val="solid"/>
          </a:ln>
        </p:spPr>
        <p:txBody>
          <a:bodyPr/>
          <a:p/>
        </p:txBody>
      </p:sp>
      <p:sp>
        <p:nvSpPr>
          <p:cNvPr id="3" name="Shape 1"/>
          <p:cNvSpPr/>
          <p:nvPr/>
        </p:nvSpPr>
        <p:spPr>
          <a:xfrm>
            <a:off x="512064" y="310896"/>
            <a:ext cx="91440" cy="91440"/>
          </a:xfrm>
          <a:prstGeom prst="ellipse">
            <a:avLst/>
          </a:prstGeom>
          <a:solidFill>
            <a:srgbClr val="D84148"/>
          </a:solidFill>
          <a:ln w="12700">
            <a:solidFill>
              <a:srgbClr val="D84148"/>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sz="1000" b="1">
                <a:solidFill>
                  <a:srgbClr val="2866F6"/>
                </a:solidFill>
                <a:latin typeface="Aptos"/>
              </a:rPr>
              <a:t>DATA &amp; CONSISTENCY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28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sz="3050" b="1">
                <a:latin typeface="Aptos"/>
              </a:rPr>
              <a:t>Lamport clocks help order related events</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sz="1400">
                <a:latin typeface="Aptos"/>
              </a:rPr>
              <a:t>Logical counters track happens-before relationships despite clock differences.</a:t>
            </a:r>
            <a:endParaRPr lang="en-US" sz="1400" dirty="0"/>
          </a:p>
        </p:txBody>
      </p:sp>
      <p:sp>
        <p:nvSpPr>
          <p:cNvPr id="8" name="Shape 6"/>
          <p:cNvSpPr/>
          <p:nvPr/>
        </p:nvSpPr>
        <p:spPr>
          <a:xfrm>
            <a:off x="530352" y="1773936"/>
            <a:ext cx="11155680" cy="0"/>
          </a:xfrm>
          <a:prstGeom prst="line">
            <a:avLst/>
          </a:prstGeom>
          <a:noFill/>
          <a:ln w="12700">
            <a:solidFill>
              <a:srgbClr val="F4C8CB"/>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28</a:t>
            </a:r>
            <a:endParaRPr lang="en-US" sz="850" dirty="0"/>
          </a:p>
        </p:txBody>
      </p:sp>
      <p:sp>
        <p:nvSpPr>
          <p:cNvPr id="12" name="Shape 10"/>
          <p:cNvSpPr/>
          <p:nvPr/>
        </p:nvSpPr>
        <p:spPr>
          <a:xfrm>
            <a:off x="9948672" y="1938528"/>
            <a:ext cx="1664208" cy="274320"/>
          </a:xfrm>
          <a:prstGeom prst="roundRect">
            <a:avLst>
              <a:gd name="adj" fmla="val 40000"/>
            </a:avLst>
          </a:prstGeom>
          <a:solidFill>
            <a:srgbClr val="FFF0F0"/>
          </a:solidFill>
          <a:ln w="12700">
            <a:solidFill>
              <a:srgbClr val="FFF0F0"/>
            </a:solidFill>
            <a:prstDash val="solid"/>
          </a:ln>
        </p:spPr>
        <p:txBody>
          <a:bodyPr/>
          <a:p/>
        </p:txBody>
      </p:sp>
      <p:sp>
        <p:nvSpPr>
          <p:cNvPr id="13" name="Text 11"/>
          <p:cNvSpPr/>
          <p:nvPr/>
        </p:nvSpPr>
        <p:spPr>
          <a:xfrm>
            <a:off x="10049256" y="1965960"/>
            <a:ext cx="1463040"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I</a:t>
            </a:r>
            <a:endParaRPr lang="en-US" sz="1000" dirty="0"/>
          </a:p>
        </p:txBody>
      </p:sp>
      <p:sp>
        <p:nvSpPr>
          <p:cNvPr id="14" name="Shape 12"/>
          <p:cNvSpPr/>
          <p:nvPr/>
        </p:nvSpPr>
        <p:spPr>
          <a:xfrm>
            <a:off x="594360" y="2240280"/>
            <a:ext cx="5349240" cy="1847088"/>
          </a:xfrm>
          <a:prstGeom prst="roundRect">
            <a:avLst>
              <a:gd name="adj" fmla="val 6436"/>
            </a:avLst>
          </a:prstGeom>
          <a:solidFill>
            <a:srgbClr val="FFF0F0"/>
          </a:solidFill>
          <a:ln w="12700">
            <a:solidFill>
              <a:srgbClr val="F4C8CB"/>
            </a:solidFill>
            <a:prstDash val="solid"/>
          </a:ln>
        </p:spPr>
        <p:txBody>
          <a:bodyPr/>
          <a:p/>
        </p:txBody>
      </p:sp>
      <p:sp>
        <p:nvSpPr>
          <p:cNvPr id="15" name="Text 13"/>
          <p:cNvSpPr/>
          <p:nvPr/>
        </p:nvSpPr>
        <p:spPr>
          <a:xfrm>
            <a:off x="859536" y="2587752"/>
            <a:ext cx="4690872" cy="329184"/>
          </a:xfrm>
          <a:prstGeom prst="rect">
            <a:avLst/>
          </a:prstGeom>
          <a:noFill/>
          <a:ln/>
        </p:spPr>
        <p:txBody>
          <a:bodyPr wrap="square" lIns="0" tIns="0" rIns="0" bIns="0" rtlCol="0" anchor="ctr">
            <a:normAutofit/>
          </a:bodyPr>
          <a:lstStyle/>
          <a:p>
            <a:pPr algn="l" indent="0" marL="0">
              <a:buNone/>
            </a:pPr>
            <a:r>
              <a:rPr lang="en-US" sz="2100" b="1" dirty="0">
                <a:solidFill>
                  <a:srgbClr val="122239"/>
                </a:solidFill>
                <a:latin typeface="Aptos" pitchFamily="34" charset="0"/>
                <a:ea typeface="Aptos" pitchFamily="34" charset="-122"/>
                <a:cs typeface="Aptos" pitchFamily="34" charset="-120"/>
              </a:rPr>
              <a:t>OrderCreated</a:t>
            </a:r>
            <a:endParaRPr lang="en-US" sz="2100" dirty="0"/>
          </a:p>
        </p:txBody>
      </p:sp>
      <p:sp>
        <p:nvSpPr>
          <p:cNvPr id="16" name="Text 14"/>
          <p:cNvSpPr/>
          <p:nvPr/>
        </p:nvSpPr>
        <p:spPr>
          <a:xfrm>
            <a:off x="868680" y="3154680"/>
            <a:ext cx="4663440" cy="283464"/>
          </a:xfrm>
          <a:prstGeom prst="rect">
            <a:avLst/>
          </a:prstGeom>
          <a:noFill/>
          <a:ln/>
        </p:spPr>
        <p:txBody>
          <a:bodyPr wrap="square" lIns="0" tIns="0" rIns="0" bIns="0" rtlCol="0" anchor="ctr">
            <a:normAutofit/>
          </a:bodyPr>
          <a:lstStyle/>
          <a:p>
            <a:pPr algn="l" indent="0" marL="0">
              <a:buNone/>
            </a:pPr>
            <a:r>
              <a:rPr lang="en-US" sz="1600" b="1" dirty="0">
                <a:solidFill>
                  <a:srgbClr val="A92D39"/>
                </a:solidFill>
                <a:latin typeface="Aptos" pitchFamily="34" charset="0"/>
                <a:ea typeface="Aptos" pitchFamily="34" charset="-122"/>
                <a:cs typeface="Aptos" pitchFamily="34" charset="-120"/>
              </a:rPr>
              <a:t>Machine A  ·  10:00:00.100</a:t>
            </a:r>
            <a:endParaRPr lang="en-US" sz="1600" dirty="0"/>
          </a:p>
        </p:txBody>
      </p:sp>
      <p:sp>
        <p:nvSpPr>
          <p:cNvPr id="17" name="Shape 15"/>
          <p:cNvSpPr/>
          <p:nvPr/>
        </p:nvSpPr>
        <p:spPr>
          <a:xfrm>
            <a:off x="6172200" y="2240280"/>
            <a:ext cx="5376672" cy="1847088"/>
          </a:xfrm>
          <a:prstGeom prst="roundRect">
            <a:avLst>
              <a:gd name="adj" fmla="val 6436"/>
            </a:avLst>
          </a:prstGeom>
          <a:solidFill>
            <a:srgbClr val="FFF0F0"/>
          </a:solidFill>
          <a:ln w="12700">
            <a:solidFill>
              <a:srgbClr val="F4C8CB"/>
            </a:solidFill>
            <a:prstDash val="solid"/>
          </a:ln>
        </p:spPr>
        <p:txBody>
          <a:bodyPr/>
          <a:p/>
        </p:txBody>
      </p:sp>
      <p:sp>
        <p:nvSpPr>
          <p:cNvPr id="18" name="Text 16"/>
          <p:cNvSpPr/>
          <p:nvPr/>
        </p:nvSpPr>
        <p:spPr>
          <a:xfrm>
            <a:off x="6437376" y="2587752"/>
            <a:ext cx="4736592" cy="329184"/>
          </a:xfrm>
          <a:prstGeom prst="rect">
            <a:avLst/>
          </a:prstGeom>
          <a:noFill/>
          <a:ln/>
        </p:spPr>
        <p:txBody>
          <a:bodyPr wrap="square" lIns="0" tIns="0" rIns="0" bIns="0" rtlCol="0" anchor="ctr">
            <a:normAutofit/>
          </a:bodyPr>
          <a:lstStyle/>
          <a:p>
            <a:pPr algn="l" indent="0" marL="0">
              <a:buNone/>
            </a:pPr>
            <a:r>
              <a:rPr lang="en-US" sz="2100" b="1" dirty="0">
                <a:solidFill>
                  <a:srgbClr val="122239"/>
                </a:solidFill>
                <a:latin typeface="Aptos" pitchFamily="34" charset="0"/>
                <a:ea typeface="Aptos" pitchFamily="34" charset="-122"/>
                <a:cs typeface="Aptos" pitchFamily="34" charset="-120"/>
              </a:rPr>
              <a:t>PaymentProcessed</a:t>
            </a:r>
            <a:endParaRPr lang="en-US" sz="2100" dirty="0"/>
          </a:p>
        </p:txBody>
      </p:sp>
      <p:sp>
        <p:nvSpPr>
          <p:cNvPr id="19" name="Text 17"/>
          <p:cNvSpPr/>
          <p:nvPr/>
        </p:nvSpPr>
        <p:spPr>
          <a:xfrm>
            <a:off x="6455664" y="3154680"/>
            <a:ext cx="4636008" cy="283464"/>
          </a:xfrm>
          <a:prstGeom prst="rect">
            <a:avLst/>
          </a:prstGeom>
          <a:noFill/>
          <a:ln/>
        </p:spPr>
        <p:txBody>
          <a:bodyPr wrap="square" lIns="0" tIns="0" rIns="0" bIns="0" rtlCol="0" anchor="ctr">
            <a:normAutofit/>
          </a:bodyPr>
          <a:lstStyle/>
          <a:p>
            <a:pPr algn="l" indent="0" marL="0">
              <a:buNone/>
            </a:pPr>
            <a:r>
              <a:rPr lang="en-US" sz="1600" b="1" dirty="0">
                <a:solidFill>
                  <a:srgbClr val="A92D39"/>
                </a:solidFill>
                <a:latin typeface="Aptos" pitchFamily="34" charset="0"/>
                <a:ea typeface="Aptos" pitchFamily="34" charset="-122"/>
                <a:cs typeface="Aptos" pitchFamily="34" charset="-120"/>
              </a:rPr>
              <a:t>Machine B  ·  10:00:00.080</a:t>
            </a:r>
            <a:endParaRPr lang="en-US" sz="1600" dirty="0"/>
          </a:p>
        </p:txBody>
      </p:sp>
      <p:sp>
        <p:nvSpPr>
          <p:cNvPr id="20" name="Shape 18"/>
          <p:cNvSpPr/>
          <p:nvPr/>
        </p:nvSpPr>
        <p:spPr>
          <a:xfrm>
            <a:off x="603504" y="4398264"/>
            <a:ext cx="10972800" cy="1435608"/>
          </a:xfrm>
          <a:prstGeom prst="roundRect">
            <a:avLst>
              <a:gd name="adj" fmla="val 8280"/>
            </a:avLst>
          </a:prstGeom>
          <a:solidFill>
            <a:srgbClr val="E7F8F3"/>
          </a:solidFill>
          <a:ln w="12700">
            <a:solidFill>
              <a:srgbClr val="B4E6DD"/>
            </a:solidFill>
            <a:prstDash val="solid"/>
          </a:ln>
        </p:spPr>
        <p:txBody>
          <a:bodyPr/>
          <a:p/>
        </p:txBody>
      </p:sp>
      <p:sp>
        <p:nvSpPr>
          <p:cNvPr id="21" name="Text 19"/>
          <p:cNvSpPr/>
          <p:nvPr/>
        </p:nvSpPr>
        <p:spPr>
          <a:xfrm>
            <a:off x="832104" y="4581144"/>
            <a:ext cx="10232136" cy="237744"/>
          </a:xfrm>
          <a:prstGeom prst="rect">
            <a:avLst/>
          </a:prstGeom>
          <a:noFill/>
          <a:ln/>
        </p:spPr>
        <p:txBody>
          <a:bodyPr wrap="square" lIns="0" tIns="0" rIns="0" bIns="0" rtlCol="0" anchor="ctr">
            <a:normAutofit/>
          </a:bodyPr>
          <a:lstStyle/>
          <a:p>
            <a:pPr algn="l" indent="0" marL="0">
              <a:buNone/>
            </a:pPr>
            <a:r>
              <a:rPr sz="1200" b="1">
                <a:solidFill>
                  <a:srgbClr val="008F83"/>
                </a:solidFill>
                <a:latin typeface="Aptos"/>
              </a:rPr>
              <a:t>LOGICAL CLOCK SOLUTION</a:t>
            </a:r>
            <a:endParaRPr lang="en-US" sz="1300" dirty="0"/>
          </a:p>
        </p:txBody>
      </p:sp>
      <p:sp>
        <p:nvSpPr>
          <p:cNvPr id="22" name="Text 20"/>
          <p:cNvSpPr/>
          <p:nvPr/>
        </p:nvSpPr>
        <p:spPr>
          <a:xfrm>
            <a:off x="832104" y="4992624"/>
            <a:ext cx="9948672" cy="329184"/>
          </a:xfrm>
          <a:prstGeom prst="rect">
            <a:avLst/>
          </a:prstGeom>
          <a:noFill/>
          <a:ln/>
        </p:spPr>
        <p:txBody>
          <a:bodyPr wrap="square" lIns="0" tIns="0" rIns="0" bIns="0" rtlCol="0" anchor="ctr">
            <a:normAutofit/>
          </a:bodyPr>
          <a:lstStyle/>
          <a:p>
            <a:pPr algn="l" indent="0" marL="0">
              <a:buNone/>
            </a:pPr>
            <a:r>
              <a:rPr lang="en-US" sz="1700" b="1" dirty="0">
                <a:solidFill>
                  <a:srgbClr val="122239"/>
                </a:solidFill>
                <a:latin typeface="Aptos" pitchFamily="34" charset="0"/>
                <a:ea typeface="Aptos" pitchFamily="34" charset="-122"/>
                <a:cs typeface="Aptos" pitchFamily="34" charset="-120"/>
              </a:rPr>
              <a:t>Send a logical counter with the request; receiver uses max(local, received) + 1.</a:t>
            </a:r>
            <a:endParaRPr lang="en-US" sz="1700" dirty="0"/>
          </a:p>
        </p:txBody>
      </p:sp>
      <p:sp>
        <p:nvSpPr>
          <p:cNvPr id="23" name="Text 21"/>
          <p:cNvSpPr/>
          <p:nvPr/>
        </p:nvSpPr>
        <p:spPr>
          <a:xfrm>
            <a:off x="722376" y="6126480"/>
            <a:ext cx="10799064" cy="256032"/>
          </a:xfrm>
          <a:prstGeom prst="rect">
            <a:avLst/>
          </a:prstGeom>
          <a:noFill/>
          <a:ln/>
        </p:spPr>
        <p:txBody>
          <a:bodyPr wrap="square" lIns="0" tIns="0" rIns="0" bIns="0" rtlCol="0" anchor="ctr">
            <a:normAutofit/>
          </a:bodyPr>
          <a:lstStyle/>
          <a:p>
            <a:pPr algn="ctr" indent="0" marL="0">
              <a:buNone/>
            </a:pPr>
            <a:r>
              <a:rPr lang="en-US" sz="1300" b="1" dirty="0">
                <a:solidFill>
                  <a:srgbClr val="008F83"/>
                </a:solidFill>
                <a:latin typeface="Aptos" pitchFamily="34" charset="0"/>
                <a:ea typeface="Aptos" pitchFamily="34" charset="-122"/>
                <a:cs typeface="Aptos" pitchFamily="34" charset="-120"/>
              </a:rPr>
              <a:t>If A caused B, then L(A) &lt; L(B). The reverse alone does not prove causation.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J</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A slow payment service makes checkout requests pile up</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Order Service keeps waiting for Payment Service while more customers place orders.</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CUSTOMER</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Checkout requests</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Keep arriving</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WAITING</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 Service</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Pending calls increase</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BOTTLENECK</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Payment Service</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Responds very slowly</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Calls remain in progress while the dependency is delayed.</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Memory, connections or concurrency limits can fill and affect other requests.</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29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RESILIENCE</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30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Timeouts put an upper bound on waiting</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The caller stops waiting after its deadline; remote outcome may still be unknown.</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30</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J1</a:t>
            </a:r>
            <a:endParaRPr lang="en-US" sz="1000" dirty="0"/>
          </a:p>
        </p:txBody>
      </p:sp>
      <p:sp>
        <p:nvSpPr>
          <p:cNvPr id="14" name="Shape 12"/>
          <p:cNvSpPr/>
          <p:nvPr/>
        </p:nvSpPr>
        <p:spPr>
          <a:xfrm>
            <a:off x="621792" y="2322576"/>
            <a:ext cx="10972800" cy="2194560"/>
          </a:xfrm>
          <a:prstGeom prst="roundRect">
            <a:avLst>
              <a:gd name="adj" fmla="val 5417"/>
            </a:avLst>
          </a:prstGeom>
          <a:solidFill>
            <a:srgbClr val="F7F9FC"/>
          </a:solidFill>
          <a:ln w="12700">
            <a:solidFill>
              <a:srgbClr val="DFE7F1"/>
            </a:solidFill>
            <a:prstDash val="solid"/>
          </a:ln>
        </p:spPr>
        <p:txBody>
          <a:bodyPr/>
          <a:p/>
        </p:txBody>
      </p:sp>
      <p:sp>
        <p:nvSpPr>
          <p:cNvPr id="15" name="Text 13"/>
          <p:cNvSpPr/>
          <p:nvPr/>
        </p:nvSpPr>
        <p:spPr>
          <a:xfrm>
            <a:off x="841248" y="2551176"/>
            <a:ext cx="1847088" cy="219456"/>
          </a:xfrm>
          <a:prstGeom prst="rect">
            <a:avLst/>
          </a:prstGeom>
          <a:noFill/>
          <a:ln/>
        </p:spPr>
        <p:txBody>
          <a:bodyPr wrap="square" lIns="0" tIns="0" rIns="0" bIns="0" rtlCol="0" anchor="ctr">
            <a:normAutofit/>
          </a:bodyPr>
          <a:lstStyle/>
          <a:p>
            <a:pPr algn="l" indent="0" marL="0">
              <a:buNone/>
            </a:pPr>
            <a:r>
              <a:rPr lang="en-US" sz="1200" b="1" dirty="0">
                <a:solidFill>
                  <a:srgbClr val="2866F6"/>
                </a:solidFill>
                <a:latin typeface="Aptos" pitchFamily="34" charset="0"/>
                <a:ea typeface="Aptos" pitchFamily="34" charset="-122"/>
                <a:cs typeface="Aptos" pitchFamily="34" charset="-120"/>
              </a:rPr>
              <a:t>REQUEST SENT</a:t>
            </a:r>
            <a:endParaRPr lang="en-US" sz="1200" dirty="0"/>
          </a:p>
        </p:txBody>
      </p:sp>
      <p:sp>
        <p:nvSpPr>
          <p:cNvPr id="16" name="Text 14"/>
          <p:cNvSpPr/>
          <p:nvPr/>
        </p:nvSpPr>
        <p:spPr>
          <a:xfrm>
            <a:off x="8924544" y="2551176"/>
            <a:ext cx="2157984" cy="219456"/>
          </a:xfrm>
          <a:prstGeom prst="rect">
            <a:avLst/>
          </a:prstGeom>
          <a:noFill/>
          <a:ln/>
        </p:spPr>
        <p:txBody>
          <a:bodyPr wrap="square" lIns="0" tIns="0" rIns="0" bIns="0" rtlCol="0" anchor="ctr">
            <a:normAutofit/>
          </a:bodyPr>
          <a:lstStyle/>
          <a:p>
            <a:pPr algn="l" indent="0" marL="0">
              <a:buNone/>
            </a:pPr>
            <a:r>
              <a:rPr lang="en-US" sz="1200" b="1" dirty="0">
                <a:solidFill>
                  <a:srgbClr val="D84148"/>
                </a:solidFill>
                <a:latin typeface="Aptos" pitchFamily="34" charset="0"/>
                <a:ea typeface="Aptos" pitchFamily="34" charset="-122"/>
                <a:cs typeface="Aptos" pitchFamily="34" charset="-120"/>
              </a:rPr>
              <a:t>TIMEOUT REACHED</a:t>
            </a:r>
            <a:endParaRPr lang="en-US" sz="1200" dirty="0"/>
          </a:p>
        </p:txBody>
      </p:sp>
      <p:sp>
        <p:nvSpPr>
          <p:cNvPr id="17" name="Shape 15"/>
          <p:cNvSpPr/>
          <p:nvPr/>
        </p:nvSpPr>
        <p:spPr>
          <a:xfrm>
            <a:off x="1005840" y="3182112"/>
            <a:ext cx="7479792" cy="320040"/>
          </a:xfrm>
          <a:prstGeom prst="rect">
            <a:avLst/>
          </a:prstGeom>
          <a:solidFill>
            <a:srgbClr val="ECF3FF"/>
          </a:solidFill>
          <a:ln w="12700">
            <a:solidFill>
              <a:srgbClr val="ECF3FF"/>
            </a:solidFill>
            <a:prstDash val="solid"/>
          </a:ln>
        </p:spPr>
        <p:txBody>
          <a:bodyPr/>
          <a:p/>
        </p:txBody>
      </p:sp>
      <p:sp>
        <p:nvSpPr>
          <p:cNvPr id="18" name="Shape 16"/>
          <p:cNvSpPr/>
          <p:nvPr/>
        </p:nvSpPr>
        <p:spPr>
          <a:xfrm>
            <a:off x="8494776" y="3182112"/>
            <a:ext cx="1975104" cy="320040"/>
          </a:xfrm>
          <a:prstGeom prst="rect">
            <a:avLst/>
          </a:prstGeom>
          <a:solidFill>
            <a:srgbClr val="FFF0F0"/>
          </a:solidFill>
          <a:ln w="12700">
            <a:solidFill>
              <a:srgbClr val="FFF0F0"/>
            </a:solidFill>
            <a:prstDash val="solid"/>
          </a:ln>
        </p:spPr>
        <p:txBody>
          <a:bodyPr/>
          <a:p/>
        </p:txBody>
      </p:sp>
      <p:sp>
        <p:nvSpPr>
          <p:cNvPr id="19" name="Shape 17"/>
          <p:cNvSpPr/>
          <p:nvPr/>
        </p:nvSpPr>
        <p:spPr>
          <a:xfrm>
            <a:off x="8458200" y="2926080"/>
            <a:ext cx="0" cy="932688"/>
          </a:xfrm>
          <a:prstGeom prst="line">
            <a:avLst/>
          </a:prstGeom>
          <a:noFill/>
          <a:ln w="25400">
            <a:solidFill>
              <a:srgbClr val="D84148"/>
            </a:solidFill>
            <a:prstDash val="dash"/>
            <a:headEnd type="none"/>
            <a:tailEnd type="none"/>
          </a:ln>
        </p:spPr>
        <p:txBody>
          <a:bodyPr/>
          <a:p/>
        </p:txBody>
      </p:sp>
      <p:sp>
        <p:nvSpPr>
          <p:cNvPr id="20" name="Text 18"/>
          <p:cNvSpPr/>
          <p:nvPr/>
        </p:nvSpPr>
        <p:spPr>
          <a:xfrm>
            <a:off x="2926080" y="3246120"/>
            <a:ext cx="3657600" cy="182880"/>
          </a:xfrm>
          <a:prstGeom prst="rect">
            <a:avLst/>
          </a:prstGeom>
          <a:noFill/>
          <a:ln/>
        </p:spPr>
        <p:txBody>
          <a:bodyPr wrap="square" lIns="0" tIns="0" rIns="0" bIns="0" rtlCol="0" anchor="ctr">
            <a:normAutofit/>
          </a:bodyPr>
          <a:lstStyle/>
          <a:p>
            <a:pPr algn="ctr" indent="0" marL="0">
              <a:buNone/>
            </a:pPr>
            <a:r>
              <a:rPr lang="en-US" sz="1400" b="1" dirty="0">
                <a:solidFill>
                  <a:srgbClr val="2866F6"/>
                </a:solidFill>
                <a:latin typeface="Aptos" pitchFamily="34" charset="0"/>
                <a:ea typeface="Aptos" pitchFamily="34" charset="-122"/>
                <a:cs typeface="Aptos" pitchFamily="34" charset="-120"/>
              </a:rPr>
              <a:t>Caller waiting</a:t>
            </a:r>
            <a:endParaRPr lang="en-US" sz="1400" dirty="0"/>
          </a:p>
        </p:txBody>
      </p:sp>
      <p:sp>
        <p:nvSpPr>
          <p:cNvPr id="21" name="Text 19"/>
          <p:cNvSpPr/>
          <p:nvPr/>
        </p:nvSpPr>
        <p:spPr>
          <a:xfrm>
            <a:off x="8622792" y="3255264"/>
            <a:ext cx="1828800" cy="182880"/>
          </a:xfrm>
          <a:prstGeom prst="rect">
            <a:avLst/>
          </a:prstGeom>
          <a:noFill/>
          <a:ln/>
        </p:spPr>
        <p:txBody>
          <a:bodyPr wrap="square" lIns="0" tIns="0" rIns="0" bIns="0" rtlCol="0" anchor="ctr">
            <a:normAutofit/>
          </a:bodyPr>
          <a:lstStyle/>
          <a:p>
            <a:pPr algn="ctr" indent="0" marL="0">
              <a:buNone/>
            </a:pPr>
            <a:r>
              <a:rPr lang="en-US" sz="1300" b="1" dirty="0">
                <a:solidFill>
                  <a:srgbClr val="A92D39"/>
                </a:solidFill>
                <a:latin typeface="Aptos" pitchFamily="34" charset="0"/>
                <a:ea typeface="Aptos" pitchFamily="34" charset="-122"/>
                <a:cs typeface="Aptos" pitchFamily="34" charset="-120"/>
              </a:rPr>
              <a:t>Stop waiting</a:t>
            </a:r>
            <a:endParaRPr lang="en-US" sz="1300" dirty="0"/>
          </a:p>
        </p:txBody>
      </p:sp>
      <p:sp>
        <p:nvSpPr>
          <p:cNvPr id="22" name="Shape 20"/>
          <p:cNvSpPr/>
          <p:nvPr/>
        </p:nvSpPr>
        <p:spPr>
          <a:xfrm>
            <a:off x="603504" y="4837176"/>
            <a:ext cx="3553968" cy="1298448"/>
          </a:xfrm>
          <a:prstGeom prst="roundRect">
            <a:avLst>
              <a:gd name="adj" fmla="val 9859"/>
            </a:avLst>
          </a:prstGeom>
          <a:solidFill>
            <a:srgbClr val="F7F9FC"/>
          </a:solidFill>
          <a:ln w="12700">
            <a:solidFill>
              <a:srgbClr val="DFE7F1"/>
            </a:solidFill>
            <a:prstDash val="solid"/>
          </a:ln>
        </p:spPr>
        <p:txBody>
          <a:bodyPr/>
          <a:p/>
        </p:txBody>
      </p:sp>
      <p:sp>
        <p:nvSpPr>
          <p:cNvPr id="23" name="Shape 21"/>
          <p:cNvSpPr/>
          <p:nvPr/>
        </p:nvSpPr>
        <p:spPr>
          <a:xfrm>
            <a:off x="603504" y="4837176"/>
            <a:ext cx="50292" cy="1298448"/>
          </a:xfrm>
          <a:prstGeom prst="rect">
            <a:avLst/>
          </a:prstGeom>
          <a:solidFill>
            <a:srgbClr val="2866F6"/>
          </a:solidFill>
          <a:ln w="12700">
            <a:solidFill>
              <a:srgbClr val="2866F6"/>
            </a:solidFill>
            <a:prstDash val="solid"/>
          </a:ln>
        </p:spPr>
        <p:txBody>
          <a:bodyPr/>
          <a:p/>
        </p:txBody>
      </p:sp>
      <p:sp>
        <p:nvSpPr>
          <p:cNvPr id="24" name="Text 22"/>
          <p:cNvSpPr/>
          <p:nvPr/>
        </p:nvSpPr>
        <p:spPr>
          <a:xfrm>
            <a:off x="777240" y="4956048"/>
            <a:ext cx="322478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Set a deadline</a:t>
            </a:r>
            <a:endParaRPr lang="en-US" sz="1340" dirty="0"/>
          </a:p>
        </p:txBody>
      </p:sp>
      <p:sp>
        <p:nvSpPr>
          <p:cNvPr id="25" name="Text 23"/>
          <p:cNvSpPr/>
          <p:nvPr/>
        </p:nvSpPr>
        <p:spPr>
          <a:xfrm>
            <a:off x="777240" y="5340096"/>
            <a:ext cx="3215640" cy="71323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Choose a budget from observed latency and caller requirements.</a:t>
            </a:r>
            <a:endParaRPr lang="en-US" sz="1230" dirty="0"/>
          </a:p>
        </p:txBody>
      </p:sp>
      <p:sp>
        <p:nvSpPr>
          <p:cNvPr id="26" name="Shape 24"/>
          <p:cNvSpPr/>
          <p:nvPr/>
        </p:nvSpPr>
        <p:spPr>
          <a:xfrm>
            <a:off x="4303776" y="4837176"/>
            <a:ext cx="3553968" cy="1298448"/>
          </a:xfrm>
          <a:prstGeom prst="roundRect">
            <a:avLst>
              <a:gd name="adj" fmla="val 9859"/>
            </a:avLst>
          </a:prstGeom>
          <a:solidFill>
            <a:srgbClr val="F7F9FC"/>
          </a:solidFill>
          <a:ln w="12700">
            <a:solidFill>
              <a:srgbClr val="DFE7F1"/>
            </a:solidFill>
            <a:prstDash val="solid"/>
          </a:ln>
        </p:spPr>
        <p:txBody>
          <a:bodyPr/>
          <a:p/>
        </p:txBody>
      </p:sp>
      <p:sp>
        <p:nvSpPr>
          <p:cNvPr id="27" name="Shape 25"/>
          <p:cNvSpPr/>
          <p:nvPr/>
        </p:nvSpPr>
        <p:spPr>
          <a:xfrm>
            <a:off x="4303776" y="4837176"/>
            <a:ext cx="50292" cy="1298448"/>
          </a:xfrm>
          <a:prstGeom prst="rect">
            <a:avLst/>
          </a:prstGeom>
          <a:solidFill>
            <a:srgbClr val="2866F6"/>
          </a:solidFill>
          <a:ln w="12700">
            <a:solidFill>
              <a:srgbClr val="2866F6"/>
            </a:solidFill>
            <a:prstDash val="solid"/>
          </a:ln>
        </p:spPr>
        <p:txBody>
          <a:bodyPr/>
          <a:p/>
        </p:txBody>
      </p:sp>
      <p:sp>
        <p:nvSpPr>
          <p:cNvPr id="28" name="Text 26"/>
          <p:cNvSpPr/>
          <p:nvPr/>
        </p:nvSpPr>
        <p:spPr>
          <a:xfrm>
            <a:off x="4477512" y="4956048"/>
            <a:ext cx="322478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Cancellation is limited</a:t>
            </a:r>
            <a:endParaRPr lang="en-US" sz="1340" dirty="0"/>
          </a:p>
        </p:txBody>
      </p:sp>
      <p:sp>
        <p:nvSpPr>
          <p:cNvPr id="29" name="Text 27"/>
          <p:cNvSpPr/>
          <p:nvPr/>
        </p:nvSpPr>
        <p:spPr>
          <a:xfrm>
            <a:off x="4477512" y="5340096"/>
            <a:ext cx="3215640" cy="71323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Aborting a client call cannot undo a remote commit.</a:t>
            </a:r>
            <a:endParaRPr lang="en-US" sz="1230" dirty="0"/>
          </a:p>
        </p:txBody>
      </p:sp>
      <p:sp>
        <p:nvSpPr>
          <p:cNvPr id="30" name="Shape 28"/>
          <p:cNvSpPr/>
          <p:nvPr/>
        </p:nvSpPr>
        <p:spPr>
          <a:xfrm>
            <a:off x="8004048" y="4837176"/>
            <a:ext cx="3553968" cy="1298448"/>
          </a:xfrm>
          <a:prstGeom prst="roundRect">
            <a:avLst>
              <a:gd name="adj" fmla="val 9859"/>
            </a:avLst>
          </a:prstGeom>
          <a:solidFill>
            <a:srgbClr val="F7F9FC"/>
          </a:solidFill>
          <a:ln w="12700">
            <a:solidFill>
              <a:srgbClr val="DFE7F1"/>
            </a:solidFill>
            <a:prstDash val="solid"/>
          </a:ln>
        </p:spPr>
        <p:txBody>
          <a:bodyPr/>
          <a:p/>
        </p:txBody>
      </p:sp>
      <p:sp>
        <p:nvSpPr>
          <p:cNvPr id="31" name="Shape 29"/>
          <p:cNvSpPr/>
          <p:nvPr/>
        </p:nvSpPr>
        <p:spPr>
          <a:xfrm>
            <a:off x="8004048" y="4837176"/>
            <a:ext cx="50292" cy="1298448"/>
          </a:xfrm>
          <a:prstGeom prst="rect">
            <a:avLst/>
          </a:prstGeom>
          <a:solidFill>
            <a:srgbClr val="2866F6"/>
          </a:solidFill>
          <a:ln w="12700">
            <a:solidFill>
              <a:srgbClr val="2866F6"/>
            </a:solidFill>
            <a:prstDash val="solid"/>
          </a:ln>
        </p:spPr>
        <p:txBody>
          <a:bodyPr/>
          <a:p/>
        </p:txBody>
      </p:sp>
      <p:sp>
        <p:nvSpPr>
          <p:cNvPr id="32" name="Text 30"/>
          <p:cNvSpPr/>
          <p:nvPr/>
        </p:nvSpPr>
        <p:spPr>
          <a:xfrm>
            <a:off x="8177784" y="4956048"/>
            <a:ext cx="322478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Timeout ≠ failure proof</a:t>
            </a:r>
            <a:endParaRPr lang="en-US" sz="1340" dirty="0"/>
          </a:p>
        </p:txBody>
      </p:sp>
      <p:sp>
        <p:nvSpPr>
          <p:cNvPr id="33" name="Text 31"/>
          <p:cNvSpPr/>
          <p:nvPr/>
        </p:nvSpPr>
        <p:spPr>
          <a:xfrm>
            <a:off x="8177784" y="5340096"/>
            <a:ext cx="3215640" cy="71323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The payment may have succeeded before the reply was lost.</a:t>
            </a:r>
            <a:endParaRPr lang="en-US" sz="123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RESILIENCE</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31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Temporary failures deserve careful retries</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Backoff gives the dependency time to recover; jitter prevents synchronized bursts.</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31</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J2</a:t>
            </a:r>
            <a:endParaRPr lang="en-US" sz="1000" dirty="0"/>
          </a:p>
        </p:txBody>
      </p:sp>
      <p:sp>
        <p:nvSpPr>
          <p:cNvPr id="14" name="Shape 12"/>
          <p:cNvSpPr/>
          <p:nvPr/>
        </p:nvSpPr>
        <p:spPr>
          <a:xfrm>
            <a:off x="667512" y="2532888"/>
            <a:ext cx="2026310" cy="1097280"/>
          </a:xfrm>
          <a:prstGeom prst="roundRect">
            <a:avLst>
              <a:gd name="adj" fmla="val 11667"/>
            </a:avLst>
          </a:prstGeom>
          <a:solidFill>
            <a:srgbClr val="ECF3FF"/>
          </a:solidFill>
          <a:ln w="12700">
            <a:solidFill>
              <a:srgbClr val="CBDBFF"/>
            </a:solidFill>
            <a:prstDash val="solid"/>
          </a:ln>
        </p:spPr>
        <p:txBody>
          <a:bodyPr/>
          <a:p/>
        </p:txBody>
      </p:sp>
      <p:sp>
        <p:nvSpPr>
          <p:cNvPr id="15" name="Text 13"/>
          <p:cNvSpPr/>
          <p:nvPr/>
        </p:nvSpPr>
        <p:spPr>
          <a:xfrm>
            <a:off x="777240" y="2651760"/>
            <a:ext cx="180685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Attempt 1</a:t>
            </a:r>
            <a:endParaRPr lang="en-US" sz="1500" dirty="0"/>
          </a:p>
        </p:txBody>
      </p:sp>
      <p:sp>
        <p:nvSpPr>
          <p:cNvPr id="16" name="Text 14"/>
          <p:cNvSpPr/>
          <p:nvPr/>
        </p:nvSpPr>
        <p:spPr>
          <a:xfrm>
            <a:off x="804672" y="3072384"/>
            <a:ext cx="175199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503</a:t>
            </a:r>
            <a:endParaRPr lang="en-US" sz="1150" dirty="0"/>
          </a:p>
        </p:txBody>
      </p:sp>
      <p:sp>
        <p:nvSpPr>
          <p:cNvPr id="17" name="Shape 15"/>
          <p:cNvSpPr/>
          <p:nvPr/>
        </p:nvSpPr>
        <p:spPr>
          <a:xfrm>
            <a:off x="2730398" y="3035808"/>
            <a:ext cx="109728" cy="0"/>
          </a:xfrm>
          <a:prstGeom prst="line">
            <a:avLst/>
          </a:prstGeom>
          <a:noFill/>
          <a:ln w="21590">
            <a:solidFill>
              <a:srgbClr val="2866F6"/>
            </a:solidFill>
            <a:prstDash val="solid"/>
            <a:headEnd type="none"/>
            <a:tailEnd type="triangle"/>
          </a:ln>
        </p:spPr>
        <p:txBody>
          <a:bodyPr/>
          <a:p/>
        </p:txBody>
      </p:sp>
      <p:sp>
        <p:nvSpPr>
          <p:cNvPr id="18" name="Shape 16"/>
          <p:cNvSpPr/>
          <p:nvPr/>
        </p:nvSpPr>
        <p:spPr>
          <a:xfrm>
            <a:off x="2876702" y="2532888"/>
            <a:ext cx="2026310" cy="1097280"/>
          </a:xfrm>
          <a:prstGeom prst="roundRect">
            <a:avLst>
              <a:gd name="adj" fmla="val 11667"/>
            </a:avLst>
          </a:prstGeom>
          <a:solidFill>
            <a:srgbClr val="ECF3FF"/>
          </a:solidFill>
          <a:ln w="12700">
            <a:solidFill>
              <a:srgbClr val="CBDBFF"/>
            </a:solidFill>
            <a:prstDash val="solid"/>
          </a:ln>
        </p:spPr>
        <p:txBody>
          <a:bodyPr/>
          <a:p/>
        </p:txBody>
      </p:sp>
      <p:sp>
        <p:nvSpPr>
          <p:cNvPr id="19" name="Text 17"/>
          <p:cNvSpPr/>
          <p:nvPr/>
        </p:nvSpPr>
        <p:spPr>
          <a:xfrm>
            <a:off x="2986430" y="2651760"/>
            <a:ext cx="180685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Wait</a:t>
            </a:r>
            <a:endParaRPr lang="en-US" sz="1500" dirty="0"/>
          </a:p>
        </p:txBody>
      </p:sp>
      <p:sp>
        <p:nvSpPr>
          <p:cNvPr id="20" name="Text 18"/>
          <p:cNvSpPr/>
          <p:nvPr/>
        </p:nvSpPr>
        <p:spPr>
          <a:xfrm>
            <a:off x="3013862" y="3072384"/>
            <a:ext cx="175199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200–300 ms</a:t>
            </a:r>
            <a:endParaRPr lang="en-US" sz="1150" dirty="0"/>
          </a:p>
        </p:txBody>
      </p:sp>
      <p:sp>
        <p:nvSpPr>
          <p:cNvPr id="21" name="Shape 19"/>
          <p:cNvSpPr/>
          <p:nvPr/>
        </p:nvSpPr>
        <p:spPr>
          <a:xfrm>
            <a:off x="4939589" y="3035808"/>
            <a:ext cx="109728" cy="0"/>
          </a:xfrm>
          <a:prstGeom prst="line">
            <a:avLst/>
          </a:prstGeom>
          <a:noFill/>
          <a:ln w="21590">
            <a:solidFill>
              <a:srgbClr val="2866F6"/>
            </a:solidFill>
            <a:prstDash val="solid"/>
            <a:headEnd type="none"/>
            <a:tailEnd type="triangle"/>
          </a:ln>
        </p:spPr>
        <p:txBody>
          <a:bodyPr/>
          <a:p/>
        </p:txBody>
      </p:sp>
      <p:sp>
        <p:nvSpPr>
          <p:cNvPr id="22" name="Shape 20"/>
          <p:cNvSpPr/>
          <p:nvPr/>
        </p:nvSpPr>
        <p:spPr>
          <a:xfrm>
            <a:off x="5085893" y="2532888"/>
            <a:ext cx="2026310" cy="1097280"/>
          </a:xfrm>
          <a:prstGeom prst="roundRect">
            <a:avLst>
              <a:gd name="adj" fmla="val 11667"/>
            </a:avLst>
          </a:prstGeom>
          <a:solidFill>
            <a:srgbClr val="ECF3FF"/>
          </a:solidFill>
          <a:ln w="12700">
            <a:solidFill>
              <a:srgbClr val="CBDBFF"/>
            </a:solidFill>
            <a:prstDash val="solid"/>
          </a:ln>
        </p:spPr>
        <p:txBody>
          <a:bodyPr/>
          <a:p/>
        </p:txBody>
      </p:sp>
      <p:sp>
        <p:nvSpPr>
          <p:cNvPr id="23" name="Text 21"/>
          <p:cNvSpPr/>
          <p:nvPr/>
        </p:nvSpPr>
        <p:spPr>
          <a:xfrm>
            <a:off x="5195621" y="2651760"/>
            <a:ext cx="180685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Attempt 2</a:t>
            </a:r>
            <a:endParaRPr lang="en-US" sz="1500" dirty="0"/>
          </a:p>
        </p:txBody>
      </p:sp>
      <p:sp>
        <p:nvSpPr>
          <p:cNvPr id="24" name="Text 22"/>
          <p:cNvSpPr/>
          <p:nvPr/>
        </p:nvSpPr>
        <p:spPr>
          <a:xfrm>
            <a:off x="5223053" y="3072384"/>
            <a:ext cx="175199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503</a:t>
            </a:r>
            <a:endParaRPr lang="en-US" sz="1150" dirty="0"/>
          </a:p>
        </p:txBody>
      </p:sp>
      <p:sp>
        <p:nvSpPr>
          <p:cNvPr id="25" name="Shape 23"/>
          <p:cNvSpPr/>
          <p:nvPr/>
        </p:nvSpPr>
        <p:spPr>
          <a:xfrm>
            <a:off x="7148779" y="3035808"/>
            <a:ext cx="109728" cy="0"/>
          </a:xfrm>
          <a:prstGeom prst="line">
            <a:avLst/>
          </a:prstGeom>
          <a:noFill/>
          <a:ln w="21590">
            <a:solidFill>
              <a:srgbClr val="2866F6"/>
            </a:solidFill>
            <a:prstDash val="solid"/>
            <a:headEnd type="none"/>
            <a:tailEnd type="triangle"/>
          </a:ln>
        </p:spPr>
        <p:txBody>
          <a:bodyPr/>
          <a:p/>
        </p:txBody>
      </p:sp>
      <p:sp>
        <p:nvSpPr>
          <p:cNvPr id="26" name="Shape 24"/>
          <p:cNvSpPr/>
          <p:nvPr/>
        </p:nvSpPr>
        <p:spPr>
          <a:xfrm>
            <a:off x="7295083" y="2532888"/>
            <a:ext cx="2026310" cy="1097280"/>
          </a:xfrm>
          <a:prstGeom prst="roundRect">
            <a:avLst>
              <a:gd name="adj" fmla="val 11667"/>
            </a:avLst>
          </a:prstGeom>
          <a:solidFill>
            <a:srgbClr val="ECF3FF"/>
          </a:solidFill>
          <a:ln w="12700">
            <a:solidFill>
              <a:srgbClr val="CBDBFF"/>
            </a:solidFill>
            <a:prstDash val="solid"/>
          </a:ln>
        </p:spPr>
        <p:txBody>
          <a:bodyPr/>
          <a:p/>
        </p:txBody>
      </p:sp>
      <p:sp>
        <p:nvSpPr>
          <p:cNvPr id="27" name="Text 25"/>
          <p:cNvSpPr/>
          <p:nvPr/>
        </p:nvSpPr>
        <p:spPr>
          <a:xfrm>
            <a:off x="7404811" y="2651760"/>
            <a:ext cx="180685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Wait</a:t>
            </a:r>
            <a:endParaRPr lang="en-US" sz="1500" dirty="0"/>
          </a:p>
        </p:txBody>
      </p:sp>
      <p:sp>
        <p:nvSpPr>
          <p:cNvPr id="28" name="Text 26"/>
          <p:cNvSpPr/>
          <p:nvPr/>
        </p:nvSpPr>
        <p:spPr>
          <a:xfrm>
            <a:off x="7432243" y="3072384"/>
            <a:ext cx="175199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400–500 ms</a:t>
            </a:r>
            <a:endParaRPr lang="en-US" sz="1150" dirty="0"/>
          </a:p>
        </p:txBody>
      </p:sp>
      <p:sp>
        <p:nvSpPr>
          <p:cNvPr id="29" name="Shape 27"/>
          <p:cNvSpPr/>
          <p:nvPr/>
        </p:nvSpPr>
        <p:spPr>
          <a:xfrm>
            <a:off x="9357970" y="3035808"/>
            <a:ext cx="109728" cy="0"/>
          </a:xfrm>
          <a:prstGeom prst="line">
            <a:avLst/>
          </a:prstGeom>
          <a:noFill/>
          <a:ln w="21590">
            <a:solidFill>
              <a:srgbClr val="2866F6"/>
            </a:solidFill>
            <a:prstDash val="solid"/>
            <a:headEnd type="none"/>
            <a:tailEnd type="triangle"/>
          </a:ln>
        </p:spPr>
        <p:txBody>
          <a:bodyPr/>
          <a:p/>
        </p:txBody>
      </p:sp>
      <p:sp>
        <p:nvSpPr>
          <p:cNvPr id="30" name="Shape 28"/>
          <p:cNvSpPr/>
          <p:nvPr/>
        </p:nvSpPr>
        <p:spPr>
          <a:xfrm>
            <a:off x="9504274" y="2532888"/>
            <a:ext cx="2026310" cy="1097280"/>
          </a:xfrm>
          <a:prstGeom prst="roundRect">
            <a:avLst>
              <a:gd name="adj" fmla="val 11667"/>
            </a:avLst>
          </a:prstGeom>
          <a:solidFill>
            <a:srgbClr val="E7F8F3"/>
          </a:solidFill>
          <a:ln w="12700">
            <a:solidFill>
              <a:srgbClr val="B4E6DD"/>
            </a:solidFill>
            <a:prstDash val="solid"/>
          </a:ln>
        </p:spPr>
        <p:txBody>
          <a:bodyPr/>
          <a:p/>
        </p:txBody>
      </p:sp>
      <p:sp>
        <p:nvSpPr>
          <p:cNvPr id="31" name="Text 29"/>
          <p:cNvSpPr/>
          <p:nvPr/>
        </p:nvSpPr>
        <p:spPr>
          <a:xfrm>
            <a:off x="9614002" y="2651760"/>
            <a:ext cx="180685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Attempt 3</a:t>
            </a:r>
            <a:endParaRPr lang="en-US" sz="1500" dirty="0"/>
          </a:p>
        </p:txBody>
      </p:sp>
      <p:sp>
        <p:nvSpPr>
          <p:cNvPr id="32" name="Text 30"/>
          <p:cNvSpPr/>
          <p:nvPr/>
        </p:nvSpPr>
        <p:spPr>
          <a:xfrm>
            <a:off x="9641434" y="3072384"/>
            <a:ext cx="175199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200 OK</a:t>
            </a:r>
            <a:endParaRPr lang="en-US" sz="1150" dirty="0"/>
          </a:p>
        </p:txBody>
      </p:sp>
      <p:sp>
        <p:nvSpPr>
          <p:cNvPr id="33" name="Shape 31"/>
          <p:cNvSpPr/>
          <p:nvPr/>
        </p:nvSpPr>
        <p:spPr>
          <a:xfrm>
            <a:off x="603504" y="4718304"/>
            <a:ext cx="3557016" cy="1353312"/>
          </a:xfrm>
          <a:prstGeom prst="roundRect">
            <a:avLst>
              <a:gd name="adj" fmla="val 9459"/>
            </a:avLst>
          </a:prstGeom>
          <a:solidFill>
            <a:srgbClr val="F7F9FC"/>
          </a:solidFill>
          <a:ln w="12700">
            <a:solidFill>
              <a:srgbClr val="DFE7F1"/>
            </a:solidFill>
            <a:prstDash val="solid"/>
          </a:ln>
        </p:spPr>
        <p:txBody>
          <a:bodyPr/>
          <a:p/>
        </p:txBody>
      </p:sp>
      <p:sp>
        <p:nvSpPr>
          <p:cNvPr id="34" name="Shape 32"/>
          <p:cNvSpPr/>
          <p:nvPr/>
        </p:nvSpPr>
        <p:spPr>
          <a:xfrm>
            <a:off x="603504" y="4718304"/>
            <a:ext cx="50292" cy="1353312"/>
          </a:xfrm>
          <a:prstGeom prst="rect">
            <a:avLst/>
          </a:prstGeom>
          <a:solidFill>
            <a:srgbClr val="2866F6"/>
          </a:solidFill>
          <a:ln w="12700">
            <a:solidFill>
              <a:srgbClr val="2866F6"/>
            </a:solidFill>
            <a:prstDash val="solid"/>
          </a:ln>
        </p:spPr>
        <p:txBody>
          <a:bodyPr/>
          <a:p/>
        </p:txBody>
      </p:sp>
      <p:sp>
        <p:nvSpPr>
          <p:cNvPr id="35" name="Text 33"/>
          <p:cNvSpPr/>
          <p:nvPr/>
        </p:nvSpPr>
        <p:spPr>
          <a:xfrm>
            <a:off x="777240" y="4837176"/>
            <a:ext cx="3227832"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Bounded retries</a:t>
            </a:r>
            <a:endParaRPr lang="en-US" sz="1340" dirty="0"/>
          </a:p>
        </p:txBody>
      </p:sp>
      <p:sp>
        <p:nvSpPr>
          <p:cNvPr id="36" name="Text 34"/>
          <p:cNvSpPr/>
          <p:nvPr/>
        </p:nvSpPr>
        <p:spPr>
          <a:xfrm>
            <a:off x="777240" y="5221224"/>
            <a:ext cx="3218688" cy="76809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Limit total attempts and honor an overall deadline.</a:t>
            </a:r>
            <a:endParaRPr lang="en-US" sz="1230" dirty="0"/>
          </a:p>
        </p:txBody>
      </p:sp>
      <p:sp>
        <p:nvSpPr>
          <p:cNvPr id="37" name="Shape 35"/>
          <p:cNvSpPr/>
          <p:nvPr/>
        </p:nvSpPr>
        <p:spPr>
          <a:xfrm>
            <a:off x="4306824" y="4718304"/>
            <a:ext cx="3557016" cy="1353312"/>
          </a:xfrm>
          <a:prstGeom prst="roundRect">
            <a:avLst>
              <a:gd name="adj" fmla="val 9459"/>
            </a:avLst>
          </a:prstGeom>
          <a:solidFill>
            <a:srgbClr val="F7F9FC"/>
          </a:solidFill>
          <a:ln w="12700">
            <a:solidFill>
              <a:srgbClr val="DFE7F1"/>
            </a:solidFill>
            <a:prstDash val="solid"/>
          </a:ln>
        </p:spPr>
        <p:txBody>
          <a:bodyPr/>
          <a:p/>
        </p:txBody>
      </p:sp>
      <p:sp>
        <p:nvSpPr>
          <p:cNvPr id="38" name="Shape 36"/>
          <p:cNvSpPr/>
          <p:nvPr/>
        </p:nvSpPr>
        <p:spPr>
          <a:xfrm>
            <a:off x="4306824" y="4718304"/>
            <a:ext cx="50292" cy="1353312"/>
          </a:xfrm>
          <a:prstGeom prst="rect">
            <a:avLst/>
          </a:prstGeom>
          <a:solidFill>
            <a:srgbClr val="2866F6"/>
          </a:solidFill>
          <a:ln w="12700">
            <a:solidFill>
              <a:srgbClr val="2866F6"/>
            </a:solidFill>
            <a:prstDash val="solid"/>
          </a:ln>
        </p:spPr>
        <p:txBody>
          <a:bodyPr/>
          <a:p/>
        </p:txBody>
      </p:sp>
      <p:sp>
        <p:nvSpPr>
          <p:cNvPr id="39" name="Text 37"/>
          <p:cNvSpPr/>
          <p:nvPr/>
        </p:nvSpPr>
        <p:spPr>
          <a:xfrm>
            <a:off x="4480560" y="4837176"/>
            <a:ext cx="3227832"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Exponential backoff</a:t>
            </a:r>
            <a:endParaRPr lang="en-US" sz="1340" dirty="0"/>
          </a:p>
        </p:txBody>
      </p:sp>
      <p:sp>
        <p:nvSpPr>
          <p:cNvPr id="40" name="Text 38"/>
          <p:cNvSpPr/>
          <p:nvPr/>
        </p:nvSpPr>
        <p:spPr>
          <a:xfrm>
            <a:off x="4480560" y="5221224"/>
            <a:ext cx="3218688" cy="76809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Each retry waits longer instead of immediately repeating.</a:t>
            </a:r>
            <a:endParaRPr lang="en-US" sz="1230" dirty="0"/>
          </a:p>
        </p:txBody>
      </p:sp>
      <p:sp>
        <p:nvSpPr>
          <p:cNvPr id="41" name="Shape 39"/>
          <p:cNvSpPr/>
          <p:nvPr/>
        </p:nvSpPr>
        <p:spPr>
          <a:xfrm>
            <a:off x="8010144" y="4718304"/>
            <a:ext cx="3557016" cy="1353312"/>
          </a:xfrm>
          <a:prstGeom prst="roundRect">
            <a:avLst>
              <a:gd name="adj" fmla="val 9459"/>
            </a:avLst>
          </a:prstGeom>
          <a:solidFill>
            <a:srgbClr val="F7F9FC"/>
          </a:solidFill>
          <a:ln w="12700">
            <a:solidFill>
              <a:srgbClr val="DFE7F1"/>
            </a:solidFill>
            <a:prstDash val="solid"/>
          </a:ln>
        </p:spPr>
        <p:txBody>
          <a:bodyPr/>
          <a:p/>
        </p:txBody>
      </p:sp>
      <p:sp>
        <p:nvSpPr>
          <p:cNvPr id="42" name="Shape 40"/>
          <p:cNvSpPr/>
          <p:nvPr/>
        </p:nvSpPr>
        <p:spPr>
          <a:xfrm>
            <a:off x="8010144" y="4718304"/>
            <a:ext cx="50292" cy="1353312"/>
          </a:xfrm>
          <a:prstGeom prst="rect">
            <a:avLst/>
          </a:prstGeom>
          <a:solidFill>
            <a:srgbClr val="2866F6"/>
          </a:solidFill>
          <a:ln w="12700">
            <a:solidFill>
              <a:srgbClr val="2866F6"/>
            </a:solidFill>
            <a:prstDash val="solid"/>
          </a:ln>
        </p:spPr>
        <p:txBody>
          <a:bodyPr/>
          <a:p/>
        </p:txBody>
      </p:sp>
      <p:sp>
        <p:nvSpPr>
          <p:cNvPr id="43" name="Text 41"/>
          <p:cNvSpPr/>
          <p:nvPr/>
        </p:nvSpPr>
        <p:spPr>
          <a:xfrm>
            <a:off x="8183880" y="4837176"/>
            <a:ext cx="3227832"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Jitter</a:t>
            </a:r>
            <a:endParaRPr lang="en-US" sz="1340" dirty="0"/>
          </a:p>
        </p:txBody>
      </p:sp>
      <p:sp>
        <p:nvSpPr>
          <p:cNvPr id="44" name="Text 42"/>
          <p:cNvSpPr/>
          <p:nvPr/>
        </p:nvSpPr>
        <p:spPr>
          <a:xfrm>
            <a:off x="8183880" y="5221224"/>
            <a:ext cx="3218688" cy="76809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Add randomness to prevent many clients retrying together.</a:t>
            </a:r>
            <a:endParaRPr lang="en-US" sz="1230" dirty="0"/>
          </a:p>
        </p:txBody>
      </p:sp>
      <p:sp>
        <p:nvSpPr>
          <p:cNvPr id="45" name="Text 43"/>
          <p:cNvSpPr/>
          <p:nvPr/>
        </p:nvSpPr>
        <p:spPr>
          <a:xfrm>
            <a:off x="667512" y="6263640"/>
            <a:ext cx="10744200" cy="274320"/>
          </a:xfrm>
          <a:prstGeom prst="rect">
            <a:avLst/>
          </a:prstGeom>
          <a:noFill/>
          <a:ln/>
        </p:spPr>
        <p:txBody>
          <a:bodyPr wrap="square" lIns="0" tIns="0" rIns="0" bIns="0" rtlCol="0" anchor="ctr">
            <a:normAutofit/>
          </a:bodyPr>
          <a:lstStyle/>
          <a:p>
            <a:pPr algn="ctr" indent="0" marL="0">
              <a:buNone/>
            </a:pPr>
            <a:r>
              <a:rPr lang="en-US" sz="1310" b="1" dirty="0">
                <a:solidFill>
                  <a:srgbClr val="2866F6"/>
                </a:solidFill>
                <a:latin typeface="Aptos" pitchFamily="34" charset="0"/>
                <a:ea typeface="Aptos" pitchFamily="34" charset="-122"/>
                <a:cs typeface="Aptos" pitchFamily="34" charset="-120"/>
              </a:rPr>
              <a:t>Retry only transient failures, and repeat side effects only when they are safe.</a:t>
            </a:r>
            <a:endParaRPr lang="en-US" sz="131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K</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Retries make an overloaded service even busier</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Two hundred requests each retry twice. The failing dependency may receive 600 calls.</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LOAD</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200 customer requests</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Hit a struggling service</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RETRIES</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Three total attempts</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For each request</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MORE LOAD</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Up to 600 calls</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Pressure triples</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Failing requests create more downstream attempts while the dependency is struggling.</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 temporary slowdown can turn into a longer outage or retry storm.</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32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RESILIENCE</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33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Retry budgets control the extra load</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Each recovery attempt must justify the pressure it places on a dependency.</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33</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K1</a:t>
            </a:r>
            <a:endParaRPr lang="en-US" sz="1000" dirty="0"/>
          </a:p>
        </p:txBody>
      </p:sp>
      <p:sp>
        <p:nvSpPr>
          <p:cNvPr id="14" name="Shape 12"/>
          <p:cNvSpPr/>
          <p:nvPr/>
        </p:nvSpPr>
        <p:spPr>
          <a:xfrm>
            <a:off x="603504" y="2322576"/>
            <a:ext cx="3560064" cy="1389888"/>
          </a:xfrm>
          <a:prstGeom prst="roundRect">
            <a:avLst>
              <a:gd name="adj" fmla="val 9211"/>
            </a:avLst>
          </a:prstGeom>
          <a:solidFill>
            <a:srgbClr val="F7F9FC"/>
          </a:solidFill>
          <a:ln w="12700">
            <a:solidFill>
              <a:srgbClr val="DFE7F1"/>
            </a:solidFill>
            <a:prstDash val="solid"/>
          </a:ln>
        </p:spPr>
        <p:txBody>
          <a:bodyPr/>
          <a:p/>
        </p:txBody>
      </p:sp>
      <p:sp>
        <p:nvSpPr>
          <p:cNvPr id="15" name="Shape 13"/>
          <p:cNvSpPr/>
          <p:nvPr/>
        </p:nvSpPr>
        <p:spPr>
          <a:xfrm>
            <a:off x="603504" y="2322576"/>
            <a:ext cx="50292" cy="1389888"/>
          </a:xfrm>
          <a:prstGeom prst="rect">
            <a:avLst/>
          </a:prstGeom>
          <a:solidFill>
            <a:srgbClr val="2866F6"/>
          </a:solidFill>
          <a:ln w="12700">
            <a:solidFill>
              <a:srgbClr val="2866F6"/>
            </a:solidFill>
            <a:prstDash val="solid"/>
          </a:ln>
        </p:spPr>
        <p:txBody>
          <a:bodyPr/>
          <a:p/>
        </p:txBody>
      </p:sp>
      <p:sp>
        <p:nvSpPr>
          <p:cNvPr id="16" name="Text 14"/>
          <p:cNvSpPr/>
          <p:nvPr/>
        </p:nvSpPr>
        <p:spPr>
          <a:xfrm>
            <a:off x="777240" y="2441448"/>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Retry only select errors</a:t>
            </a:r>
            <a:endParaRPr lang="en-US" sz="1340" dirty="0"/>
          </a:p>
        </p:txBody>
      </p:sp>
      <p:sp>
        <p:nvSpPr>
          <p:cNvPr id="17" name="Text 15"/>
          <p:cNvSpPr/>
          <p:nvPr/>
        </p:nvSpPr>
        <p:spPr>
          <a:xfrm>
            <a:off x="777240" y="2825496"/>
            <a:ext cx="3221736" cy="80467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Transient 503/network faults may recover; permanent bad input will not.</a:t>
            </a:r>
            <a:endParaRPr lang="en-US" sz="1230" dirty="0"/>
          </a:p>
        </p:txBody>
      </p:sp>
      <p:sp>
        <p:nvSpPr>
          <p:cNvPr id="18" name="Shape 16"/>
          <p:cNvSpPr/>
          <p:nvPr/>
        </p:nvSpPr>
        <p:spPr>
          <a:xfrm>
            <a:off x="4309872" y="2322576"/>
            <a:ext cx="3560064" cy="1389888"/>
          </a:xfrm>
          <a:prstGeom prst="roundRect">
            <a:avLst>
              <a:gd name="adj" fmla="val 9211"/>
            </a:avLst>
          </a:prstGeom>
          <a:solidFill>
            <a:srgbClr val="F7F9FC"/>
          </a:solidFill>
          <a:ln w="12700">
            <a:solidFill>
              <a:srgbClr val="DFE7F1"/>
            </a:solidFill>
            <a:prstDash val="solid"/>
          </a:ln>
        </p:spPr>
        <p:txBody>
          <a:bodyPr/>
          <a:p/>
        </p:txBody>
      </p:sp>
      <p:sp>
        <p:nvSpPr>
          <p:cNvPr id="19" name="Shape 17"/>
          <p:cNvSpPr/>
          <p:nvPr/>
        </p:nvSpPr>
        <p:spPr>
          <a:xfrm>
            <a:off x="4309872" y="2322576"/>
            <a:ext cx="50292" cy="1389888"/>
          </a:xfrm>
          <a:prstGeom prst="rect">
            <a:avLst/>
          </a:prstGeom>
          <a:solidFill>
            <a:srgbClr val="2866F6"/>
          </a:solidFill>
          <a:ln w="12700">
            <a:solidFill>
              <a:srgbClr val="2866F6"/>
            </a:solidFill>
            <a:prstDash val="solid"/>
          </a:ln>
        </p:spPr>
        <p:txBody>
          <a:bodyPr/>
          <a:p/>
        </p:txBody>
      </p:sp>
      <p:sp>
        <p:nvSpPr>
          <p:cNvPr id="20" name="Text 18"/>
          <p:cNvSpPr/>
          <p:nvPr/>
        </p:nvSpPr>
        <p:spPr>
          <a:xfrm>
            <a:off x="4483608" y="2441448"/>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Backoff + jitter</a:t>
            </a:r>
            <a:endParaRPr lang="en-US" sz="1340" dirty="0"/>
          </a:p>
        </p:txBody>
      </p:sp>
      <p:sp>
        <p:nvSpPr>
          <p:cNvPr id="21" name="Text 19"/>
          <p:cNvSpPr/>
          <p:nvPr/>
        </p:nvSpPr>
        <p:spPr>
          <a:xfrm>
            <a:off x="4483608" y="2825496"/>
            <a:ext cx="3221736" cy="80467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Spread attempts instead of creating synchronized spikes.</a:t>
            </a:r>
            <a:endParaRPr lang="en-US" sz="1230" dirty="0"/>
          </a:p>
        </p:txBody>
      </p:sp>
      <p:sp>
        <p:nvSpPr>
          <p:cNvPr id="22" name="Shape 20"/>
          <p:cNvSpPr/>
          <p:nvPr/>
        </p:nvSpPr>
        <p:spPr>
          <a:xfrm>
            <a:off x="8016240" y="2322576"/>
            <a:ext cx="3560064" cy="1389888"/>
          </a:xfrm>
          <a:prstGeom prst="roundRect">
            <a:avLst>
              <a:gd name="adj" fmla="val 9211"/>
            </a:avLst>
          </a:prstGeom>
          <a:solidFill>
            <a:srgbClr val="F7F9FC"/>
          </a:solidFill>
          <a:ln w="12700">
            <a:solidFill>
              <a:srgbClr val="DFE7F1"/>
            </a:solidFill>
            <a:prstDash val="solid"/>
          </a:ln>
        </p:spPr>
        <p:txBody>
          <a:bodyPr/>
          <a:p/>
        </p:txBody>
      </p:sp>
      <p:sp>
        <p:nvSpPr>
          <p:cNvPr id="23" name="Shape 21"/>
          <p:cNvSpPr/>
          <p:nvPr/>
        </p:nvSpPr>
        <p:spPr>
          <a:xfrm>
            <a:off x="8016240" y="2322576"/>
            <a:ext cx="50292" cy="1389888"/>
          </a:xfrm>
          <a:prstGeom prst="rect">
            <a:avLst/>
          </a:prstGeom>
          <a:solidFill>
            <a:srgbClr val="2866F6"/>
          </a:solidFill>
          <a:ln w="12700">
            <a:solidFill>
              <a:srgbClr val="2866F6"/>
            </a:solidFill>
            <a:prstDash val="solid"/>
          </a:ln>
        </p:spPr>
        <p:txBody>
          <a:bodyPr/>
          <a:p/>
        </p:txBody>
      </p:sp>
      <p:sp>
        <p:nvSpPr>
          <p:cNvPr id="24" name="Text 22"/>
          <p:cNvSpPr/>
          <p:nvPr/>
        </p:nvSpPr>
        <p:spPr>
          <a:xfrm>
            <a:off x="8189976" y="2441448"/>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Overall deadline</a:t>
            </a:r>
            <a:endParaRPr lang="en-US" sz="1340" dirty="0"/>
          </a:p>
        </p:txBody>
      </p:sp>
      <p:sp>
        <p:nvSpPr>
          <p:cNvPr id="25" name="Text 23"/>
          <p:cNvSpPr/>
          <p:nvPr/>
        </p:nvSpPr>
        <p:spPr>
          <a:xfrm>
            <a:off x="8189976" y="2825496"/>
            <a:ext cx="3221736" cy="80467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Stop retries when the user request has no useful remaining budget.</a:t>
            </a:r>
            <a:endParaRPr lang="en-US" sz="1230" dirty="0"/>
          </a:p>
        </p:txBody>
      </p:sp>
      <p:sp>
        <p:nvSpPr>
          <p:cNvPr id="26" name="Shape 24"/>
          <p:cNvSpPr/>
          <p:nvPr/>
        </p:nvSpPr>
        <p:spPr>
          <a:xfrm>
            <a:off x="603504" y="4014216"/>
            <a:ext cx="3560064" cy="1389888"/>
          </a:xfrm>
          <a:prstGeom prst="roundRect">
            <a:avLst>
              <a:gd name="adj" fmla="val 9211"/>
            </a:avLst>
          </a:prstGeom>
          <a:solidFill>
            <a:srgbClr val="F7F9FC"/>
          </a:solidFill>
          <a:ln w="12700">
            <a:solidFill>
              <a:srgbClr val="DFE7F1"/>
            </a:solidFill>
            <a:prstDash val="solid"/>
          </a:ln>
        </p:spPr>
        <p:txBody>
          <a:bodyPr/>
          <a:p/>
        </p:txBody>
      </p:sp>
      <p:sp>
        <p:nvSpPr>
          <p:cNvPr id="27" name="Shape 25"/>
          <p:cNvSpPr/>
          <p:nvPr/>
        </p:nvSpPr>
        <p:spPr>
          <a:xfrm>
            <a:off x="603504" y="4014216"/>
            <a:ext cx="50292" cy="1389888"/>
          </a:xfrm>
          <a:prstGeom prst="rect">
            <a:avLst/>
          </a:prstGeom>
          <a:solidFill>
            <a:srgbClr val="2866F6"/>
          </a:solidFill>
          <a:ln w="12700">
            <a:solidFill>
              <a:srgbClr val="2866F6"/>
            </a:solidFill>
            <a:prstDash val="solid"/>
          </a:ln>
        </p:spPr>
        <p:txBody>
          <a:bodyPr/>
          <a:p/>
        </p:txBody>
      </p:sp>
      <p:sp>
        <p:nvSpPr>
          <p:cNvPr id="28" name="Text 26"/>
          <p:cNvSpPr/>
          <p:nvPr/>
        </p:nvSpPr>
        <p:spPr>
          <a:xfrm>
            <a:off x="777240" y="4133088"/>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Retry budget</a:t>
            </a:r>
            <a:endParaRPr lang="en-US" sz="1340" dirty="0"/>
          </a:p>
        </p:txBody>
      </p:sp>
      <p:sp>
        <p:nvSpPr>
          <p:cNvPr id="29" name="Text 27"/>
          <p:cNvSpPr/>
          <p:nvPr/>
        </p:nvSpPr>
        <p:spPr>
          <a:xfrm>
            <a:off x="777240" y="4517136"/>
            <a:ext cx="3221736" cy="80467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Cap retries relative to normal traffic or allowed capacity.</a:t>
            </a:r>
            <a:endParaRPr lang="en-US" sz="1230" dirty="0"/>
          </a:p>
        </p:txBody>
      </p:sp>
      <p:sp>
        <p:nvSpPr>
          <p:cNvPr id="30" name="Shape 28"/>
          <p:cNvSpPr/>
          <p:nvPr/>
        </p:nvSpPr>
        <p:spPr>
          <a:xfrm>
            <a:off x="4309872" y="4014216"/>
            <a:ext cx="3560064" cy="1389888"/>
          </a:xfrm>
          <a:prstGeom prst="roundRect">
            <a:avLst>
              <a:gd name="adj" fmla="val 9211"/>
            </a:avLst>
          </a:prstGeom>
          <a:solidFill>
            <a:srgbClr val="F7F9FC"/>
          </a:solidFill>
          <a:ln w="12700">
            <a:solidFill>
              <a:srgbClr val="DFE7F1"/>
            </a:solidFill>
            <a:prstDash val="solid"/>
          </a:ln>
        </p:spPr>
        <p:txBody>
          <a:bodyPr/>
          <a:p/>
        </p:txBody>
      </p:sp>
      <p:sp>
        <p:nvSpPr>
          <p:cNvPr id="31" name="Shape 29"/>
          <p:cNvSpPr/>
          <p:nvPr/>
        </p:nvSpPr>
        <p:spPr>
          <a:xfrm>
            <a:off x="4309872" y="4014216"/>
            <a:ext cx="50292" cy="1389888"/>
          </a:xfrm>
          <a:prstGeom prst="rect">
            <a:avLst/>
          </a:prstGeom>
          <a:solidFill>
            <a:srgbClr val="2866F6"/>
          </a:solidFill>
          <a:ln w="12700">
            <a:solidFill>
              <a:srgbClr val="2866F6"/>
            </a:solidFill>
            <a:prstDash val="solid"/>
          </a:ln>
        </p:spPr>
        <p:txBody>
          <a:bodyPr/>
          <a:p/>
        </p:txBody>
      </p:sp>
      <p:sp>
        <p:nvSpPr>
          <p:cNvPr id="32" name="Text 30"/>
          <p:cNvSpPr/>
          <p:nvPr/>
        </p:nvSpPr>
        <p:spPr>
          <a:xfrm>
            <a:off x="4483608" y="4133088"/>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Idempotent effects</a:t>
            </a:r>
            <a:endParaRPr lang="en-US" sz="1340" dirty="0"/>
          </a:p>
        </p:txBody>
      </p:sp>
      <p:sp>
        <p:nvSpPr>
          <p:cNvPr id="33" name="Text 31"/>
          <p:cNvSpPr/>
          <p:nvPr/>
        </p:nvSpPr>
        <p:spPr>
          <a:xfrm>
            <a:off x="4483608" y="4517136"/>
            <a:ext cx="3221736" cy="80467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Make repeated payment/stock operations safe at the receiver.</a:t>
            </a:r>
            <a:endParaRPr lang="en-US" sz="1230" dirty="0"/>
          </a:p>
        </p:txBody>
      </p:sp>
      <p:sp>
        <p:nvSpPr>
          <p:cNvPr id="34" name="Shape 32"/>
          <p:cNvSpPr/>
          <p:nvPr/>
        </p:nvSpPr>
        <p:spPr>
          <a:xfrm>
            <a:off x="8016240" y="4014216"/>
            <a:ext cx="3560064" cy="1389888"/>
          </a:xfrm>
          <a:prstGeom prst="roundRect">
            <a:avLst>
              <a:gd name="adj" fmla="val 9211"/>
            </a:avLst>
          </a:prstGeom>
          <a:solidFill>
            <a:srgbClr val="F7F9FC"/>
          </a:solidFill>
          <a:ln w="12700">
            <a:solidFill>
              <a:srgbClr val="DFE7F1"/>
            </a:solidFill>
            <a:prstDash val="solid"/>
          </a:ln>
        </p:spPr>
        <p:txBody>
          <a:bodyPr/>
          <a:p/>
        </p:txBody>
      </p:sp>
      <p:sp>
        <p:nvSpPr>
          <p:cNvPr id="35" name="Shape 33"/>
          <p:cNvSpPr/>
          <p:nvPr/>
        </p:nvSpPr>
        <p:spPr>
          <a:xfrm>
            <a:off x="8016240" y="4014216"/>
            <a:ext cx="50292" cy="1389888"/>
          </a:xfrm>
          <a:prstGeom prst="rect">
            <a:avLst/>
          </a:prstGeom>
          <a:solidFill>
            <a:srgbClr val="2866F6"/>
          </a:solidFill>
          <a:ln w="12700">
            <a:solidFill>
              <a:srgbClr val="2866F6"/>
            </a:solidFill>
            <a:prstDash val="solid"/>
          </a:ln>
        </p:spPr>
        <p:txBody>
          <a:bodyPr/>
          <a:p/>
        </p:txBody>
      </p:sp>
      <p:sp>
        <p:nvSpPr>
          <p:cNvPr id="36" name="Text 34"/>
          <p:cNvSpPr/>
          <p:nvPr/>
        </p:nvSpPr>
        <p:spPr>
          <a:xfrm>
            <a:off x="8189976" y="4133088"/>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Circuit breaker</a:t>
            </a:r>
            <a:endParaRPr lang="en-US" sz="1340" dirty="0"/>
          </a:p>
        </p:txBody>
      </p:sp>
      <p:sp>
        <p:nvSpPr>
          <p:cNvPr id="37" name="Text 35"/>
          <p:cNvSpPr/>
          <p:nvPr/>
        </p:nvSpPr>
        <p:spPr>
          <a:xfrm>
            <a:off x="8189976" y="4517136"/>
            <a:ext cx="3221736" cy="80467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Stop normal calls when repeated failures show a dependency is unhealthy.</a:t>
            </a:r>
            <a:endParaRPr lang="en-US" sz="1230" dirty="0"/>
          </a:p>
        </p:txBody>
      </p:sp>
      <p:sp>
        <p:nvSpPr>
          <p:cNvPr id="38" name="Text 36"/>
          <p:cNvSpPr/>
          <p:nvPr/>
        </p:nvSpPr>
        <p:spPr>
          <a:xfrm>
            <a:off x="640080" y="6099048"/>
            <a:ext cx="10844784" cy="292608"/>
          </a:xfrm>
          <a:prstGeom prst="rect">
            <a:avLst/>
          </a:prstGeom>
          <a:noFill/>
          <a:ln/>
        </p:spPr>
        <p:txBody>
          <a:bodyPr wrap="square" lIns="0" tIns="0" rIns="0" bIns="0" rtlCol="0" anchor="ctr">
            <a:normAutofit/>
          </a:bodyPr>
          <a:lstStyle/>
          <a:p>
            <a:pPr algn="ctr" indent="0" marL="0">
              <a:buNone/>
            </a:pPr>
            <a:r>
              <a:rPr lang="en-US" sz="1500" b="1" dirty="0">
                <a:solidFill>
                  <a:srgbClr val="2866F6"/>
                </a:solidFill>
                <a:latin typeface="Aptos" pitchFamily="34" charset="0"/>
                <a:ea typeface="Aptos" pitchFamily="34" charset="-122"/>
                <a:cs typeface="Aptos" pitchFamily="34" charset="-120"/>
              </a:rPr>
              <a:t>Retries help transient failure. Persistent failure needs a different response.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RESILIENCE</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34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2800" b="1" dirty="0">
                <a:solidFill>
                  <a:srgbClr val="122239"/>
                </a:solidFill>
                <a:latin typeface="Aptos" pitchFamily="34" charset="0"/>
                <a:ea typeface="Aptos" pitchFamily="34" charset="-122"/>
                <a:cs typeface="Aptos" pitchFamily="34" charset="-120"/>
              </a:rPr>
              <a:t>A circuit breaker stops calling a failing dependency</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It remembers recent results and switches between three operational states.</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34</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K2</a:t>
            </a:r>
            <a:endParaRPr lang="en-US" sz="1000" dirty="0"/>
          </a:p>
        </p:txBody>
      </p:sp>
      <p:sp>
        <p:nvSpPr>
          <p:cNvPr id="14" name="Shape 12"/>
          <p:cNvSpPr/>
          <p:nvPr/>
        </p:nvSpPr>
        <p:spPr>
          <a:xfrm>
            <a:off x="640080" y="2551176"/>
            <a:ext cx="3557016" cy="1664208"/>
          </a:xfrm>
          <a:prstGeom prst="roundRect">
            <a:avLst>
              <a:gd name="adj" fmla="val 7143"/>
            </a:avLst>
          </a:prstGeom>
          <a:solidFill>
            <a:srgbClr val="E7F8F3"/>
          </a:solidFill>
          <a:ln w="12700">
            <a:solidFill>
              <a:srgbClr val="B4E6DD"/>
            </a:solidFill>
            <a:prstDash val="solid"/>
          </a:ln>
        </p:spPr>
        <p:txBody>
          <a:bodyPr/>
          <a:p/>
        </p:txBody>
      </p:sp>
      <p:sp>
        <p:nvSpPr>
          <p:cNvPr id="15" name="Text 13"/>
          <p:cNvSpPr/>
          <p:nvPr/>
        </p:nvSpPr>
        <p:spPr>
          <a:xfrm>
            <a:off x="758952" y="2898648"/>
            <a:ext cx="3273552" cy="301752"/>
          </a:xfrm>
          <a:prstGeom prst="rect">
            <a:avLst/>
          </a:prstGeom>
          <a:noFill/>
          <a:ln/>
        </p:spPr>
        <p:txBody>
          <a:bodyPr wrap="square" lIns="0" tIns="0" rIns="0" bIns="0" rtlCol="0" anchor="ctr">
            <a:normAutofit/>
          </a:bodyPr>
          <a:lstStyle/>
          <a:p>
            <a:pPr algn="ctr" indent="0" marL="0">
              <a:buNone/>
            </a:pPr>
            <a:r>
              <a:rPr lang="en-US" sz="2200" b="1" dirty="0">
                <a:solidFill>
                  <a:srgbClr val="008F83"/>
                </a:solidFill>
                <a:latin typeface="Aptos" pitchFamily="34" charset="0"/>
                <a:ea typeface="Aptos" pitchFamily="34" charset="-122"/>
                <a:cs typeface="Aptos" pitchFamily="34" charset="-120"/>
              </a:rPr>
              <a:t>CLOSED</a:t>
            </a:r>
            <a:endParaRPr lang="en-US" sz="2200" dirty="0"/>
          </a:p>
        </p:txBody>
      </p:sp>
      <p:sp>
        <p:nvSpPr>
          <p:cNvPr id="16" name="Text 14"/>
          <p:cNvSpPr/>
          <p:nvPr/>
        </p:nvSpPr>
        <p:spPr>
          <a:xfrm>
            <a:off x="768096" y="3511296"/>
            <a:ext cx="3300984" cy="329184"/>
          </a:xfrm>
          <a:prstGeom prst="rect">
            <a:avLst/>
          </a:prstGeom>
          <a:noFill/>
          <a:ln/>
        </p:spPr>
        <p:txBody>
          <a:bodyPr wrap="square" lIns="0" tIns="0" rIns="0" bIns="0" rtlCol="0" anchor="ctr">
            <a:normAutofit/>
          </a:bodyPr>
          <a:lstStyle/>
          <a:p>
            <a:pPr algn="ctr" indent="0" marL="0">
              <a:buNone/>
            </a:pPr>
            <a:r>
              <a:rPr lang="en-US" sz="1380" dirty="0">
                <a:solidFill>
                  <a:srgbClr val="354862"/>
                </a:solidFill>
                <a:latin typeface="Aptos" pitchFamily="34" charset="0"/>
                <a:ea typeface="Aptos" pitchFamily="34" charset="-122"/>
                <a:cs typeface="Aptos" pitchFamily="34" charset="-120"/>
              </a:rPr>
              <a:t>Normal calls allowed</a:t>
            </a:r>
            <a:endParaRPr lang="en-US" sz="1380" dirty="0"/>
          </a:p>
        </p:txBody>
      </p:sp>
      <p:sp>
        <p:nvSpPr>
          <p:cNvPr id="17" name="Shape 15"/>
          <p:cNvSpPr/>
          <p:nvPr/>
        </p:nvSpPr>
        <p:spPr>
          <a:xfrm>
            <a:off x="4206240" y="3273552"/>
            <a:ext cx="237744" cy="0"/>
          </a:xfrm>
          <a:prstGeom prst="line">
            <a:avLst/>
          </a:prstGeom>
          <a:noFill/>
          <a:ln w="21590">
            <a:solidFill>
              <a:srgbClr val="D84148"/>
            </a:solidFill>
            <a:prstDash val="solid"/>
            <a:headEnd type="none"/>
            <a:tailEnd type="triangle"/>
          </a:ln>
        </p:spPr>
        <p:txBody>
          <a:bodyPr/>
          <a:p/>
        </p:txBody>
      </p:sp>
      <p:sp>
        <p:nvSpPr>
          <p:cNvPr id="18" name="Shape 16"/>
          <p:cNvSpPr/>
          <p:nvPr/>
        </p:nvSpPr>
        <p:spPr>
          <a:xfrm>
            <a:off x="4453128" y="2551176"/>
            <a:ext cx="3557016" cy="1664208"/>
          </a:xfrm>
          <a:prstGeom prst="roundRect">
            <a:avLst>
              <a:gd name="adj" fmla="val 7143"/>
            </a:avLst>
          </a:prstGeom>
          <a:solidFill>
            <a:srgbClr val="FFF0F0"/>
          </a:solidFill>
          <a:ln w="12700">
            <a:solidFill>
              <a:srgbClr val="F4C8CB"/>
            </a:solidFill>
            <a:prstDash val="solid"/>
          </a:ln>
        </p:spPr>
        <p:txBody>
          <a:bodyPr/>
          <a:p/>
        </p:txBody>
      </p:sp>
      <p:sp>
        <p:nvSpPr>
          <p:cNvPr id="19" name="Text 17"/>
          <p:cNvSpPr/>
          <p:nvPr/>
        </p:nvSpPr>
        <p:spPr>
          <a:xfrm>
            <a:off x="4572000" y="2898648"/>
            <a:ext cx="3273552" cy="301752"/>
          </a:xfrm>
          <a:prstGeom prst="rect">
            <a:avLst/>
          </a:prstGeom>
          <a:noFill/>
          <a:ln/>
        </p:spPr>
        <p:txBody>
          <a:bodyPr wrap="square" lIns="0" tIns="0" rIns="0" bIns="0" rtlCol="0" anchor="ctr">
            <a:normAutofit/>
          </a:bodyPr>
          <a:lstStyle/>
          <a:p>
            <a:pPr algn="ctr" indent="0" marL="0">
              <a:buNone/>
            </a:pPr>
            <a:r>
              <a:rPr lang="en-US" sz="2200" b="1" dirty="0">
                <a:solidFill>
                  <a:srgbClr val="A92D39"/>
                </a:solidFill>
                <a:latin typeface="Aptos" pitchFamily="34" charset="0"/>
                <a:ea typeface="Aptos" pitchFamily="34" charset="-122"/>
                <a:cs typeface="Aptos" pitchFamily="34" charset="-120"/>
              </a:rPr>
              <a:t>OPEN</a:t>
            </a:r>
            <a:endParaRPr lang="en-US" sz="2200" dirty="0"/>
          </a:p>
        </p:txBody>
      </p:sp>
      <p:sp>
        <p:nvSpPr>
          <p:cNvPr id="20" name="Text 18"/>
          <p:cNvSpPr/>
          <p:nvPr/>
        </p:nvSpPr>
        <p:spPr>
          <a:xfrm>
            <a:off x="4581144" y="3511296"/>
            <a:ext cx="3300984" cy="329184"/>
          </a:xfrm>
          <a:prstGeom prst="rect">
            <a:avLst/>
          </a:prstGeom>
          <a:noFill/>
          <a:ln/>
        </p:spPr>
        <p:txBody>
          <a:bodyPr wrap="square" lIns="0" tIns="0" rIns="0" bIns="0" rtlCol="0" anchor="ctr">
            <a:normAutofit/>
          </a:bodyPr>
          <a:lstStyle/>
          <a:p>
            <a:pPr algn="ctr" indent="0" marL="0">
              <a:buNone/>
            </a:pPr>
            <a:r>
              <a:rPr lang="en-US" sz="1380" dirty="0">
                <a:solidFill>
                  <a:srgbClr val="354862"/>
                </a:solidFill>
                <a:latin typeface="Aptos" pitchFamily="34" charset="0"/>
                <a:ea typeface="Aptos" pitchFamily="34" charset="-122"/>
                <a:cs typeface="Aptos" pitchFamily="34" charset="-120"/>
              </a:rPr>
              <a:t>Fail fast; skip target</a:t>
            </a:r>
            <a:endParaRPr lang="en-US" sz="1380" dirty="0"/>
          </a:p>
        </p:txBody>
      </p:sp>
      <p:sp>
        <p:nvSpPr>
          <p:cNvPr id="21" name="Shape 19"/>
          <p:cNvSpPr/>
          <p:nvPr/>
        </p:nvSpPr>
        <p:spPr>
          <a:xfrm>
            <a:off x="8019288" y="3273552"/>
            <a:ext cx="237744" cy="0"/>
          </a:xfrm>
          <a:prstGeom prst="line">
            <a:avLst/>
          </a:prstGeom>
          <a:noFill/>
          <a:ln w="21590">
            <a:solidFill>
              <a:srgbClr val="DA8424"/>
            </a:solidFill>
            <a:prstDash val="solid"/>
            <a:headEnd type="none"/>
            <a:tailEnd type="triangle"/>
          </a:ln>
        </p:spPr>
        <p:txBody>
          <a:bodyPr/>
          <a:p/>
        </p:txBody>
      </p:sp>
      <p:sp>
        <p:nvSpPr>
          <p:cNvPr id="22" name="Shape 20"/>
          <p:cNvSpPr/>
          <p:nvPr/>
        </p:nvSpPr>
        <p:spPr>
          <a:xfrm>
            <a:off x="8266176" y="2551176"/>
            <a:ext cx="3557016" cy="1664208"/>
          </a:xfrm>
          <a:prstGeom prst="roundRect">
            <a:avLst>
              <a:gd name="adj" fmla="val 7143"/>
            </a:avLst>
          </a:prstGeom>
          <a:solidFill>
            <a:srgbClr val="FFF4E5"/>
          </a:solidFill>
          <a:ln w="12700">
            <a:solidFill>
              <a:srgbClr val="F4DEB9"/>
            </a:solidFill>
            <a:prstDash val="solid"/>
          </a:ln>
        </p:spPr>
        <p:txBody>
          <a:bodyPr/>
          <a:p/>
        </p:txBody>
      </p:sp>
      <p:sp>
        <p:nvSpPr>
          <p:cNvPr id="23" name="Text 21"/>
          <p:cNvSpPr/>
          <p:nvPr/>
        </p:nvSpPr>
        <p:spPr>
          <a:xfrm>
            <a:off x="8385048" y="2898648"/>
            <a:ext cx="3273552" cy="301752"/>
          </a:xfrm>
          <a:prstGeom prst="rect">
            <a:avLst/>
          </a:prstGeom>
          <a:noFill/>
          <a:ln/>
        </p:spPr>
        <p:txBody>
          <a:bodyPr wrap="square" lIns="0" tIns="0" rIns="0" bIns="0" rtlCol="0" anchor="ctr">
            <a:normAutofit/>
          </a:bodyPr>
          <a:lstStyle/>
          <a:p>
            <a:pPr algn="ctr" indent="0" marL="0">
              <a:buNone/>
            </a:pPr>
            <a:r>
              <a:rPr lang="en-US" sz="2200" b="1" dirty="0">
                <a:solidFill>
                  <a:srgbClr val="DA8424"/>
                </a:solidFill>
                <a:latin typeface="Aptos" pitchFamily="34" charset="0"/>
                <a:ea typeface="Aptos" pitchFamily="34" charset="-122"/>
                <a:cs typeface="Aptos" pitchFamily="34" charset="-120"/>
              </a:rPr>
              <a:t>HALF-OPEN</a:t>
            </a:r>
            <a:endParaRPr lang="en-US" sz="2200" dirty="0"/>
          </a:p>
        </p:txBody>
      </p:sp>
      <p:sp>
        <p:nvSpPr>
          <p:cNvPr id="24" name="Text 22"/>
          <p:cNvSpPr/>
          <p:nvPr/>
        </p:nvSpPr>
        <p:spPr>
          <a:xfrm>
            <a:off x="8394192" y="3511296"/>
            <a:ext cx="3300984" cy="329184"/>
          </a:xfrm>
          <a:prstGeom prst="rect">
            <a:avLst/>
          </a:prstGeom>
          <a:noFill/>
          <a:ln/>
        </p:spPr>
        <p:txBody>
          <a:bodyPr wrap="square" lIns="0" tIns="0" rIns="0" bIns="0" rtlCol="0" anchor="ctr">
            <a:normAutofit/>
          </a:bodyPr>
          <a:lstStyle/>
          <a:p>
            <a:pPr algn="ctr" indent="0" marL="0">
              <a:buNone/>
            </a:pPr>
            <a:r>
              <a:rPr lang="en-US" sz="1380" dirty="0">
                <a:solidFill>
                  <a:srgbClr val="354862"/>
                </a:solidFill>
                <a:latin typeface="Aptos" pitchFamily="34" charset="0"/>
                <a:ea typeface="Aptos" pitchFamily="34" charset="-122"/>
                <a:cs typeface="Aptos" pitchFamily="34" charset="-120"/>
              </a:rPr>
              <a:t>Probe whether recovered</a:t>
            </a:r>
            <a:endParaRPr lang="en-US" sz="1380" dirty="0"/>
          </a:p>
        </p:txBody>
      </p:sp>
      <p:sp>
        <p:nvSpPr>
          <p:cNvPr id="25" name="Shape 23"/>
          <p:cNvSpPr/>
          <p:nvPr/>
        </p:nvSpPr>
        <p:spPr>
          <a:xfrm>
            <a:off x="612648" y="4645152"/>
            <a:ext cx="3553968" cy="1307592"/>
          </a:xfrm>
          <a:prstGeom prst="roundRect">
            <a:avLst>
              <a:gd name="adj" fmla="val 9790"/>
            </a:avLst>
          </a:prstGeom>
          <a:solidFill>
            <a:srgbClr val="F7F9FC"/>
          </a:solidFill>
          <a:ln w="12700">
            <a:solidFill>
              <a:srgbClr val="DFE7F1"/>
            </a:solidFill>
            <a:prstDash val="solid"/>
          </a:ln>
        </p:spPr>
        <p:txBody>
          <a:bodyPr/>
          <a:p/>
        </p:txBody>
      </p:sp>
      <p:sp>
        <p:nvSpPr>
          <p:cNvPr id="26" name="Shape 24"/>
          <p:cNvSpPr/>
          <p:nvPr/>
        </p:nvSpPr>
        <p:spPr>
          <a:xfrm>
            <a:off x="612648" y="4645152"/>
            <a:ext cx="50292" cy="1307592"/>
          </a:xfrm>
          <a:prstGeom prst="rect">
            <a:avLst/>
          </a:prstGeom>
          <a:solidFill>
            <a:srgbClr val="2866F6"/>
          </a:solidFill>
          <a:ln w="12700">
            <a:solidFill>
              <a:srgbClr val="2866F6"/>
            </a:solidFill>
            <a:prstDash val="solid"/>
          </a:ln>
        </p:spPr>
        <p:txBody>
          <a:bodyPr/>
          <a:p/>
        </p:txBody>
      </p:sp>
      <p:sp>
        <p:nvSpPr>
          <p:cNvPr id="27" name="Text 25"/>
          <p:cNvSpPr/>
          <p:nvPr/>
        </p:nvSpPr>
        <p:spPr>
          <a:xfrm>
            <a:off x="786384" y="4764024"/>
            <a:ext cx="322478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Failure policy</a:t>
            </a:r>
            <a:endParaRPr lang="en-US" sz="1340" dirty="0"/>
          </a:p>
        </p:txBody>
      </p:sp>
      <p:sp>
        <p:nvSpPr>
          <p:cNvPr id="28" name="Text 26"/>
          <p:cNvSpPr/>
          <p:nvPr/>
        </p:nvSpPr>
        <p:spPr>
          <a:xfrm>
            <a:off x="786384" y="5148072"/>
            <a:ext cx="3215640" cy="72237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Rolling failure rate and minimum request count determine opening.</a:t>
            </a:r>
            <a:endParaRPr lang="en-US" sz="1230" dirty="0"/>
          </a:p>
        </p:txBody>
      </p:sp>
      <p:sp>
        <p:nvSpPr>
          <p:cNvPr id="29" name="Shape 27"/>
          <p:cNvSpPr/>
          <p:nvPr/>
        </p:nvSpPr>
        <p:spPr>
          <a:xfrm>
            <a:off x="4312920" y="4645152"/>
            <a:ext cx="3553968" cy="1307592"/>
          </a:xfrm>
          <a:prstGeom prst="roundRect">
            <a:avLst>
              <a:gd name="adj" fmla="val 9790"/>
            </a:avLst>
          </a:prstGeom>
          <a:solidFill>
            <a:srgbClr val="F7F9FC"/>
          </a:solidFill>
          <a:ln w="12700">
            <a:solidFill>
              <a:srgbClr val="DFE7F1"/>
            </a:solidFill>
            <a:prstDash val="solid"/>
          </a:ln>
        </p:spPr>
        <p:txBody>
          <a:bodyPr/>
          <a:p/>
        </p:txBody>
      </p:sp>
      <p:sp>
        <p:nvSpPr>
          <p:cNvPr id="30" name="Shape 28"/>
          <p:cNvSpPr/>
          <p:nvPr/>
        </p:nvSpPr>
        <p:spPr>
          <a:xfrm>
            <a:off x="4312920" y="4645152"/>
            <a:ext cx="50292" cy="1307592"/>
          </a:xfrm>
          <a:prstGeom prst="rect">
            <a:avLst/>
          </a:prstGeom>
          <a:solidFill>
            <a:srgbClr val="2866F6"/>
          </a:solidFill>
          <a:ln w="12700">
            <a:solidFill>
              <a:srgbClr val="2866F6"/>
            </a:solidFill>
            <a:prstDash val="solid"/>
          </a:ln>
        </p:spPr>
        <p:txBody>
          <a:bodyPr/>
          <a:p/>
        </p:txBody>
      </p:sp>
      <p:sp>
        <p:nvSpPr>
          <p:cNvPr id="31" name="Text 29"/>
          <p:cNvSpPr/>
          <p:nvPr/>
        </p:nvSpPr>
        <p:spPr>
          <a:xfrm>
            <a:off x="4486656" y="4764024"/>
            <a:ext cx="322478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Cooldown</a:t>
            </a:r>
            <a:endParaRPr lang="en-US" sz="1340" dirty="0"/>
          </a:p>
        </p:txBody>
      </p:sp>
      <p:sp>
        <p:nvSpPr>
          <p:cNvPr id="32" name="Text 30"/>
          <p:cNvSpPr/>
          <p:nvPr/>
        </p:nvSpPr>
        <p:spPr>
          <a:xfrm>
            <a:off x="4486656" y="5148072"/>
            <a:ext cx="3215640" cy="72237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An open breaker waits before allowing a recovery probe.</a:t>
            </a:r>
            <a:endParaRPr lang="en-US" sz="1230" dirty="0"/>
          </a:p>
        </p:txBody>
      </p:sp>
      <p:sp>
        <p:nvSpPr>
          <p:cNvPr id="33" name="Shape 31"/>
          <p:cNvSpPr/>
          <p:nvPr/>
        </p:nvSpPr>
        <p:spPr>
          <a:xfrm>
            <a:off x="8013192" y="4645152"/>
            <a:ext cx="3553968" cy="1307592"/>
          </a:xfrm>
          <a:prstGeom prst="roundRect">
            <a:avLst>
              <a:gd name="adj" fmla="val 9790"/>
            </a:avLst>
          </a:prstGeom>
          <a:solidFill>
            <a:srgbClr val="F7F9FC"/>
          </a:solidFill>
          <a:ln w="12700">
            <a:solidFill>
              <a:srgbClr val="DFE7F1"/>
            </a:solidFill>
            <a:prstDash val="solid"/>
          </a:ln>
        </p:spPr>
        <p:txBody>
          <a:bodyPr/>
          <a:p/>
        </p:txBody>
      </p:sp>
      <p:sp>
        <p:nvSpPr>
          <p:cNvPr id="34" name="Shape 32"/>
          <p:cNvSpPr/>
          <p:nvPr/>
        </p:nvSpPr>
        <p:spPr>
          <a:xfrm>
            <a:off x="8013192" y="4645152"/>
            <a:ext cx="50292" cy="1307592"/>
          </a:xfrm>
          <a:prstGeom prst="rect">
            <a:avLst/>
          </a:prstGeom>
          <a:solidFill>
            <a:srgbClr val="2866F6"/>
          </a:solidFill>
          <a:ln w="12700">
            <a:solidFill>
              <a:srgbClr val="2866F6"/>
            </a:solidFill>
            <a:prstDash val="solid"/>
          </a:ln>
        </p:spPr>
        <p:txBody>
          <a:bodyPr/>
          <a:p/>
        </p:txBody>
      </p:sp>
      <p:sp>
        <p:nvSpPr>
          <p:cNvPr id="35" name="Text 33"/>
          <p:cNvSpPr/>
          <p:nvPr/>
        </p:nvSpPr>
        <p:spPr>
          <a:xfrm>
            <a:off x="8186928" y="4764024"/>
            <a:ext cx="322478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Recovery</a:t>
            </a:r>
            <a:endParaRPr lang="en-US" sz="1340" dirty="0"/>
          </a:p>
        </p:txBody>
      </p:sp>
      <p:sp>
        <p:nvSpPr>
          <p:cNvPr id="36" name="Text 34"/>
          <p:cNvSpPr/>
          <p:nvPr/>
        </p:nvSpPr>
        <p:spPr>
          <a:xfrm>
            <a:off x="8186928" y="5148072"/>
            <a:ext cx="3215640" cy="722376"/>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Successful probe closes; failed probe reopens the circuit.</a:t>
            </a:r>
            <a:endParaRPr lang="en-US" sz="123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LIVE DEMO</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35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Watch the breaker fail fast, then recover</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Resilience Lab · Opossum · Target Service</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35</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K2</a:t>
            </a:r>
            <a:endParaRPr lang="en-US" sz="1000" dirty="0"/>
          </a:p>
        </p:txBody>
      </p:sp>
      <p:sp>
        <p:nvSpPr>
          <p:cNvPr id="14" name="Shape 12"/>
          <p:cNvSpPr/>
          <p:nvPr/>
        </p:nvSpPr>
        <p:spPr>
          <a:xfrm>
            <a:off x="594360" y="2313432"/>
            <a:ext cx="5449824" cy="1362456"/>
          </a:xfrm>
          <a:prstGeom prst="roundRect">
            <a:avLst>
              <a:gd name="adj" fmla="val 8725"/>
            </a:avLst>
          </a:prstGeom>
          <a:solidFill>
            <a:srgbClr val="F7F9FC"/>
          </a:solidFill>
          <a:ln w="12700">
            <a:solidFill>
              <a:srgbClr val="DFE7F1"/>
            </a:solidFill>
            <a:prstDash val="solid"/>
          </a:ln>
        </p:spPr>
        <p:txBody>
          <a:bodyPr/>
          <a:p/>
        </p:txBody>
      </p:sp>
      <p:sp>
        <p:nvSpPr>
          <p:cNvPr id="15" name="Shape 13"/>
          <p:cNvSpPr/>
          <p:nvPr/>
        </p:nvSpPr>
        <p:spPr>
          <a:xfrm>
            <a:off x="749808" y="2478024"/>
            <a:ext cx="502920" cy="274320"/>
          </a:xfrm>
          <a:prstGeom prst="roundRect">
            <a:avLst>
              <a:gd name="adj" fmla="val 40000"/>
            </a:avLst>
          </a:prstGeom>
          <a:solidFill>
            <a:srgbClr val="ECF3FF"/>
          </a:solidFill>
          <a:ln w="12700">
            <a:solidFill>
              <a:srgbClr val="ECF3FF"/>
            </a:solidFill>
            <a:prstDash val="solid"/>
          </a:ln>
        </p:spPr>
        <p:txBody>
          <a:bodyPr/>
          <a:p/>
        </p:txBody>
      </p:sp>
      <p:sp>
        <p:nvSpPr>
          <p:cNvPr id="16" name="Text 14"/>
          <p:cNvSpPr/>
          <p:nvPr/>
        </p:nvSpPr>
        <p:spPr>
          <a:xfrm>
            <a:off x="850392" y="2505456"/>
            <a:ext cx="301752"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2866F6"/>
                </a:solidFill>
                <a:latin typeface="Aptos" pitchFamily="34" charset="0"/>
                <a:ea typeface="Aptos" pitchFamily="34" charset="-122"/>
                <a:cs typeface="Aptos" pitchFamily="34" charset="-120"/>
              </a:rPr>
              <a:t>01</a:t>
            </a:r>
            <a:endParaRPr lang="en-US" sz="1000" dirty="0"/>
          </a:p>
        </p:txBody>
      </p:sp>
      <p:sp>
        <p:nvSpPr>
          <p:cNvPr id="17" name="Text 15"/>
          <p:cNvSpPr/>
          <p:nvPr/>
        </p:nvSpPr>
        <p:spPr>
          <a:xfrm>
            <a:off x="1408176" y="2441448"/>
            <a:ext cx="4443984" cy="301752"/>
          </a:xfrm>
          <a:prstGeom prst="rect">
            <a:avLst/>
          </a:prstGeom>
          <a:noFill/>
          <a:ln/>
        </p:spPr>
        <p:txBody>
          <a:bodyPr wrap="square" lIns="0" tIns="0" rIns="0" bIns="0" rtlCol="0" anchor="ctr">
            <a:normAutofit/>
          </a:bodyPr>
          <a:lstStyle/>
          <a:p>
            <a:pPr algn="l" indent="0" marL="0">
              <a:buNone/>
            </a:pPr>
            <a:r>
              <a:rPr lang="en-US" sz="1600" b="1" dirty="0">
                <a:solidFill>
                  <a:srgbClr val="122239"/>
                </a:solidFill>
                <a:latin typeface="Aptos" pitchFamily="34" charset="0"/>
                <a:ea typeface="Aptos" pitchFamily="34" charset="-122"/>
                <a:cs typeface="Aptos" pitchFamily="34" charset="-120"/>
              </a:rPr>
              <a:t>HEALTHY</a:t>
            </a:r>
            <a:endParaRPr lang="en-US" sz="1600" dirty="0"/>
          </a:p>
        </p:txBody>
      </p:sp>
      <p:sp>
        <p:nvSpPr>
          <p:cNvPr id="18" name="Text 16"/>
          <p:cNvSpPr/>
          <p:nvPr/>
        </p:nvSpPr>
        <p:spPr>
          <a:xfrm>
            <a:off x="1399032" y="2816352"/>
            <a:ext cx="4434840" cy="274320"/>
          </a:xfrm>
          <a:prstGeom prst="rect">
            <a:avLst/>
          </a:prstGeom>
          <a:noFill/>
          <a:ln/>
        </p:spPr>
        <p:txBody>
          <a:bodyPr wrap="square" lIns="0" tIns="0" rIns="0" bIns="0" rtlCol="0" anchor="ctr">
            <a:normAutofit/>
          </a:bodyPr>
          <a:lstStyle/>
          <a:p>
            <a:pPr algn="l" indent="0" marL="0">
              <a:buNone/>
            </a:pPr>
            <a:r>
              <a:rPr lang="en-US" sz="1300" dirty="0">
                <a:solidFill>
                  <a:srgbClr val="354862"/>
                </a:solidFill>
                <a:latin typeface="Aptos" pitchFamily="34" charset="0"/>
                <a:ea typeface="Aptos" pitchFamily="34" charset="-122"/>
                <a:cs typeface="Aptos" pitchFamily="34" charset="-120"/>
              </a:rPr>
              <a:t>Target responds normally</a:t>
            </a:r>
            <a:endParaRPr lang="en-US" sz="1300" dirty="0"/>
          </a:p>
        </p:txBody>
      </p:sp>
      <p:sp>
        <p:nvSpPr>
          <p:cNvPr id="19" name="Text 17"/>
          <p:cNvSpPr/>
          <p:nvPr/>
        </p:nvSpPr>
        <p:spPr>
          <a:xfrm>
            <a:off x="1408176" y="3236976"/>
            <a:ext cx="4334256" cy="210312"/>
          </a:xfrm>
          <a:prstGeom prst="rect">
            <a:avLst/>
          </a:prstGeom>
          <a:noFill/>
          <a:ln/>
        </p:spPr>
        <p:txBody>
          <a:bodyPr wrap="square" lIns="0" tIns="0" rIns="0" bIns="0" rtlCol="0" anchor="ctr">
            <a:normAutofit/>
          </a:bodyPr>
          <a:lstStyle/>
          <a:p>
            <a:pPr algn="l" indent="0" marL="0">
              <a:buNone/>
            </a:pPr>
            <a:r>
              <a:rPr lang="en-US" sz="1200" b="1" dirty="0">
                <a:solidFill>
                  <a:srgbClr val="008F83"/>
                </a:solidFill>
                <a:latin typeface="Aptos" pitchFamily="34" charset="0"/>
                <a:ea typeface="Aptos" pitchFamily="34" charset="-122"/>
                <a:cs typeface="Aptos" pitchFamily="34" charset="-120"/>
              </a:rPr>
              <a:t>Closed</a:t>
            </a:r>
            <a:endParaRPr lang="en-US" sz="1200" dirty="0"/>
          </a:p>
        </p:txBody>
      </p:sp>
      <p:sp>
        <p:nvSpPr>
          <p:cNvPr id="20" name="Shape 18"/>
          <p:cNvSpPr/>
          <p:nvPr/>
        </p:nvSpPr>
        <p:spPr>
          <a:xfrm>
            <a:off x="6245352" y="2313432"/>
            <a:ext cx="5449824" cy="1362456"/>
          </a:xfrm>
          <a:prstGeom prst="roundRect">
            <a:avLst>
              <a:gd name="adj" fmla="val 8725"/>
            </a:avLst>
          </a:prstGeom>
          <a:solidFill>
            <a:srgbClr val="F7F9FC"/>
          </a:solidFill>
          <a:ln w="12700">
            <a:solidFill>
              <a:srgbClr val="DFE7F1"/>
            </a:solidFill>
            <a:prstDash val="solid"/>
          </a:ln>
        </p:spPr>
        <p:txBody>
          <a:bodyPr/>
          <a:p/>
        </p:txBody>
      </p:sp>
      <p:sp>
        <p:nvSpPr>
          <p:cNvPr id="21" name="Shape 19"/>
          <p:cNvSpPr/>
          <p:nvPr/>
        </p:nvSpPr>
        <p:spPr>
          <a:xfrm>
            <a:off x="6400800" y="2478024"/>
            <a:ext cx="502920" cy="274320"/>
          </a:xfrm>
          <a:prstGeom prst="roundRect">
            <a:avLst>
              <a:gd name="adj" fmla="val 40000"/>
            </a:avLst>
          </a:prstGeom>
          <a:solidFill>
            <a:srgbClr val="ECF3FF"/>
          </a:solidFill>
          <a:ln w="12700">
            <a:solidFill>
              <a:srgbClr val="ECF3FF"/>
            </a:solidFill>
            <a:prstDash val="solid"/>
          </a:ln>
        </p:spPr>
        <p:txBody>
          <a:bodyPr/>
          <a:p/>
        </p:txBody>
      </p:sp>
      <p:sp>
        <p:nvSpPr>
          <p:cNvPr id="22" name="Text 20"/>
          <p:cNvSpPr/>
          <p:nvPr/>
        </p:nvSpPr>
        <p:spPr>
          <a:xfrm>
            <a:off x="6501384" y="2505456"/>
            <a:ext cx="301752"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2866F6"/>
                </a:solidFill>
                <a:latin typeface="Aptos" pitchFamily="34" charset="0"/>
                <a:ea typeface="Aptos" pitchFamily="34" charset="-122"/>
                <a:cs typeface="Aptos" pitchFamily="34" charset="-120"/>
              </a:rPr>
              <a:t>02</a:t>
            </a:r>
            <a:endParaRPr lang="en-US" sz="1000" dirty="0"/>
          </a:p>
        </p:txBody>
      </p:sp>
      <p:sp>
        <p:nvSpPr>
          <p:cNvPr id="23" name="Text 21"/>
          <p:cNvSpPr/>
          <p:nvPr/>
        </p:nvSpPr>
        <p:spPr>
          <a:xfrm>
            <a:off x="7059168" y="2441448"/>
            <a:ext cx="4443984" cy="301752"/>
          </a:xfrm>
          <a:prstGeom prst="rect">
            <a:avLst/>
          </a:prstGeom>
          <a:noFill/>
          <a:ln/>
        </p:spPr>
        <p:txBody>
          <a:bodyPr wrap="square" lIns="0" tIns="0" rIns="0" bIns="0" rtlCol="0" anchor="ctr">
            <a:normAutofit/>
          </a:bodyPr>
          <a:lstStyle/>
          <a:p>
            <a:pPr algn="l" indent="0" marL="0">
              <a:buNone/>
            </a:pPr>
            <a:r>
              <a:rPr lang="en-US" sz="1600" b="1" dirty="0">
                <a:solidFill>
                  <a:srgbClr val="122239"/>
                </a:solidFill>
                <a:latin typeface="Aptos" pitchFamily="34" charset="0"/>
                <a:ea typeface="Aptos" pitchFamily="34" charset="-122"/>
                <a:cs typeface="Aptos" pitchFamily="34" charset="-120"/>
              </a:rPr>
              <a:t>INJECT FAILURE</a:t>
            </a:r>
            <a:endParaRPr lang="en-US" sz="1600" dirty="0"/>
          </a:p>
        </p:txBody>
      </p:sp>
      <p:sp>
        <p:nvSpPr>
          <p:cNvPr id="24" name="Text 22"/>
          <p:cNvSpPr/>
          <p:nvPr/>
        </p:nvSpPr>
        <p:spPr>
          <a:xfrm>
            <a:off x="7050024" y="2816352"/>
            <a:ext cx="4434840" cy="274320"/>
          </a:xfrm>
          <a:prstGeom prst="rect">
            <a:avLst/>
          </a:prstGeom>
          <a:noFill/>
          <a:ln/>
        </p:spPr>
        <p:txBody>
          <a:bodyPr wrap="square" lIns="0" tIns="0" rIns="0" bIns="0" rtlCol="0" anchor="ctr">
            <a:normAutofit/>
          </a:bodyPr>
          <a:lstStyle/>
          <a:p>
            <a:pPr algn="l" indent="0" marL="0">
              <a:buNone/>
            </a:pPr>
            <a:r>
              <a:rPr lang="en-US" sz="1300" dirty="0">
                <a:solidFill>
                  <a:srgbClr val="354862"/>
                </a:solidFill>
                <a:latin typeface="Aptos" pitchFamily="34" charset="0"/>
                <a:ea typeface="Aptos" pitchFamily="34" charset="-122"/>
                <a:cs typeface="Aptos" pitchFamily="34" charset="-120"/>
              </a:rPr>
              <a:t>Stop target container</a:t>
            </a:r>
            <a:endParaRPr lang="en-US" sz="1300" dirty="0"/>
          </a:p>
        </p:txBody>
      </p:sp>
      <p:sp>
        <p:nvSpPr>
          <p:cNvPr id="25" name="Text 23"/>
          <p:cNvSpPr/>
          <p:nvPr/>
        </p:nvSpPr>
        <p:spPr>
          <a:xfrm>
            <a:off x="7059168" y="3236976"/>
            <a:ext cx="4334256" cy="210312"/>
          </a:xfrm>
          <a:prstGeom prst="rect">
            <a:avLst/>
          </a:prstGeom>
          <a:noFill/>
          <a:ln/>
        </p:spPr>
        <p:txBody>
          <a:bodyPr wrap="square" lIns="0" tIns="0" rIns="0" bIns="0" rtlCol="0" anchor="ctr">
            <a:normAutofit/>
          </a:bodyPr>
          <a:lstStyle/>
          <a:p>
            <a:pPr algn="l" indent="0" marL="0">
              <a:buNone/>
            </a:pPr>
            <a:r>
              <a:rPr lang="en-US" sz="1200" b="1" dirty="0">
                <a:solidFill>
                  <a:srgbClr val="008F83"/>
                </a:solidFill>
                <a:latin typeface="Aptos" pitchFamily="34" charset="0"/>
                <a:ea typeface="Aptos" pitchFamily="34" charset="-122"/>
                <a:cs typeface="Aptos" pitchFamily="34" charset="-120"/>
              </a:rPr>
              <a:t>Failures observed</a:t>
            </a:r>
            <a:endParaRPr lang="en-US" sz="1200" dirty="0"/>
          </a:p>
        </p:txBody>
      </p:sp>
      <p:sp>
        <p:nvSpPr>
          <p:cNvPr id="26" name="Shape 24"/>
          <p:cNvSpPr/>
          <p:nvPr/>
        </p:nvSpPr>
        <p:spPr>
          <a:xfrm>
            <a:off x="594360" y="3849624"/>
            <a:ext cx="5449824" cy="1362456"/>
          </a:xfrm>
          <a:prstGeom prst="roundRect">
            <a:avLst>
              <a:gd name="adj" fmla="val 8725"/>
            </a:avLst>
          </a:prstGeom>
          <a:solidFill>
            <a:srgbClr val="FFF0F0"/>
          </a:solidFill>
          <a:ln w="12700">
            <a:solidFill>
              <a:srgbClr val="F4C8CB"/>
            </a:solidFill>
            <a:prstDash val="solid"/>
          </a:ln>
        </p:spPr>
        <p:txBody>
          <a:bodyPr/>
          <a:p/>
        </p:txBody>
      </p:sp>
      <p:sp>
        <p:nvSpPr>
          <p:cNvPr id="27" name="Shape 25"/>
          <p:cNvSpPr/>
          <p:nvPr/>
        </p:nvSpPr>
        <p:spPr>
          <a:xfrm>
            <a:off x="749808" y="4014216"/>
            <a:ext cx="502920" cy="274320"/>
          </a:xfrm>
          <a:prstGeom prst="roundRect">
            <a:avLst>
              <a:gd name="adj" fmla="val 40000"/>
            </a:avLst>
          </a:prstGeom>
          <a:solidFill>
            <a:srgbClr val="FFF0F0"/>
          </a:solidFill>
          <a:ln w="12700">
            <a:solidFill>
              <a:srgbClr val="FFF0F0"/>
            </a:solidFill>
            <a:prstDash val="solid"/>
          </a:ln>
        </p:spPr>
        <p:txBody>
          <a:bodyPr/>
          <a:p/>
        </p:txBody>
      </p:sp>
      <p:sp>
        <p:nvSpPr>
          <p:cNvPr id="28" name="Text 26"/>
          <p:cNvSpPr/>
          <p:nvPr/>
        </p:nvSpPr>
        <p:spPr>
          <a:xfrm>
            <a:off x="850392" y="4041648"/>
            <a:ext cx="301752"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D84148"/>
                </a:solidFill>
                <a:latin typeface="Aptos" pitchFamily="34" charset="0"/>
                <a:ea typeface="Aptos" pitchFamily="34" charset="-122"/>
                <a:cs typeface="Aptos" pitchFamily="34" charset="-120"/>
              </a:rPr>
              <a:t>03</a:t>
            </a:r>
            <a:endParaRPr lang="en-US" sz="1000" dirty="0"/>
          </a:p>
        </p:txBody>
      </p:sp>
      <p:sp>
        <p:nvSpPr>
          <p:cNvPr id="29" name="Text 27"/>
          <p:cNvSpPr/>
          <p:nvPr/>
        </p:nvSpPr>
        <p:spPr>
          <a:xfrm>
            <a:off x="1408176" y="3977640"/>
            <a:ext cx="4443984" cy="301752"/>
          </a:xfrm>
          <a:prstGeom prst="rect">
            <a:avLst/>
          </a:prstGeom>
          <a:noFill/>
          <a:ln/>
        </p:spPr>
        <p:txBody>
          <a:bodyPr wrap="square" lIns="0" tIns="0" rIns="0" bIns="0" rtlCol="0" anchor="ctr">
            <a:normAutofit/>
          </a:bodyPr>
          <a:lstStyle/>
          <a:p>
            <a:pPr algn="l" indent="0" marL="0">
              <a:buNone/>
            </a:pPr>
            <a:r>
              <a:rPr lang="en-US" sz="1600" b="1" dirty="0">
                <a:solidFill>
                  <a:srgbClr val="122239"/>
                </a:solidFill>
                <a:latin typeface="Aptos" pitchFamily="34" charset="0"/>
                <a:ea typeface="Aptos" pitchFamily="34" charset="-122"/>
                <a:cs typeface="Aptos" pitchFamily="34" charset="-120"/>
              </a:rPr>
              <a:t>OPEN</a:t>
            </a:r>
            <a:endParaRPr lang="en-US" sz="1600" dirty="0"/>
          </a:p>
        </p:txBody>
      </p:sp>
      <p:sp>
        <p:nvSpPr>
          <p:cNvPr id="30" name="Text 28"/>
          <p:cNvSpPr/>
          <p:nvPr/>
        </p:nvSpPr>
        <p:spPr>
          <a:xfrm>
            <a:off x="1399032" y="4352544"/>
            <a:ext cx="4434840" cy="274320"/>
          </a:xfrm>
          <a:prstGeom prst="rect">
            <a:avLst/>
          </a:prstGeom>
          <a:noFill/>
          <a:ln/>
        </p:spPr>
        <p:txBody>
          <a:bodyPr wrap="square" lIns="0" tIns="0" rIns="0" bIns="0" rtlCol="0" anchor="ctr">
            <a:normAutofit/>
          </a:bodyPr>
          <a:lstStyle/>
          <a:p>
            <a:pPr algn="l" indent="0" marL="0">
              <a:buNone/>
            </a:pPr>
            <a:r>
              <a:rPr lang="en-US" sz="1300" dirty="0">
                <a:solidFill>
                  <a:srgbClr val="354862"/>
                </a:solidFill>
                <a:latin typeface="Aptos" pitchFamily="34" charset="0"/>
                <a:ea typeface="Aptos" pitchFamily="34" charset="-122"/>
                <a:cs typeface="Aptos" pitchFamily="34" charset="-120"/>
              </a:rPr>
              <a:t>Protected calls fail fast</a:t>
            </a:r>
            <a:endParaRPr lang="en-US" sz="1300" dirty="0"/>
          </a:p>
        </p:txBody>
      </p:sp>
      <p:sp>
        <p:nvSpPr>
          <p:cNvPr id="31" name="Text 29"/>
          <p:cNvSpPr/>
          <p:nvPr/>
        </p:nvSpPr>
        <p:spPr>
          <a:xfrm>
            <a:off x="1408176" y="4773168"/>
            <a:ext cx="4334256" cy="210312"/>
          </a:xfrm>
          <a:prstGeom prst="rect">
            <a:avLst/>
          </a:prstGeom>
          <a:noFill/>
          <a:ln/>
        </p:spPr>
        <p:txBody>
          <a:bodyPr wrap="square" lIns="0" tIns="0" rIns="0" bIns="0" rtlCol="0" anchor="ctr">
            <a:normAutofit/>
          </a:bodyPr>
          <a:lstStyle/>
          <a:p>
            <a:pPr algn="l" indent="0" marL="0">
              <a:buNone/>
            </a:pPr>
            <a:r>
              <a:rPr lang="en-US" sz="1200" b="1" dirty="0">
                <a:solidFill>
                  <a:srgbClr val="D84148"/>
                </a:solidFill>
                <a:latin typeface="Aptos" pitchFamily="34" charset="0"/>
                <a:ea typeface="Aptos" pitchFamily="34" charset="-122"/>
                <a:cs typeface="Aptos" pitchFamily="34" charset="-120"/>
              </a:rPr>
              <a:t>No normal downstream call</a:t>
            </a:r>
            <a:endParaRPr lang="en-US" sz="1200" dirty="0"/>
          </a:p>
        </p:txBody>
      </p:sp>
      <p:sp>
        <p:nvSpPr>
          <p:cNvPr id="32" name="Shape 30"/>
          <p:cNvSpPr/>
          <p:nvPr/>
        </p:nvSpPr>
        <p:spPr>
          <a:xfrm>
            <a:off x="6245352" y="3849624"/>
            <a:ext cx="5449824" cy="1362456"/>
          </a:xfrm>
          <a:prstGeom prst="roundRect">
            <a:avLst>
              <a:gd name="adj" fmla="val 8725"/>
            </a:avLst>
          </a:prstGeom>
          <a:solidFill>
            <a:srgbClr val="F7F9FC"/>
          </a:solidFill>
          <a:ln w="12700">
            <a:solidFill>
              <a:srgbClr val="DFE7F1"/>
            </a:solidFill>
            <a:prstDash val="solid"/>
          </a:ln>
        </p:spPr>
        <p:txBody>
          <a:bodyPr/>
          <a:p/>
        </p:txBody>
      </p:sp>
      <p:sp>
        <p:nvSpPr>
          <p:cNvPr id="33" name="Shape 31"/>
          <p:cNvSpPr/>
          <p:nvPr/>
        </p:nvSpPr>
        <p:spPr>
          <a:xfrm>
            <a:off x="6400800" y="4014216"/>
            <a:ext cx="502920" cy="274320"/>
          </a:xfrm>
          <a:prstGeom prst="roundRect">
            <a:avLst>
              <a:gd name="adj" fmla="val 40000"/>
            </a:avLst>
          </a:prstGeom>
          <a:solidFill>
            <a:srgbClr val="ECF3FF"/>
          </a:solidFill>
          <a:ln w="12700">
            <a:solidFill>
              <a:srgbClr val="ECF3FF"/>
            </a:solidFill>
            <a:prstDash val="solid"/>
          </a:ln>
        </p:spPr>
        <p:txBody>
          <a:bodyPr/>
          <a:p/>
        </p:txBody>
      </p:sp>
      <p:sp>
        <p:nvSpPr>
          <p:cNvPr id="34" name="Text 32"/>
          <p:cNvSpPr/>
          <p:nvPr/>
        </p:nvSpPr>
        <p:spPr>
          <a:xfrm>
            <a:off x="6501384" y="4041648"/>
            <a:ext cx="301752"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2866F6"/>
                </a:solidFill>
                <a:latin typeface="Aptos" pitchFamily="34" charset="0"/>
                <a:ea typeface="Aptos" pitchFamily="34" charset="-122"/>
                <a:cs typeface="Aptos" pitchFamily="34" charset="-120"/>
              </a:rPr>
              <a:t>04</a:t>
            </a:r>
            <a:endParaRPr lang="en-US" sz="1000" dirty="0"/>
          </a:p>
        </p:txBody>
      </p:sp>
      <p:sp>
        <p:nvSpPr>
          <p:cNvPr id="35" name="Text 33"/>
          <p:cNvSpPr/>
          <p:nvPr/>
        </p:nvSpPr>
        <p:spPr>
          <a:xfrm>
            <a:off x="7059168" y="3977640"/>
            <a:ext cx="4443984" cy="301752"/>
          </a:xfrm>
          <a:prstGeom prst="rect">
            <a:avLst/>
          </a:prstGeom>
          <a:noFill/>
          <a:ln/>
        </p:spPr>
        <p:txBody>
          <a:bodyPr wrap="square" lIns="0" tIns="0" rIns="0" bIns="0" rtlCol="0" anchor="ctr">
            <a:normAutofit/>
          </a:bodyPr>
          <a:lstStyle/>
          <a:p>
            <a:pPr algn="l" indent="0" marL="0">
              <a:buNone/>
            </a:pPr>
            <a:r>
              <a:rPr lang="en-US" sz="1600" b="1" dirty="0">
                <a:solidFill>
                  <a:srgbClr val="122239"/>
                </a:solidFill>
                <a:latin typeface="Aptos" pitchFamily="34" charset="0"/>
                <a:ea typeface="Aptos" pitchFamily="34" charset="-122"/>
                <a:cs typeface="Aptos" pitchFamily="34" charset="-120"/>
              </a:rPr>
              <a:t>RECOVER</a:t>
            </a:r>
            <a:endParaRPr lang="en-US" sz="1600" dirty="0"/>
          </a:p>
        </p:txBody>
      </p:sp>
      <p:sp>
        <p:nvSpPr>
          <p:cNvPr id="36" name="Text 34"/>
          <p:cNvSpPr/>
          <p:nvPr/>
        </p:nvSpPr>
        <p:spPr>
          <a:xfrm>
            <a:off x="7050024" y="4352544"/>
            <a:ext cx="4434840" cy="274320"/>
          </a:xfrm>
          <a:prstGeom prst="rect">
            <a:avLst/>
          </a:prstGeom>
          <a:noFill/>
          <a:ln/>
        </p:spPr>
        <p:txBody>
          <a:bodyPr wrap="square" lIns="0" tIns="0" rIns="0" bIns="0" rtlCol="0" anchor="ctr">
            <a:normAutofit/>
          </a:bodyPr>
          <a:lstStyle/>
          <a:p>
            <a:pPr algn="l" indent="0" marL="0">
              <a:buNone/>
            </a:pPr>
            <a:r>
              <a:rPr lang="en-US" sz="1300" dirty="0">
                <a:solidFill>
                  <a:srgbClr val="354862"/>
                </a:solidFill>
                <a:latin typeface="Aptos" pitchFamily="34" charset="0"/>
                <a:ea typeface="Aptos" pitchFamily="34" charset="-122"/>
                <a:cs typeface="Aptos" pitchFamily="34" charset="-120"/>
              </a:rPr>
              <a:t>Start target; allow probe</a:t>
            </a:r>
            <a:endParaRPr lang="en-US" sz="1300" dirty="0"/>
          </a:p>
        </p:txBody>
      </p:sp>
      <p:sp>
        <p:nvSpPr>
          <p:cNvPr id="37" name="Text 35"/>
          <p:cNvSpPr/>
          <p:nvPr/>
        </p:nvSpPr>
        <p:spPr>
          <a:xfrm>
            <a:off x="7059168" y="4773168"/>
            <a:ext cx="4334256" cy="210312"/>
          </a:xfrm>
          <a:prstGeom prst="rect">
            <a:avLst/>
          </a:prstGeom>
          <a:noFill/>
          <a:ln/>
        </p:spPr>
        <p:txBody>
          <a:bodyPr wrap="square" lIns="0" tIns="0" rIns="0" bIns="0" rtlCol="0" anchor="ctr">
            <a:normAutofit/>
          </a:bodyPr>
          <a:lstStyle/>
          <a:p>
            <a:pPr algn="l" indent="0" marL="0">
              <a:buNone/>
            </a:pPr>
            <a:r>
              <a:rPr lang="en-US" sz="1200" b="1" dirty="0">
                <a:solidFill>
                  <a:srgbClr val="008F83"/>
                </a:solidFill>
                <a:latin typeface="Aptos" pitchFamily="34" charset="0"/>
                <a:ea typeface="Aptos" pitchFamily="34" charset="-122"/>
                <a:cs typeface="Aptos" pitchFamily="34" charset="-120"/>
              </a:rPr>
              <a:t>Half-open → Closed</a:t>
            </a:r>
            <a:endParaRPr lang="en-US" sz="1200" dirty="0"/>
          </a:p>
        </p:txBody>
      </p:sp>
      <p:sp>
        <p:nvSpPr>
          <p:cNvPr id="38" name="Shape 36"/>
          <p:cNvSpPr/>
          <p:nvPr/>
        </p:nvSpPr>
        <p:spPr>
          <a:xfrm>
            <a:off x="658368" y="5541264"/>
            <a:ext cx="10899648" cy="466344"/>
          </a:xfrm>
          <a:prstGeom prst="roundRect">
            <a:avLst>
              <a:gd name="adj" fmla="val 25490"/>
            </a:avLst>
          </a:prstGeom>
          <a:solidFill>
            <a:srgbClr val="ECF3FF"/>
          </a:solidFill>
          <a:ln w="12700">
            <a:solidFill>
              <a:srgbClr val="CBDBFF"/>
            </a:solidFill>
            <a:prstDash val="solid"/>
          </a:ln>
        </p:spPr>
        <p:txBody>
          <a:bodyPr/>
          <a:p/>
        </p:txBody>
      </p:sp>
      <p:sp>
        <p:nvSpPr>
          <p:cNvPr id="39" name="Text 37"/>
          <p:cNvSpPr/>
          <p:nvPr/>
        </p:nvSpPr>
        <p:spPr>
          <a:xfrm>
            <a:off x="850392" y="5687568"/>
            <a:ext cx="10552176" cy="155448"/>
          </a:xfrm>
          <a:prstGeom prst="rect">
            <a:avLst/>
          </a:prstGeom>
          <a:noFill/>
          <a:ln/>
        </p:spPr>
        <p:txBody>
          <a:bodyPr wrap="square" lIns="0" tIns="0" rIns="0" bIns="0" rtlCol="0" anchor="ctr">
            <a:normAutofit/>
          </a:bodyPr>
          <a:lstStyle/>
          <a:p>
            <a:pPr algn="ctr" indent="0" marL="0">
              <a:buNone/>
            </a:pPr>
            <a:r>
              <a:rPr lang="en-US" sz="1190" b="1" dirty="0">
                <a:solidFill>
                  <a:srgbClr val="122239"/>
                </a:solidFill>
                <a:latin typeface="Aptos" pitchFamily="34" charset="0"/>
                <a:ea typeface="Aptos" pitchFamily="34" charset="-122"/>
                <a:cs typeface="Aptos" pitchFamily="34" charset="-120"/>
              </a:rPr>
              <a:t>docker compose stop resilience-target-service    |    docker compose start resilience-target-service</a:t>
            </a:r>
            <a:endParaRPr lang="en-US" sz="119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L</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A slow recommendation service blocks payment traffic</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Recommendation calls consume the shared capacity that healthy payment calls need.</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SLOW</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Recommendations</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Requests remain open</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FULL</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Shared request slots</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No free capacity</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BLOCKED</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Payment calls</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Cannot get a slot</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Unrelated dependencies compete for the same limited connections or concurrency.</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One optional slow feature can interfere with critical payment operations.</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36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RESILIENCE</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37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2800" b="1" dirty="0">
                <a:solidFill>
                  <a:srgbClr val="122239"/>
                </a:solidFill>
                <a:latin typeface="Aptos" pitchFamily="34" charset="0"/>
                <a:ea typeface="Aptos" pitchFamily="34" charset="-122"/>
                <a:cs typeface="Aptos" pitchFamily="34" charset="-120"/>
              </a:rPr>
              <a:t>Bulkheads isolate concurrency so failures stay contained</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Cap concurrent calls to one dependency and reject excess work quickly.</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37</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L</a:t>
            </a:r>
            <a:endParaRPr lang="en-US" sz="1000" dirty="0"/>
          </a:p>
        </p:txBody>
      </p:sp>
      <p:sp>
        <p:nvSpPr>
          <p:cNvPr id="14" name="Text 12"/>
          <p:cNvSpPr/>
          <p:nvPr/>
        </p:nvSpPr>
        <p:spPr>
          <a:xfrm>
            <a:off x="777240" y="2468880"/>
            <a:ext cx="10378440" cy="292608"/>
          </a:xfrm>
          <a:prstGeom prst="rect">
            <a:avLst/>
          </a:prstGeom>
          <a:noFill/>
          <a:ln/>
        </p:spPr>
        <p:txBody>
          <a:bodyPr wrap="square" lIns="0" tIns="0" rIns="0" bIns="0" rtlCol="0" anchor="ctr">
            <a:normAutofit/>
          </a:bodyPr>
          <a:lstStyle/>
          <a:p>
            <a:pPr algn="ctr" indent="0" marL="0">
              <a:buNone/>
            </a:pPr>
            <a:r>
              <a:rPr lang="en-US" sz="1800" b="1" dirty="0">
                <a:solidFill>
                  <a:srgbClr val="122239"/>
                </a:solidFill>
                <a:latin typeface="Aptos" pitchFamily="34" charset="0"/>
                <a:ea typeface="Aptos" pitchFamily="34" charset="-122"/>
                <a:cs typeface="Aptos" pitchFamily="34" charset="-120"/>
              </a:rPr>
              <a:t>5 simultaneous requests  ·  Limit = 2</a:t>
            </a:r>
            <a:endParaRPr lang="en-US" sz="1800" dirty="0"/>
          </a:p>
        </p:txBody>
      </p:sp>
      <p:sp>
        <p:nvSpPr>
          <p:cNvPr id="15" name="Shape 13"/>
          <p:cNvSpPr/>
          <p:nvPr/>
        </p:nvSpPr>
        <p:spPr>
          <a:xfrm>
            <a:off x="758952" y="3017520"/>
            <a:ext cx="2048256" cy="1207008"/>
          </a:xfrm>
          <a:prstGeom prst="roundRect">
            <a:avLst>
              <a:gd name="adj" fmla="val 9848"/>
            </a:avLst>
          </a:prstGeom>
          <a:solidFill>
            <a:srgbClr val="E7F8F3"/>
          </a:solidFill>
          <a:ln w="12700">
            <a:solidFill>
              <a:srgbClr val="B4E6DD"/>
            </a:solidFill>
            <a:prstDash val="solid"/>
          </a:ln>
        </p:spPr>
        <p:txBody>
          <a:bodyPr/>
          <a:p/>
        </p:txBody>
      </p:sp>
      <p:sp>
        <p:nvSpPr>
          <p:cNvPr id="16" name="Text 14"/>
          <p:cNvSpPr/>
          <p:nvPr/>
        </p:nvSpPr>
        <p:spPr>
          <a:xfrm>
            <a:off x="868680" y="3282696"/>
            <a:ext cx="1810512" cy="21945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Request 1</a:t>
            </a:r>
            <a:endParaRPr lang="en-US" sz="1500" dirty="0"/>
          </a:p>
        </p:txBody>
      </p:sp>
      <p:sp>
        <p:nvSpPr>
          <p:cNvPr id="17" name="Text 15"/>
          <p:cNvSpPr/>
          <p:nvPr/>
        </p:nvSpPr>
        <p:spPr>
          <a:xfrm>
            <a:off x="905256" y="3712464"/>
            <a:ext cx="1728216" cy="173736"/>
          </a:xfrm>
          <a:prstGeom prst="rect">
            <a:avLst/>
          </a:prstGeom>
          <a:noFill/>
          <a:ln/>
        </p:spPr>
        <p:txBody>
          <a:bodyPr wrap="square" lIns="0" tIns="0" rIns="0" bIns="0" rtlCol="0" anchor="ctr">
            <a:normAutofit/>
          </a:bodyPr>
          <a:lstStyle/>
          <a:p>
            <a:pPr algn="ctr" indent="0" marL="0">
              <a:buNone/>
            </a:pPr>
            <a:r>
              <a:rPr lang="en-US" sz="1200" b="1" dirty="0">
                <a:solidFill>
                  <a:srgbClr val="008F83"/>
                </a:solidFill>
                <a:latin typeface="Aptos" pitchFamily="34" charset="0"/>
                <a:ea typeface="Aptos" pitchFamily="34" charset="-122"/>
                <a:cs typeface="Aptos" pitchFamily="34" charset="-120"/>
              </a:rPr>
              <a:t>ADMITTED</a:t>
            </a:r>
            <a:endParaRPr lang="en-US" sz="1200" dirty="0"/>
          </a:p>
        </p:txBody>
      </p:sp>
      <p:sp>
        <p:nvSpPr>
          <p:cNvPr id="18" name="Shape 16"/>
          <p:cNvSpPr/>
          <p:nvPr/>
        </p:nvSpPr>
        <p:spPr>
          <a:xfrm>
            <a:off x="3008376" y="3017520"/>
            <a:ext cx="2048256" cy="1207008"/>
          </a:xfrm>
          <a:prstGeom prst="roundRect">
            <a:avLst>
              <a:gd name="adj" fmla="val 9848"/>
            </a:avLst>
          </a:prstGeom>
          <a:solidFill>
            <a:srgbClr val="E7F8F3"/>
          </a:solidFill>
          <a:ln w="12700">
            <a:solidFill>
              <a:srgbClr val="B4E6DD"/>
            </a:solidFill>
            <a:prstDash val="solid"/>
          </a:ln>
        </p:spPr>
        <p:txBody>
          <a:bodyPr/>
          <a:p/>
        </p:txBody>
      </p:sp>
      <p:sp>
        <p:nvSpPr>
          <p:cNvPr id="19" name="Text 17"/>
          <p:cNvSpPr/>
          <p:nvPr/>
        </p:nvSpPr>
        <p:spPr>
          <a:xfrm>
            <a:off x="3118104" y="3282696"/>
            <a:ext cx="1810512" cy="21945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Request 2</a:t>
            </a:r>
            <a:endParaRPr lang="en-US" sz="1500" dirty="0"/>
          </a:p>
        </p:txBody>
      </p:sp>
      <p:sp>
        <p:nvSpPr>
          <p:cNvPr id="20" name="Text 18"/>
          <p:cNvSpPr/>
          <p:nvPr/>
        </p:nvSpPr>
        <p:spPr>
          <a:xfrm>
            <a:off x="3154680" y="3712464"/>
            <a:ext cx="1728216" cy="173736"/>
          </a:xfrm>
          <a:prstGeom prst="rect">
            <a:avLst/>
          </a:prstGeom>
          <a:noFill/>
          <a:ln/>
        </p:spPr>
        <p:txBody>
          <a:bodyPr wrap="square" lIns="0" tIns="0" rIns="0" bIns="0" rtlCol="0" anchor="ctr">
            <a:normAutofit/>
          </a:bodyPr>
          <a:lstStyle/>
          <a:p>
            <a:pPr algn="ctr" indent="0" marL="0">
              <a:buNone/>
            </a:pPr>
            <a:r>
              <a:rPr lang="en-US" sz="1200" b="1" dirty="0">
                <a:solidFill>
                  <a:srgbClr val="008F83"/>
                </a:solidFill>
                <a:latin typeface="Aptos" pitchFamily="34" charset="0"/>
                <a:ea typeface="Aptos" pitchFamily="34" charset="-122"/>
                <a:cs typeface="Aptos" pitchFamily="34" charset="-120"/>
              </a:rPr>
              <a:t>ADMITTED</a:t>
            </a:r>
            <a:endParaRPr lang="en-US" sz="1200" dirty="0"/>
          </a:p>
        </p:txBody>
      </p:sp>
      <p:sp>
        <p:nvSpPr>
          <p:cNvPr id="21" name="Shape 19"/>
          <p:cNvSpPr/>
          <p:nvPr/>
        </p:nvSpPr>
        <p:spPr>
          <a:xfrm>
            <a:off x="5257800" y="3017520"/>
            <a:ext cx="2048256" cy="1207008"/>
          </a:xfrm>
          <a:prstGeom prst="roundRect">
            <a:avLst>
              <a:gd name="adj" fmla="val 9848"/>
            </a:avLst>
          </a:prstGeom>
          <a:solidFill>
            <a:srgbClr val="FFF0F0"/>
          </a:solidFill>
          <a:ln w="12700">
            <a:solidFill>
              <a:srgbClr val="F4C8CB"/>
            </a:solidFill>
            <a:prstDash val="solid"/>
          </a:ln>
        </p:spPr>
        <p:txBody>
          <a:bodyPr/>
          <a:p/>
        </p:txBody>
      </p:sp>
      <p:sp>
        <p:nvSpPr>
          <p:cNvPr id="22" name="Text 20"/>
          <p:cNvSpPr/>
          <p:nvPr/>
        </p:nvSpPr>
        <p:spPr>
          <a:xfrm>
            <a:off x="5367528" y="3282696"/>
            <a:ext cx="1810512" cy="21945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Request 3</a:t>
            </a:r>
            <a:endParaRPr lang="en-US" sz="1500" dirty="0"/>
          </a:p>
        </p:txBody>
      </p:sp>
      <p:sp>
        <p:nvSpPr>
          <p:cNvPr id="23" name="Text 21"/>
          <p:cNvSpPr/>
          <p:nvPr/>
        </p:nvSpPr>
        <p:spPr>
          <a:xfrm>
            <a:off x="5404104" y="3712464"/>
            <a:ext cx="1728216" cy="173736"/>
          </a:xfrm>
          <a:prstGeom prst="rect">
            <a:avLst/>
          </a:prstGeom>
          <a:noFill/>
          <a:ln/>
        </p:spPr>
        <p:txBody>
          <a:bodyPr wrap="square" lIns="0" tIns="0" rIns="0" bIns="0" rtlCol="0" anchor="ctr">
            <a:normAutofit/>
          </a:bodyPr>
          <a:lstStyle/>
          <a:p>
            <a:pPr algn="ctr" indent="0" marL="0">
              <a:buNone/>
            </a:pPr>
            <a:r>
              <a:rPr lang="en-US" sz="1200" b="1" dirty="0">
                <a:solidFill>
                  <a:srgbClr val="D84148"/>
                </a:solidFill>
                <a:latin typeface="Aptos" pitchFamily="34" charset="0"/>
                <a:ea typeface="Aptos" pitchFamily="34" charset="-122"/>
                <a:cs typeface="Aptos" pitchFamily="34" charset="-120"/>
              </a:rPr>
              <a:t>REJECTED</a:t>
            </a:r>
            <a:endParaRPr lang="en-US" sz="1200" dirty="0"/>
          </a:p>
        </p:txBody>
      </p:sp>
      <p:sp>
        <p:nvSpPr>
          <p:cNvPr id="24" name="Shape 22"/>
          <p:cNvSpPr/>
          <p:nvPr/>
        </p:nvSpPr>
        <p:spPr>
          <a:xfrm>
            <a:off x="7507224" y="3017520"/>
            <a:ext cx="2048256" cy="1207008"/>
          </a:xfrm>
          <a:prstGeom prst="roundRect">
            <a:avLst>
              <a:gd name="adj" fmla="val 9848"/>
            </a:avLst>
          </a:prstGeom>
          <a:solidFill>
            <a:srgbClr val="FFF0F0"/>
          </a:solidFill>
          <a:ln w="12700">
            <a:solidFill>
              <a:srgbClr val="F4C8CB"/>
            </a:solidFill>
            <a:prstDash val="solid"/>
          </a:ln>
        </p:spPr>
        <p:txBody>
          <a:bodyPr/>
          <a:p/>
        </p:txBody>
      </p:sp>
      <p:sp>
        <p:nvSpPr>
          <p:cNvPr id="25" name="Text 23"/>
          <p:cNvSpPr/>
          <p:nvPr/>
        </p:nvSpPr>
        <p:spPr>
          <a:xfrm>
            <a:off x="7616952" y="3282696"/>
            <a:ext cx="1810512" cy="21945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Request 4</a:t>
            </a:r>
            <a:endParaRPr lang="en-US" sz="1500" dirty="0"/>
          </a:p>
        </p:txBody>
      </p:sp>
      <p:sp>
        <p:nvSpPr>
          <p:cNvPr id="26" name="Text 24"/>
          <p:cNvSpPr/>
          <p:nvPr/>
        </p:nvSpPr>
        <p:spPr>
          <a:xfrm>
            <a:off x="7653528" y="3712464"/>
            <a:ext cx="1728216" cy="173736"/>
          </a:xfrm>
          <a:prstGeom prst="rect">
            <a:avLst/>
          </a:prstGeom>
          <a:noFill/>
          <a:ln/>
        </p:spPr>
        <p:txBody>
          <a:bodyPr wrap="square" lIns="0" tIns="0" rIns="0" bIns="0" rtlCol="0" anchor="ctr">
            <a:normAutofit/>
          </a:bodyPr>
          <a:lstStyle/>
          <a:p>
            <a:pPr algn="ctr" indent="0" marL="0">
              <a:buNone/>
            </a:pPr>
            <a:r>
              <a:rPr lang="en-US" sz="1200" b="1" dirty="0">
                <a:solidFill>
                  <a:srgbClr val="D84148"/>
                </a:solidFill>
                <a:latin typeface="Aptos" pitchFamily="34" charset="0"/>
                <a:ea typeface="Aptos" pitchFamily="34" charset="-122"/>
                <a:cs typeface="Aptos" pitchFamily="34" charset="-120"/>
              </a:rPr>
              <a:t>REJECTED</a:t>
            </a:r>
            <a:endParaRPr lang="en-US" sz="1200" dirty="0"/>
          </a:p>
        </p:txBody>
      </p:sp>
      <p:sp>
        <p:nvSpPr>
          <p:cNvPr id="27" name="Shape 25"/>
          <p:cNvSpPr/>
          <p:nvPr/>
        </p:nvSpPr>
        <p:spPr>
          <a:xfrm>
            <a:off x="9756648" y="3017520"/>
            <a:ext cx="2048256" cy="1207008"/>
          </a:xfrm>
          <a:prstGeom prst="roundRect">
            <a:avLst>
              <a:gd name="adj" fmla="val 9848"/>
            </a:avLst>
          </a:prstGeom>
          <a:solidFill>
            <a:srgbClr val="FFF0F0"/>
          </a:solidFill>
          <a:ln w="12700">
            <a:solidFill>
              <a:srgbClr val="F4C8CB"/>
            </a:solidFill>
            <a:prstDash val="solid"/>
          </a:ln>
        </p:spPr>
        <p:txBody>
          <a:bodyPr/>
          <a:p/>
        </p:txBody>
      </p:sp>
      <p:sp>
        <p:nvSpPr>
          <p:cNvPr id="28" name="Text 26"/>
          <p:cNvSpPr/>
          <p:nvPr/>
        </p:nvSpPr>
        <p:spPr>
          <a:xfrm>
            <a:off x="9866376" y="3282696"/>
            <a:ext cx="1810512" cy="21945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Request 5</a:t>
            </a:r>
            <a:endParaRPr lang="en-US" sz="1500" dirty="0"/>
          </a:p>
        </p:txBody>
      </p:sp>
      <p:sp>
        <p:nvSpPr>
          <p:cNvPr id="29" name="Text 27"/>
          <p:cNvSpPr/>
          <p:nvPr/>
        </p:nvSpPr>
        <p:spPr>
          <a:xfrm>
            <a:off x="9902952" y="3712464"/>
            <a:ext cx="1728216" cy="173736"/>
          </a:xfrm>
          <a:prstGeom prst="rect">
            <a:avLst/>
          </a:prstGeom>
          <a:noFill/>
          <a:ln/>
        </p:spPr>
        <p:txBody>
          <a:bodyPr wrap="square" lIns="0" tIns="0" rIns="0" bIns="0" rtlCol="0" anchor="ctr">
            <a:normAutofit/>
          </a:bodyPr>
          <a:lstStyle/>
          <a:p>
            <a:pPr algn="ctr" indent="0" marL="0">
              <a:buNone/>
            </a:pPr>
            <a:r>
              <a:rPr lang="en-US" sz="1200" b="1" dirty="0">
                <a:solidFill>
                  <a:srgbClr val="D84148"/>
                </a:solidFill>
                <a:latin typeface="Aptos" pitchFamily="34" charset="0"/>
                <a:ea typeface="Aptos" pitchFamily="34" charset="-122"/>
                <a:cs typeface="Aptos" pitchFamily="34" charset="-120"/>
              </a:rPr>
              <a:t>REJECTED</a:t>
            </a:r>
            <a:endParaRPr lang="en-US" sz="1200" dirty="0"/>
          </a:p>
        </p:txBody>
      </p:sp>
      <p:sp>
        <p:nvSpPr>
          <p:cNvPr id="30" name="Shape 28"/>
          <p:cNvSpPr/>
          <p:nvPr/>
        </p:nvSpPr>
        <p:spPr>
          <a:xfrm>
            <a:off x="594360" y="4727448"/>
            <a:ext cx="3560064" cy="1325880"/>
          </a:xfrm>
          <a:prstGeom prst="roundRect">
            <a:avLst>
              <a:gd name="adj" fmla="val 9655"/>
            </a:avLst>
          </a:prstGeom>
          <a:solidFill>
            <a:srgbClr val="F7F9FC"/>
          </a:solidFill>
          <a:ln w="12700">
            <a:solidFill>
              <a:srgbClr val="DFE7F1"/>
            </a:solidFill>
            <a:prstDash val="solid"/>
          </a:ln>
        </p:spPr>
        <p:txBody>
          <a:bodyPr/>
          <a:p/>
        </p:txBody>
      </p:sp>
      <p:sp>
        <p:nvSpPr>
          <p:cNvPr id="31" name="Shape 29"/>
          <p:cNvSpPr/>
          <p:nvPr/>
        </p:nvSpPr>
        <p:spPr>
          <a:xfrm>
            <a:off x="594360" y="4727448"/>
            <a:ext cx="50292" cy="1325880"/>
          </a:xfrm>
          <a:prstGeom prst="rect">
            <a:avLst/>
          </a:prstGeom>
          <a:solidFill>
            <a:srgbClr val="2866F6"/>
          </a:solidFill>
          <a:ln w="12700">
            <a:solidFill>
              <a:srgbClr val="2866F6"/>
            </a:solidFill>
            <a:prstDash val="solid"/>
          </a:ln>
        </p:spPr>
        <p:txBody>
          <a:bodyPr/>
          <a:p/>
        </p:txBody>
      </p:sp>
      <p:sp>
        <p:nvSpPr>
          <p:cNvPr id="32" name="Text 30"/>
          <p:cNvSpPr/>
          <p:nvPr/>
        </p:nvSpPr>
        <p:spPr>
          <a:xfrm>
            <a:off x="768096" y="484632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Bounded capacity</a:t>
            </a:r>
            <a:endParaRPr lang="en-US" sz="1340" dirty="0"/>
          </a:p>
        </p:txBody>
      </p:sp>
      <p:sp>
        <p:nvSpPr>
          <p:cNvPr id="33" name="Text 31"/>
          <p:cNvSpPr/>
          <p:nvPr/>
        </p:nvSpPr>
        <p:spPr>
          <a:xfrm>
            <a:off x="768096" y="5230368"/>
            <a:ext cx="3221736"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Two calls enter; three receive fast rejection instead of piling up.</a:t>
            </a:r>
            <a:endParaRPr lang="en-US" sz="1230" dirty="0"/>
          </a:p>
        </p:txBody>
      </p:sp>
      <p:sp>
        <p:nvSpPr>
          <p:cNvPr id="34" name="Shape 32"/>
          <p:cNvSpPr/>
          <p:nvPr/>
        </p:nvSpPr>
        <p:spPr>
          <a:xfrm>
            <a:off x="4300728" y="4727448"/>
            <a:ext cx="3560064" cy="1325880"/>
          </a:xfrm>
          <a:prstGeom prst="roundRect">
            <a:avLst>
              <a:gd name="adj" fmla="val 9655"/>
            </a:avLst>
          </a:prstGeom>
          <a:solidFill>
            <a:srgbClr val="F7F9FC"/>
          </a:solidFill>
          <a:ln w="12700">
            <a:solidFill>
              <a:srgbClr val="DFE7F1"/>
            </a:solidFill>
            <a:prstDash val="solid"/>
          </a:ln>
        </p:spPr>
        <p:txBody>
          <a:bodyPr/>
          <a:p/>
        </p:txBody>
      </p:sp>
      <p:sp>
        <p:nvSpPr>
          <p:cNvPr id="35" name="Shape 33"/>
          <p:cNvSpPr/>
          <p:nvPr/>
        </p:nvSpPr>
        <p:spPr>
          <a:xfrm>
            <a:off x="4300728" y="4727448"/>
            <a:ext cx="50292" cy="1325880"/>
          </a:xfrm>
          <a:prstGeom prst="rect">
            <a:avLst/>
          </a:prstGeom>
          <a:solidFill>
            <a:srgbClr val="2866F6"/>
          </a:solidFill>
          <a:ln w="12700">
            <a:solidFill>
              <a:srgbClr val="2866F6"/>
            </a:solidFill>
            <a:prstDash val="solid"/>
          </a:ln>
        </p:spPr>
        <p:txBody>
          <a:bodyPr/>
          <a:p/>
        </p:txBody>
      </p:sp>
      <p:sp>
        <p:nvSpPr>
          <p:cNvPr id="36" name="Text 34"/>
          <p:cNvSpPr/>
          <p:nvPr/>
        </p:nvSpPr>
        <p:spPr>
          <a:xfrm>
            <a:off x="4474464" y="484632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Isolation matters</a:t>
            </a:r>
            <a:endParaRPr lang="en-US" sz="1340" dirty="0"/>
          </a:p>
        </p:txBody>
      </p:sp>
      <p:sp>
        <p:nvSpPr>
          <p:cNvPr id="37" name="Text 35"/>
          <p:cNvSpPr/>
          <p:nvPr/>
        </p:nvSpPr>
        <p:spPr>
          <a:xfrm>
            <a:off x="4474464" y="5230368"/>
            <a:ext cx="3221736"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Separate allocations prevent one dependency consuming every slot.</a:t>
            </a:r>
            <a:endParaRPr lang="en-US" sz="1230" dirty="0"/>
          </a:p>
        </p:txBody>
      </p:sp>
      <p:sp>
        <p:nvSpPr>
          <p:cNvPr id="38" name="Shape 36"/>
          <p:cNvSpPr/>
          <p:nvPr/>
        </p:nvSpPr>
        <p:spPr>
          <a:xfrm>
            <a:off x="8007096" y="4727448"/>
            <a:ext cx="3560064" cy="1325880"/>
          </a:xfrm>
          <a:prstGeom prst="roundRect">
            <a:avLst>
              <a:gd name="adj" fmla="val 9655"/>
            </a:avLst>
          </a:prstGeom>
          <a:solidFill>
            <a:srgbClr val="F7F9FC"/>
          </a:solidFill>
          <a:ln w="12700">
            <a:solidFill>
              <a:srgbClr val="DFE7F1"/>
            </a:solidFill>
            <a:prstDash val="solid"/>
          </a:ln>
        </p:spPr>
        <p:txBody>
          <a:bodyPr/>
          <a:p/>
        </p:txBody>
      </p:sp>
      <p:sp>
        <p:nvSpPr>
          <p:cNvPr id="39" name="Shape 37"/>
          <p:cNvSpPr/>
          <p:nvPr/>
        </p:nvSpPr>
        <p:spPr>
          <a:xfrm>
            <a:off x="8007096" y="4727448"/>
            <a:ext cx="50292" cy="1325880"/>
          </a:xfrm>
          <a:prstGeom prst="rect">
            <a:avLst/>
          </a:prstGeom>
          <a:solidFill>
            <a:srgbClr val="2866F6"/>
          </a:solidFill>
          <a:ln w="12700">
            <a:solidFill>
              <a:srgbClr val="2866F6"/>
            </a:solidFill>
            <a:prstDash val="solid"/>
          </a:ln>
        </p:spPr>
        <p:txBody>
          <a:bodyPr/>
          <a:p/>
        </p:txBody>
      </p:sp>
      <p:sp>
        <p:nvSpPr>
          <p:cNvPr id="40" name="Text 38"/>
          <p:cNvSpPr/>
          <p:nvPr/>
        </p:nvSpPr>
        <p:spPr>
          <a:xfrm>
            <a:off x="8180832" y="484632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Demo limitation</a:t>
            </a:r>
            <a:endParaRPr lang="en-US" sz="1340" dirty="0"/>
          </a:p>
        </p:txBody>
      </p:sp>
      <p:sp>
        <p:nvSpPr>
          <p:cNvPr id="41" name="Text 39"/>
          <p:cNvSpPr/>
          <p:nvPr/>
        </p:nvSpPr>
        <p:spPr>
          <a:xfrm>
            <a:off x="8180832" y="5230368"/>
            <a:ext cx="3221736"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The in-memory counter limits one Lab instance, not an entire cluster.</a:t>
            </a:r>
            <a:endParaRPr lang="en-US" sz="123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RESILIENCE</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39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sz="3050" b="1">
                <a:latin typeface="Aptos"/>
              </a:rPr>
              <a:t>Graceful degradation keeps core features working</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sz="1400">
                <a:latin typeface="Aptos"/>
              </a:rPr>
              <a:t>Optional failures should not prevent essential and correct user actions.</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39</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M</a:t>
            </a:r>
            <a:endParaRPr lang="en-US" sz="1000" dirty="0"/>
          </a:p>
        </p:txBody>
      </p:sp>
      <p:sp>
        <p:nvSpPr>
          <p:cNvPr id="14" name="Shape 12"/>
          <p:cNvSpPr/>
          <p:nvPr/>
        </p:nvSpPr>
        <p:spPr>
          <a:xfrm>
            <a:off x="548640" y="2331720"/>
            <a:ext cx="5440680" cy="2551176"/>
          </a:xfrm>
          <a:prstGeom prst="roundRect">
            <a:avLst>
              <a:gd name="adj" fmla="val 5018"/>
            </a:avLst>
          </a:prstGeom>
          <a:solidFill>
            <a:srgbClr val="E7F8F3"/>
          </a:solidFill>
          <a:ln w="12700">
            <a:solidFill>
              <a:srgbClr val="DFE7F1"/>
            </a:solidFill>
            <a:prstDash val="solid"/>
          </a:ln>
        </p:spPr>
        <p:txBody>
          <a:bodyPr/>
          <a:p/>
        </p:txBody>
      </p:sp>
      <p:sp>
        <p:nvSpPr>
          <p:cNvPr id="15" name="Shape 13"/>
          <p:cNvSpPr/>
          <p:nvPr/>
        </p:nvSpPr>
        <p:spPr>
          <a:xfrm>
            <a:off x="548640" y="2331720"/>
            <a:ext cx="50292" cy="2551176"/>
          </a:xfrm>
          <a:prstGeom prst="rect">
            <a:avLst/>
          </a:prstGeom>
          <a:solidFill>
            <a:srgbClr val="008F83"/>
          </a:solidFill>
          <a:ln w="12700">
            <a:solidFill>
              <a:srgbClr val="008F83"/>
            </a:solidFill>
            <a:prstDash val="solid"/>
          </a:ln>
        </p:spPr>
        <p:txBody>
          <a:bodyPr/>
          <a:p/>
        </p:txBody>
      </p:sp>
      <p:sp>
        <p:nvSpPr>
          <p:cNvPr id="16" name="Text 14"/>
          <p:cNvSpPr/>
          <p:nvPr/>
        </p:nvSpPr>
        <p:spPr>
          <a:xfrm>
            <a:off x="722376" y="2450592"/>
            <a:ext cx="5111496" cy="301752"/>
          </a:xfrm>
          <a:prstGeom prst="rect">
            <a:avLst/>
          </a:prstGeom>
          <a:noFill/>
          <a:ln/>
        </p:spPr>
        <p:txBody>
          <a:bodyPr wrap="square" lIns="0" tIns="0" rIns="0" bIns="0" rtlCol="0" anchor="ctr">
            <a:normAutofit/>
          </a:bodyPr>
          <a:lstStyle/>
          <a:p>
            <a:pPr algn="l" indent="0" marL="0">
              <a:buNone/>
            </a:pPr>
            <a:r>
              <a:rPr lang="en-US" sz="1700" b="1" dirty="0">
                <a:solidFill>
                  <a:srgbClr val="122239"/>
                </a:solidFill>
                <a:latin typeface="Aptos" pitchFamily="34" charset="0"/>
                <a:ea typeface="Aptos" pitchFamily="34" charset="-122"/>
                <a:cs typeface="Aptos" pitchFamily="34" charset="-120"/>
              </a:rPr>
              <a:t>OPTIONAL FEATURE FAILS</a:t>
            </a:r>
            <a:endParaRPr lang="en-US" sz="1700" dirty="0"/>
          </a:p>
        </p:txBody>
      </p:sp>
      <p:sp>
        <p:nvSpPr>
          <p:cNvPr id="17" name="Text 15"/>
          <p:cNvSpPr/>
          <p:nvPr/>
        </p:nvSpPr>
        <p:spPr>
          <a:xfrm>
            <a:off x="722376" y="2834640"/>
            <a:ext cx="5102352" cy="1965960"/>
          </a:xfrm>
          <a:prstGeom prst="rect">
            <a:avLst/>
          </a:prstGeom>
          <a:noFill/>
          <a:ln/>
        </p:spPr>
        <p:txBody>
          <a:bodyPr wrap="square" lIns="0" tIns="0" rIns="0" bIns="0" rtlCol="0" anchor="ctr">
            <a:normAutofit/>
          </a:bodyPr>
          <a:lstStyle/>
          <a:p>
            <a:pPr algn="l" indent="0" marL="0">
              <a:buNone/>
            </a:pPr>
            <a:r>
              <a:rPr lang="en-US" sz="1500" dirty="0">
                <a:solidFill>
                  <a:srgbClr val="354862"/>
                </a:solidFill>
                <a:latin typeface="Aptos" pitchFamily="34" charset="0"/>
                <a:ea typeface="Aptos" pitchFamily="34" charset="-122"/>
                <a:cs typeface="Aptos" pitchFamily="34" charset="-120"/>
              </a:rPr>
              <a:t>Recommendations are unavailable. The product page still displays price, images and availability.</a:t>
            </a:r>
            <a:endParaRPr lang="en-US" sz="1500" dirty="0"/>
          </a:p>
        </p:txBody>
      </p:sp>
      <p:sp>
        <p:nvSpPr>
          <p:cNvPr id="18" name="Shape 16"/>
          <p:cNvSpPr/>
          <p:nvPr/>
        </p:nvSpPr>
        <p:spPr>
          <a:xfrm>
            <a:off x="6163056" y="2331720"/>
            <a:ext cx="5504688" cy="2551176"/>
          </a:xfrm>
          <a:prstGeom prst="roundRect">
            <a:avLst>
              <a:gd name="adj" fmla="val 5018"/>
            </a:avLst>
          </a:prstGeom>
          <a:solidFill>
            <a:srgbClr val="FFF0F0"/>
          </a:solidFill>
          <a:ln w="12700">
            <a:solidFill>
              <a:srgbClr val="DFE7F1"/>
            </a:solidFill>
            <a:prstDash val="solid"/>
          </a:ln>
        </p:spPr>
        <p:txBody>
          <a:bodyPr/>
          <a:p/>
        </p:txBody>
      </p:sp>
      <p:sp>
        <p:nvSpPr>
          <p:cNvPr id="19" name="Shape 17"/>
          <p:cNvSpPr/>
          <p:nvPr/>
        </p:nvSpPr>
        <p:spPr>
          <a:xfrm>
            <a:off x="6163056" y="2331720"/>
            <a:ext cx="50292" cy="2551176"/>
          </a:xfrm>
          <a:prstGeom prst="rect">
            <a:avLst/>
          </a:prstGeom>
          <a:solidFill>
            <a:srgbClr val="D84148"/>
          </a:solidFill>
          <a:ln w="12700">
            <a:solidFill>
              <a:srgbClr val="D84148"/>
            </a:solidFill>
            <a:prstDash val="solid"/>
          </a:ln>
        </p:spPr>
        <p:txBody>
          <a:bodyPr/>
          <a:p/>
        </p:txBody>
      </p:sp>
      <p:sp>
        <p:nvSpPr>
          <p:cNvPr id="20" name="Text 18"/>
          <p:cNvSpPr/>
          <p:nvPr/>
        </p:nvSpPr>
        <p:spPr>
          <a:xfrm>
            <a:off x="6336792" y="2450592"/>
            <a:ext cx="5175504" cy="301752"/>
          </a:xfrm>
          <a:prstGeom prst="rect">
            <a:avLst/>
          </a:prstGeom>
          <a:noFill/>
          <a:ln/>
        </p:spPr>
        <p:txBody>
          <a:bodyPr wrap="square" lIns="0" tIns="0" rIns="0" bIns="0" rtlCol="0" anchor="ctr">
            <a:normAutofit/>
          </a:bodyPr>
          <a:lstStyle/>
          <a:p>
            <a:pPr algn="l" indent="0" marL="0">
              <a:buNone/>
            </a:pPr>
            <a:r>
              <a:rPr lang="en-US" sz="1700" b="1" dirty="0">
                <a:solidFill>
                  <a:srgbClr val="122239"/>
                </a:solidFill>
                <a:latin typeface="Aptos" pitchFamily="34" charset="0"/>
                <a:ea typeface="Aptos" pitchFamily="34" charset="-122"/>
                <a:cs typeface="Aptos" pitchFamily="34" charset="-120"/>
              </a:rPr>
              <a:t>ESSENTIAL OPERATION FAILS</a:t>
            </a:r>
            <a:endParaRPr lang="en-US" sz="1700" dirty="0"/>
          </a:p>
        </p:txBody>
      </p:sp>
      <p:sp>
        <p:nvSpPr>
          <p:cNvPr id="21" name="Text 19"/>
          <p:cNvSpPr/>
          <p:nvPr/>
        </p:nvSpPr>
        <p:spPr>
          <a:xfrm>
            <a:off x="6336792" y="2834640"/>
            <a:ext cx="5166360" cy="1965960"/>
          </a:xfrm>
          <a:prstGeom prst="rect">
            <a:avLst/>
          </a:prstGeom>
          <a:noFill/>
          <a:ln/>
        </p:spPr>
        <p:txBody>
          <a:bodyPr wrap="square" lIns="0" tIns="0" rIns="0" bIns="0" rtlCol="0" anchor="ctr">
            <a:normAutofit/>
          </a:bodyPr>
          <a:lstStyle/>
          <a:p>
            <a:pPr algn="l" indent="0" marL="0">
              <a:buNone/>
            </a:pPr>
            <a:r>
              <a:rPr lang="en-US" sz="1500" dirty="0">
                <a:solidFill>
                  <a:srgbClr val="354862"/>
                </a:solidFill>
                <a:latin typeface="Aptos" pitchFamily="34" charset="0"/>
                <a:ea typeface="Aptos" pitchFamily="34" charset="-122"/>
                <a:cs typeface="Aptos" pitchFamily="34" charset="-120"/>
              </a:rPr>
              <a:t>Payment is unavailable. Checkout must not claim the customer paid successfully.</a:t>
            </a:r>
            <a:endParaRPr lang="en-US" sz="1500" dirty="0"/>
          </a:p>
        </p:txBody>
      </p:sp>
      <p:sp>
        <p:nvSpPr>
          <p:cNvPr id="22" name="Shape 20"/>
          <p:cNvSpPr/>
          <p:nvPr/>
        </p:nvSpPr>
        <p:spPr>
          <a:xfrm>
            <a:off x="612648" y="5166360"/>
            <a:ext cx="5399532" cy="1051560"/>
          </a:xfrm>
          <a:prstGeom prst="roundRect">
            <a:avLst>
              <a:gd name="adj" fmla="val 12174"/>
            </a:avLst>
          </a:prstGeom>
          <a:solidFill>
            <a:srgbClr val="F7F9FC"/>
          </a:solidFill>
          <a:ln w="12700">
            <a:solidFill>
              <a:srgbClr val="DFE7F1"/>
            </a:solidFill>
            <a:prstDash val="solid"/>
          </a:ln>
        </p:spPr>
        <p:txBody>
          <a:bodyPr/>
          <a:p/>
        </p:txBody>
      </p:sp>
      <p:sp>
        <p:nvSpPr>
          <p:cNvPr id="23" name="Shape 21"/>
          <p:cNvSpPr/>
          <p:nvPr/>
        </p:nvSpPr>
        <p:spPr>
          <a:xfrm>
            <a:off x="612648" y="5166360"/>
            <a:ext cx="50292" cy="1051560"/>
          </a:xfrm>
          <a:prstGeom prst="rect">
            <a:avLst/>
          </a:prstGeom>
          <a:solidFill>
            <a:srgbClr val="2866F6"/>
          </a:solidFill>
          <a:ln w="12700">
            <a:solidFill>
              <a:srgbClr val="2866F6"/>
            </a:solidFill>
            <a:prstDash val="solid"/>
          </a:ln>
        </p:spPr>
        <p:txBody>
          <a:bodyPr/>
          <a:p/>
        </p:txBody>
      </p:sp>
      <p:sp>
        <p:nvSpPr>
          <p:cNvPr id="24" name="Text 22"/>
          <p:cNvSpPr/>
          <p:nvPr/>
        </p:nvSpPr>
        <p:spPr>
          <a:xfrm>
            <a:off x="786384" y="5285232"/>
            <a:ext cx="507034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Safe fallback</a:t>
            </a:r>
            <a:endParaRPr lang="en-US" sz="1340" dirty="0"/>
          </a:p>
        </p:txBody>
      </p:sp>
      <p:sp>
        <p:nvSpPr>
          <p:cNvPr id="25" name="Text 23"/>
          <p:cNvSpPr/>
          <p:nvPr/>
        </p:nvSpPr>
        <p:spPr>
          <a:xfrm>
            <a:off x="786384" y="5669280"/>
            <a:ext cx="5061204" cy="46634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Hide or replace optional content with a known-good alternative.</a:t>
            </a:r>
            <a:endParaRPr lang="en-US" sz="1230" dirty="0"/>
          </a:p>
        </p:txBody>
      </p:sp>
      <p:sp>
        <p:nvSpPr>
          <p:cNvPr id="26" name="Shape 24"/>
          <p:cNvSpPr/>
          <p:nvPr/>
        </p:nvSpPr>
        <p:spPr>
          <a:xfrm>
            <a:off x="6158484" y="5166360"/>
            <a:ext cx="5399532" cy="1051560"/>
          </a:xfrm>
          <a:prstGeom prst="roundRect">
            <a:avLst>
              <a:gd name="adj" fmla="val 12174"/>
            </a:avLst>
          </a:prstGeom>
          <a:solidFill>
            <a:srgbClr val="F7F9FC"/>
          </a:solidFill>
          <a:ln w="12700">
            <a:solidFill>
              <a:srgbClr val="DFE7F1"/>
            </a:solidFill>
            <a:prstDash val="solid"/>
          </a:ln>
        </p:spPr>
        <p:txBody>
          <a:bodyPr/>
          <a:p/>
        </p:txBody>
      </p:sp>
      <p:sp>
        <p:nvSpPr>
          <p:cNvPr id="27" name="Shape 25"/>
          <p:cNvSpPr/>
          <p:nvPr/>
        </p:nvSpPr>
        <p:spPr>
          <a:xfrm>
            <a:off x="6158484" y="5166360"/>
            <a:ext cx="50292" cy="1051560"/>
          </a:xfrm>
          <a:prstGeom prst="rect">
            <a:avLst/>
          </a:prstGeom>
          <a:solidFill>
            <a:srgbClr val="2866F6"/>
          </a:solidFill>
          <a:ln w="12700">
            <a:solidFill>
              <a:srgbClr val="2866F6"/>
            </a:solidFill>
            <a:prstDash val="solid"/>
          </a:ln>
        </p:spPr>
        <p:txBody>
          <a:bodyPr/>
          <a:p/>
        </p:txBody>
      </p:sp>
      <p:sp>
        <p:nvSpPr>
          <p:cNvPr id="28" name="Text 26"/>
          <p:cNvSpPr/>
          <p:nvPr/>
        </p:nvSpPr>
        <p:spPr>
          <a:xfrm>
            <a:off x="6332220" y="5285232"/>
            <a:ext cx="507034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Preserve correctness</a:t>
            </a:r>
            <a:endParaRPr lang="en-US" sz="1340" dirty="0"/>
          </a:p>
        </p:txBody>
      </p:sp>
      <p:sp>
        <p:nvSpPr>
          <p:cNvPr id="29" name="Text 27"/>
          <p:cNvSpPr/>
          <p:nvPr/>
        </p:nvSpPr>
        <p:spPr>
          <a:xfrm>
            <a:off x="6332220" y="5669280"/>
            <a:ext cx="5061204" cy="46634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 fallback must never fake a successful financial operation.</a:t>
            </a:r>
            <a:endParaRPr lang="en-US" sz="123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RESILIENCE</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41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sz="3050" b="1">
                <a:latin typeface="Aptos"/>
              </a:rPr>
              <a:t>Rate limiting and load shedding protect capacity</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sz="1400">
                <a:latin typeface="Aptos"/>
              </a:rPr>
              <a:t>Usage policies and overload controls solve different traffic problems.</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41</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N</a:t>
            </a:r>
            <a:endParaRPr lang="en-US" sz="1000" dirty="0"/>
          </a:p>
        </p:txBody>
      </p:sp>
      <p:sp>
        <p:nvSpPr>
          <p:cNvPr id="14" name="Shape 12"/>
          <p:cNvSpPr/>
          <p:nvPr/>
        </p:nvSpPr>
        <p:spPr>
          <a:xfrm>
            <a:off x="548640" y="2331720"/>
            <a:ext cx="5440680" cy="2551176"/>
          </a:xfrm>
          <a:prstGeom prst="roundRect">
            <a:avLst>
              <a:gd name="adj" fmla="val 5018"/>
            </a:avLst>
          </a:prstGeom>
          <a:solidFill>
            <a:srgbClr val="ECF3FF"/>
          </a:solidFill>
          <a:ln w="12700">
            <a:solidFill>
              <a:srgbClr val="DFE7F1"/>
            </a:solidFill>
            <a:prstDash val="solid"/>
          </a:ln>
        </p:spPr>
        <p:txBody>
          <a:bodyPr/>
          <a:p/>
        </p:txBody>
      </p:sp>
      <p:sp>
        <p:nvSpPr>
          <p:cNvPr id="15" name="Shape 13"/>
          <p:cNvSpPr/>
          <p:nvPr/>
        </p:nvSpPr>
        <p:spPr>
          <a:xfrm>
            <a:off x="548640" y="2331720"/>
            <a:ext cx="50292" cy="2551176"/>
          </a:xfrm>
          <a:prstGeom prst="rect">
            <a:avLst/>
          </a:prstGeom>
          <a:solidFill>
            <a:srgbClr val="2866F6"/>
          </a:solidFill>
          <a:ln w="12700">
            <a:solidFill>
              <a:srgbClr val="2866F6"/>
            </a:solidFill>
            <a:prstDash val="solid"/>
          </a:ln>
        </p:spPr>
        <p:txBody>
          <a:bodyPr/>
          <a:p/>
        </p:txBody>
      </p:sp>
      <p:sp>
        <p:nvSpPr>
          <p:cNvPr id="16" name="Text 14"/>
          <p:cNvSpPr/>
          <p:nvPr/>
        </p:nvSpPr>
        <p:spPr>
          <a:xfrm>
            <a:off x="722376" y="2450592"/>
            <a:ext cx="5111496" cy="301752"/>
          </a:xfrm>
          <a:prstGeom prst="rect">
            <a:avLst/>
          </a:prstGeom>
          <a:noFill/>
          <a:ln/>
        </p:spPr>
        <p:txBody>
          <a:bodyPr wrap="square" lIns="0" tIns="0" rIns="0" bIns="0" rtlCol="0" anchor="ctr">
            <a:normAutofit/>
          </a:bodyPr>
          <a:lstStyle/>
          <a:p>
            <a:pPr algn="l" indent="0" marL="0">
              <a:buNone/>
            </a:pPr>
            <a:r>
              <a:rPr lang="en-US" sz="1700" b="1" dirty="0">
                <a:solidFill>
                  <a:srgbClr val="122239"/>
                </a:solidFill>
                <a:latin typeface="Aptos" pitchFamily="34" charset="0"/>
                <a:ea typeface="Aptos" pitchFamily="34" charset="-122"/>
                <a:cs typeface="Aptos" pitchFamily="34" charset="-120"/>
              </a:rPr>
              <a:t>RATE LIMITING</a:t>
            </a:r>
            <a:endParaRPr lang="en-US" sz="1700" dirty="0"/>
          </a:p>
        </p:txBody>
      </p:sp>
      <p:sp>
        <p:nvSpPr>
          <p:cNvPr id="17" name="Text 15"/>
          <p:cNvSpPr/>
          <p:nvPr/>
        </p:nvSpPr>
        <p:spPr>
          <a:xfrm>
            <a:off x="722376" y="2834640"/>
            <a:ext cx="5102352" cy="1965960"/>
          </a:xfrm>
          <a:prstGeom prst="rect">
            <a:avLst/>
          </a:prstGeom>
          <a:noFill/>
          <a:ln/>
        </p:spPr>
        <p:txBody>
          <a:bodyPr wrap="square" lIns="0" tIns="0" rIns="0" bIns="0" rtlCol="0" anchor="ctr">
            <a:normAutofit/>
          </a:bodyPr>
          <a:lstStyle/>
          <a:p>
            <a:pPr algn="l" indent="0" marL="0">
              <a:buNone/>
            </a:pPr>
            <a:r>
              <a:rPr lang="en-US" sz="1500" dirty="0">
                <a:solidFill>
                  <a:srgbClr val="354862"/>
                </a:solidFill>
                <a:latin typeface="Aptos" pitchFamily="34" charset="0"/>
                <a:ea typeface="Aptos" pitchFamily="34" charset="-122"/>
                <a:cs typeface="Aptos" pitchFamily="34" charset="-120"/>
              </a:rPr>
              <a:t>A policy controls request volume for a client, endpoint, or tenant. Excess requests often receive HTTP 429.</a:t>
            </a:r>
            <a:endParaRPr lang="en-US" sz="1500" dirty="0"/>
          </a:p>
        </p:txBody>
      </p:sp>
      <p:sp>
        <p:nvSpPr>
          <p:cNvPr id="18" name="Shape 16"/>
          <p:cNvSpPr/>
          <p:nvPr/>
        </p:nvSpPr>
        <p:spPr>
          <a:xfrm>
            <a:off x="6163056" y="2331720"/>
            <a:ext cx="5504688" cy="2551176"/>
          </a:xfrm>
          <a:prstGeom prst="roundRect">
            <a:avLst>
              <a:gd name="adj" fmla="val 5018"/>
            </a:avLst>
          </a:prstGeom>
          <a:solidFill>
            <a:srgbClr val="FFF4E5"/>
          </a:solidFill>
          <a:ln w="12700">
            <a:solidFill>
              <a:srgbClr val="DFE7F1"/>
            </a:solidFill>
            <a:prstDash val="solid"/>
          </a:ln>
        </p:spPr>
        <p:txBody>
          <a:bodyPr/>
          <a:p/>
        </p:txBody>
      </p:sp>
      <p:sp>
        <p:nvSpPr>
          <p:cNvPr id="19" name="Shape 17"/>
          <p:cNvSpPr/>
          <p:nvPr/>
        </p:nvSpPr>
        <p:spPr>
          <a:xfrm>
            <a:off x="6163056" y="2331720"/>
            <a:ext cx="50292" cy="2551176"/>
          </a:xfrm>
          <a:prstGeom prst="rect">
            <a:avLst/>
          </a:prstGeom>
          <a:solidFill>
            <a:srgbClr val="DA8424"/>
          </a:solidFill>
          <a:ln w="12700">
            <a:solidFill>
              <a:srgbClr val="DA8424"/>
            </a:solidFill>
            <a:prstDash val="solid"/>
          </a:ln>
        </p:spPr>
        <p:txBody>
          <a:bodyPr/>
          <a:p/>
        </p:txBody>
      </p:sp>
      <p:sp>
        <p:nvSpPr>
          <p:cNvPr id="20" name="Text 18"/>
          <p:cNvSpPr/>
          <p:nvPr/>
        </p:nvSpPr>
        <p:spPr>
          <a:xfrm>
            <a:off x="6336792" y="2450592"/>
            <a:ext cx="5175504" cy="301752"/>
          </a:xfrm>
          <a:prstGeom prst="rect">
            <a:avLst/>
          </a:prstGeom>
          <a:noFill/>
          <a:ln/>
        </p:spPr>
        <p:txBody>
          <a:bodyPr wrap="square" lIns="0" tIns="0" rIns="0" bIns="0" rtlCol="0" anchor="ctr">
            <a:normAutofit/>
          </a:bodyPr>
          <a:lstStyle/>
          <a:p>
            <a:pPr algn="l" indent="0" marL="0">
              <a:buNone/>
            </a:pPr>
            <a:r>
              <a:rPr lang="en-US" sz="1700" b="1" dirty="0">
                <a:solidFill>
                  <a:srgbClr val="122239"/>
                </a:solidFill>
                <a:latin typeface="Aptos" pitchFamily="34" charset="0"/>
                <a:ea typeface="Aptos" pitchFamily="34" charset="-122"/>
                <a:cs typeface="Aptos" pitchFamily="34" charset="-120"/>
              </a:rPr>
              <a:t>LOAD SHEDDING</a:t>
            </a:r>
            <a:endParaRPr lang="en-US" sz="1700" dirty="0"/>
          </a:p>
        </p:txBody>
      </p:sp>
      <p:sp>
        <p:nvSpPr>
          <p:cNvPr id="21" name="Text 19"/>
          <p:cNvSpPr/>
          <p:nvPr/>
        </p:nvSpPr>
        <p:spPr>
          <a:xfrm>
            <a:off x="6336792" y="2834640"/>
            <a:ext cx="5166360" cy="1965960"/>
          </a:xfrm>
          <a:prstGeom prst="rect">
            <a:avLst/>
          </a:prstGeom>
          <a:noFill/>
          <a:ln/>
        </p:spPr>
        <p:txBody>
          <a:bodyPr wrap="square" lIns="0" tIns="0" rIns="0" bIns="0" rtlCol="0" anchor="ctr">
            <a:normAutofit/>
          </a:bodyPr>
          <a:lstStyle/>
          <a:p>
            <a:pPr algn="l" indent="0" marL="0">
              <a:buNone/>
            </a:pPr>
            <a:r>
              <a:rPr lang="en-US" sz="1500" dirty="0">
                <a:solidFill>
                  <a:srgbClr val="354862"/>
                </a:solidFill>
                <a:latin typeface="Aptos" pitchFamily="34" charset="0"/>
                <a:ea typeface="Aptos" pitchFamily="34" charset="-122"/>
                <a:cs typeface="Aptos" pitchFamily="34" charset="-120"/>
              </a:rPr>
              <a:t>When total capacity is exhausted, reject or drop selected work to protect the service and its core traffic.</a:t>
            </a:r>
            <a:endParaRPr lang="en-US" sz="1500" dirty="0"/>
          </a:p>
        </p:txBody>
      </p:sp>
      <p:sp>
        <p:nvSpPr>
          <p:cNvPr id="22" name="Shape 20"/>
          <p:cNvSpPr/>
          <p:nvPr/>
        </p:nvSpPr>
        <p:spPr>
          <a:xfrm>
            <a:off x="612648" y="5166360"/>
            <a:ext cx="5399532" cy="1051560"/>
          </a:xfrm>
          <a:prstGeom prst="roundRect">
            <a:avLst>
              <a:gd name="adj" fmla="val 12174"/>
            </a:avLst>
          </a:prstGeom>
          <a:solidFill>
            <a:srgbClr val="F7F9FC"/>
          </a:solidFill>
          <a:ln w="12700">
            <a:solidFill>
              <a:srgbClr val="DFE7F1"/>
            </a:solidFill>
            <a:prstDash val="solid"/>
          </a:ln>
        </p:spPr>
        <p:txBody>
          <a:bodyPr/>
          <a:p/>
        </p:txBody>
      </p:sp>
      <p:sp>
        <p:nvSpPr>
          <p:cNvPr id="23" name="Shape 21"/>
          <p:cNvSpPr/>
          <p:nvPr/>
        </p:nvSpPr>
        <p:spPr>
          <a:xfrm>
            <a:off x="612648" y="5166360"/>
            <a:ext cx="50292" cy="1051560"/>
          </a:xfrm>
          <a:prstGeom prst="rect">
            <a:avLst/>
          </a:prstGeom>
          <a:solidFill>
            <a:srgbClr val="2866F6"/>
          </a:solidFill>
          <a:ln w="12700">
            <a:solidFill>
              <a:srgbClr val="2866F6"/>
            </a:solidFill>
            <a:prstDash val="solid"/>
          </a:ln>
        </p:spPr>
        <p:txBody>
          <a:bodyPr/>
          <a:p/>
        </p:txBody>
      </p:sp>
      <p:sp>
        <p:nvSpPr>
          <p:cNvPr id="24" name="Text 22"/>
          <p:cNvSpPr/>
          <p:nvPr/>
        </p:nvSpPr>
        <p:spPr>
          <a:xfrm>
            <a:off x="786384" y="5285232"/>
            <a:ext cx="507034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Not the same trigger</a:t>
            </a:r>
            <a:endParaRPr lang="en-US" sz="1340" dirty="0"/>
          </a:p>
        </p:txBody>
      </p:sp>
      <p:sp>
        <p:nvSpPr>
          <p:cNvPr id="25" name="Text 23"/>
          <p:cNvSpPr/>
          <p:nvPr/>
        </p:nvSpPr>
        <p:spPr>
          <a:xfrm>
            <a:off x="786384" y="5669280"/>
            <a:ext cx="5061204" cy="46634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All clients can obey their limits while aggregate demand still overwhelms the service.</a:t>
            </a:r>
            <a:endParaRPr lang="en-US" sz="1230" dirty="0"/>
          </a:p>
        </p:txBody>
      </p:sp>
      <p:sp>
        <p:nvSpPr>
          <p:cNvPr id="26" name="Shape 24"/>
          <p:cNvSpPr/>
          <p:nvPr/>
        </p:nvSpPr>
        <p:spPr>
          <a:xfrm>
            <a:off x="6158484" y="5166360"/>
            <a:ext cx="5399532" cy="1051560"/>
          </a:xfrm>
          <a:prstGeom prst="roundRect">
            <a:avLst>
              <a:gd name="adj" fmla="val 12174"/>
            </a:avLst>
          </a:prstGeom>
          <a:solidFill>
            <a:srgbClr val="F7F9FC"/>
          </a:solidFill>
          <a:ln w="12700">
            <a:solidFill>
              <a:srgbClr val="DFE7F1"/>
            </a:solidFill>
            <a:prstDash val="solid"/>
          </a:ln>
        </p:spPr>
        <p:txBody>
          <a:bodyPr/>
          <a:p/>
        </p:txBody>
      </p:sp>
      <p:sp>
        <p:nvSpPr>
          <p:cNvPr id="27" name="Shape 25"/>
          <p:cNvSpPr/>
          <p:nvPr/>
        </p:nvSpPr>
        <p:spPr>
          <a:xfrm>
            <a:off x="6158484" y="5166360"/>
            <a:ext cx="50292" cy="1051560"/>
          </a:xfrm>
          <a:prstGeom prst="rect">
            <a:avLst/>
          </a:prstGeom>
          <a:solidFill>
            <a:srgbClr val="2866F6"/>
          </a:solidFill>
          <a:ln w="12700">
            <a:solidFill>
              <a:srgbClr val="2866F6"/>
            </a:solidFill>
            <a:prstDash val="solid"/>
          </a:ln>
        </p:spPr>
        <p:txBody>
          <a:bodyPr/>
          <a:p/>
        </p:txBody>
      </p:sp>
      <p:sp>
        <p:nvSpPr>
          <p:cNvPr id="28" name="Text 26"/>
          <p:cNvSpPr/>
          <p:nvPr/>
        </p:nvSpPr>
        <p:spPr>
          <a:xfrm>
            <a:off x="6332220" y="5285232"/>
            <a:ext cx="507034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Fail predictably</a:t>
            </a:r>
            <a:endParaRPr lang="en-US" sz="1340" dirty="0"/>
          </a:p>
        </p:txBody>
      </p:sp>
      <p:sp>
        <p:nvSpPr>
          <p:cNvPr id="29" name="Text 27"/>
          <p:cNvSpPr/>
          <p:nvPr/>
        </p:nvSpPr>
        <p:spPr>
          <a:xfrm>
            <a:off x="6332220" y="5669280"/>
            <a:ext cx="5061204" cy="46634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Controlled rejection is safer than unbounded queues and complete collapse.</a:t>
            </a:r>
            <a:endParaRPr lang="en-US" sz="123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RESILIENCE</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43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sz="3050" b="1">
                <a:latin typeface="Aptos"/>
              </a:rPr>
              <a:t>Chaos engineering tests failure and recovery</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sz="1400">
                <a:latin typeface="Aptos"/>
              </a:rPr>
              <a:t>Controlled experiments reveal whether resilience patterns work as expected.</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43</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O</a:t>
            </a:r>
            <a:endParaRPr lang="en-US" sz="1000" dirty="0"/>
          </a:p>
        </p:txBody>
      </p:sp>
      <p:sp>
        <p:nvSpPr>
          <p:cNvPr id="14" name="Shape 12"/>
          <p:cNvSpPr/>
          <p:nvPr/>
        </p:nvSpPr>
        <p:spPr>
          <a:xfrm>
            <a:off x="640080" y="2551176"/>
            <a:ext cx="2560320" cy="1335024"/>
          </a:xfrm>
          <a:prstGeom prst="roundRect">
            <a:avLst>
              <a:gd name="adj" fmla="val 9589"/>
            </a:avLst>
          </a:prstGeom>
          <a:solidFill>
            <a:srgbClr val="ECF3FF"/>
          </a:solidFill>
          <a:ln w="12700">
            <a:solidFill>
              <a:srgbClr val="CBDBFF"/>
            </a:solidFill>
            <a:prstDash val="solid"/>
          </a:ln>
        </p:spPr>
        <p:txBody>
          <a:bodyPr/>
          <a:p/>
        </p:txBody>
      </p:sp>
      <p:sp>
        <p:nvSpPr>
          <p:cNvPr id="15" name="Text 13"/>
          <p:cNvSpPr/>
          <p:nvPr/>
        </p:nvSpPr>
        <p:spPr>
          <a:xfrm>
            <a:off x="749808" y="2670048"/>
            <a:ext cx="234086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Hypothesis</a:t>
            </a:r>
            <a:endParaRPr lang="en-US" sz="1500" dirty="0"/>
          </a:p>
        </p:txBody>
      </p:sp>
      <p:sp>
        <p:nvSpPr>
          <p:cNvPr id="16" name="Text 14"/>
          <p:cNvSpPr/>
          <p:nvPr/>
        </p:nvSpPr>
        <p:spPr>
          <a:xfrm>
            <a:off x="777240" y="3090672"/>
            <a:ext cx="228600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Expected behavior</a:t>
            </a:r>
            <a:endParaRPr lang="en-US" sz="1150" dirty="0"/>
          </a:p>
        </p:txBody>
      </p:sp>
      <p:sp>
        <p:nvSpPr>
          <p:cNvPr id="17" name="Shape 15"/>
          <p:cNvSpPr/>
          <p:nvPr/>
        </p:nvSpPr>
        <p:spPr>
          <a:xfrm>
            <a:off x="3236976" y="3054096"/>
            <a:ext cx="137160" cy="0"/>
          </a:xfrm>
          <a:prstGeom prst="line">
            <a:avLst/>
          </a:prstGeom>
          <a:noFill/>
          <a:ln w="21590">
            <a:solidFill>
              <a:srgbClr val="2866F6"/>
            </a:solidFill>
            <a:prstDash val="solid"/>
            <a:headEnd type="none"/>
            <a:tailEnd type="triangle"/>
          </a:ln>
        </p:spPr>
        <p:txBody>
          <a:bodyPr/>
          <a:p/>
        </p:txBody>
      </p:sp>
      <p:sp>
        <p:nvSpPr>
          <p:cNvPr id="18" name="Shape 16"/>
          <p:cNvSpPr/>
          <p:nvPr/>
        </p:nvSpPr>
        <p:spPr>
          <a:xfrm>
            <a:off x="3410712" y="2551176"/>
            <a:ext cx="2560320" cy="1335024"/>
          </a:xfrm>
          <a:prstGeom prst="roundRect">
            <a:avLst>
              <a:gd name="adj" fmla="val 9589"/>
            </a:avLst>
          </a:prstGeom>
          <a:solidFill>
            <a:srgbClr val="ECF3FF"/>
          </a:solidFill>
          <a:ln w="12700">
            <a:solidFill>
              <a:srgbClr val="CBDBFF"/>
            </a:solidFill>
            <a:prstDash val="solid"/>
          </a:ln>
        </p:spPr>
        <p:txBody>
          <a:bodyPr/>
          <a:p/>
        </p:txBody>
      </p:sp>
      <p:sp>
        <p:nvSpPr>
          <p:cNvPr id="19" name="Text 17"/>
          <p:cNvSpPr/>
          <p:nvPr/>
        </p:nvSpPr>
        <p:spPr>
          <a:xfrm>
            <a:off x="3520440" y="2670048"/>
            <a:ext cx="234086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Inject</a:t>
            </a:r>
            <a:endParaRPr lang="en-US" sz="1500" dirty="0"/>
          </a:p>
        </p:txBody>
      </p:sp>
      <p:sp>
        <p:nvSpPr>
          <p:cNvPr id="20" name="Text 18"/>
          <p:cNvSpPr/>
          <p:nvPr/>
        </p:nvSpPr>
        <p:spPr>
          <a:xfrm>
            <a:off x="3547872" y="3090672"/>
            <a:ext cx="228600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Stop one dependency</a:t>
            </a:r>
            <a:endParaRPr lang="en-US" sz="1150" dirty="0"/>
          </a:p>
        </p:txBody>
      </p:sp>
      <p:sp>
        <p:nvSpPr>
          <p:cNvPr id="21" name="Shape 19"/>
          <p:cNvSpPr/>
          <p:nvPr/>
        </p:nvSpPr>
        <p:spPr>
          <a:xfrm>
            <a:off x="6007608" y="3054096"/>
            <a:ext cx="137160" cy="0"/>
          </a:xfrm>
          <a:prstGeom prst="line">
            <a:avLst/>
          </a:prstGeom>
          <a:noFill/>
          <a:ln w="21590">
            <a:solidFill>
              <a:srgbClr val="2866F6"/>
            </a:solidFill>
            <a:prstDash val="solid"/>
            <a:headEnd type="none"/>
            <a:tailEnd type="triangle"/>
          </a:ln>
        </p:spPr>
        <p:txBody>
          <a:bodyPr/>
          <a:p/>
        </p:txBody>
      </p:sp>
      <p:sp>
        <p:nvSpPr>
          <p:cNvPr id="22" name="Shape 20"/>
          <p:cNvSpPr/>
          <p:nvPr/>
        </p:nvSpPr>
        <p:spPr>
          <a:xfrm>
            <a:off x="6181344" y="2551176"/>
            <a:ext cx="2560320" cy="1335024"/>
          </a:xfrm>
          <a:prstGeom prst="roundRect">
            <a:avLst>
              <a:gd name="adj" fmla="val 9589"/>
            </a:avLst>
          </a:prstGeom>
          <a:solidFill>
            <a:srgbClr val="ECF3FF"/>
          </a:solidFill>
          <a:ln w="12700">
            <a:solidFill>
              <a:srgbClr val="CBDBFF"/>
            </a:solidFill>
            <a:prstDash val="solid"/>
          </a:ln>
        </p:spPr>
        <p:txBody>
          <a:bodyPr/>
          <a:p/>
        </p:txBody>
      </p:sp>
      <p:sp>
        <p:nvSpPr>
          <p:cNvPr id="23" name="Text 21"/>
          <p:cNvSpPr/>
          <p:nvPr/>
        </p:nvSpPr>
        <p:spPr>
          <a:xfrm>
            <a:off x="6291072" y="2670048"/>
            <a:ext cx="234086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Observe</a:t>
            </a:r>
            <a:endParaRPr lang="en-US" sz="1500" dirty="0"/>
          </a:p>
        </p:txBody>
      </p:sp>
      <p:sp>
        <p:nvSpPr>
          <p:cNvPr id="24" name="Text 22"/>
          <p:cNvSpPr/>
          <p:nvPr/>
        </p:nvSpPr>
        <p:spPr>
          <a:xfrm>
            <a:off x="6318504" y="3090672"/>
            <a:ext cx="228600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Responses + state</a:t>
            </a:r>
            <a:endParaRPr lang="en-US" sz="1150" dirty="0"/>
          </a:p>
        </p:txBody>
      </p:sp>
      <p:sp>
        <p:nvSpPr>
          <p:cNvPr id="25" name="Shape 23"/>
          <p:cNvSpPr/>
          <p:nvPr/>
        </p:nvSpPr>
        <p:spPr>
          <a:xfrm>
            <a:off x="8778240" y="3054096"/>
            <a:ext cx="137160" cy="0"/>
          </a:xfrm>
          <a:prstGeom prst="line">
            <a:avLst/>
          </a:prstGeom>
          <a:noFill/>
          <a:ln w="21590">
            <a:solidFill>
              <a:srgbClr val="2866F6"/>
            </a:solidFill>
            <a:prstDash val="solid"/>
            <a:headEnd type="none"/>
            <a:tailEnd type="triangle"/>
          </a:ln>
        </p:spPr>
        <p:txBody>
          <a:bodyPr/>
          <a:p/>
        </p:txBody>
      </p:sp>
      <p:sp>
        <p:nvSpPr>
          <p:cNvPr id="26" name="Shape 24"/>
          <p:cNvSpPr/>
          <p:nvPr/>
        </p:nvSpPr>
        <p:spPr>
          <a:xfrm>
            <a:off x="8951976" y="2551176"/>
            <a:ext cx="2560320" cy="1335024"/>
          </a:xfrm>
          <a:prstGeom prst="roundRect">
            <a:avLst>
              <a:gd name="adj" fmla="val 9589"/>
            </a:avLst>
          </a:prstGeom>
          <a:solidFill>
            <a:srgbClr val="ECF3FF"/>
          </a:solidFill>
          <a:ln w="12700">
            <a:solidFill>
              <a:srgbClr val="CBDBFF"/>
            </a:solidFill>
            <a:prstDash val="solid"/>
          </a:ln>
        </p:spPr>
        <p:txBody>
          <a:bodyPr/>
          <a:p/>
        </p:txBody>
      </p:sp>
      <p:sp>
        <p:nvSpPr>
          <p:cNvPr id="27" name="Text 25"/>
          <p:cNvSpPr/>
          <p:nvPr/>
        </p:nvSpPr>
        <p:spPr>
          <a:xfrm>
            <a:off x="9061704" y="2670048"/>
            <a:ext cx="234086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Restore</a:t>
            </a:r>
            <a:endParaRPr lang="en-US" sz="1500" dirty="0"/>
          </a:p>
        </p:txBody>
      </p:sp>
      <p:sp>
        <p:nvSpPr>
          <p:cNvPr id="28" name="Text 26"/>
          <p:cNvSpPr/>
          <p:nvPr/>
        </p:nvSpPr>
        <p:spPr>
          <a:xfrm>
            <a:off x="9089136" y="3090672"/>
            <a:ext cx="228600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Confirm recovery</a:t>
            </a:r>
            <a:endParaRPr lang="en-US" sz="1150" dirty="0"/>
          </a:p>
        </p:txBody>
      </p:sp>
      <p:sp>
        <p:nvSpPr>
          <p:cNvPr id="29" name="Shape 27"/>
          <p:cNvSpPr/>
          <p:nvPr/>
        </p:nvSpPr>
        <p:spPr>
          <a:xfrm>
            <a:off x="612648" y="4791456"/>
            <a:ext cx="3550920" cy="1298448"/>
          </a:xfrm>
          <a:prstGeom prst="roundRect">
            <a:avLst>
              <a:gd name="adj" fmla="val 9859"/>
            </a:avLst>
          </a:prstGeom>
          <a:solidFill>
            <a:srgbClr val="F7F9FC"/>
          </a:solidFill>
          <a:ln w="12700">
            <a:solidFill>
              <a:srgbClr val="DFE7F1"/>
            </a:solidFill>
            <a:prstDash val="solid"/>
          </a:ln>
        </p:spPr>
        <p:txBody>
          <a:bodyPr/>
          <a:p/>
        </p:txBody>
      </p:sp>
      <p:sp>
        <p:nvSpPr>
          <p:cNvPr id="30" name="Shape 28"/>
          <p:cNvSpPr/>
          <p:nvPr/>
        </p:nvSpPr>
        <p:spPr>
          <a:xfrm>
            <a:off x="612648" y="4791456"/>
            <a:ext cx="50292" cy="1298448"/>
          </a:xfrm>
          <a:prstGeom prst="rect">
            <a:avLst/>
          </a:prstGeom>
          <a:solidFill>
            <a:srgbClr val="2866F6"/>
          </a:solidFill>
          <a:ln w="12700">
            <a:solidFill>
              <a:srgbClr val="2866F6"/>
            </a:solidFill>
            <a:prstDash val="solid"/>
          </a:ln>
        </p:spPr>
        <p:txBody>
          <a:bodyPr/>
          <a:p/>
        </p:txBody>
      </p:sp>
      <p:sp>
        <p:nvSpPr>
          <p:cNvPr id="31" name="Text 29"/>
          <p:cNvSpPr/>
          <p:nvPr/>
        </p:nvSpPr>
        <p:spPr>
          <a:xfrm>
            <a:off x="786384" y="4910328"/>
            <a:ext cx="3221736"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Start with small blast radius</a:t>
            </a:r>
            <a:endParaRPr lang="en-US" sz="1340" dirty="0"/>
          </a:p>
        </p:txBody>
      </p:sp>
      <p:sp>
        <p:nvSpPr>
          <p:cNvPr id="32" name="Text 30"/>
          <p:cNvSpPr/>
          <p:nvPr/>
        </p:nvSpPr>
        <p:spPr>
          <a:xfrm>
            <a:off x="786384" y="5294376"/>
            <a:ext cx="3212592" cy="71323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Restrict which service, users and environment can be affected.</a:t>
            </a:r>
            <a:endParaRPr lang="en-US" sz="1230" dirty="0"/>
          </a:p>
        </p:txBody>
      </p:sp>
      <p:sp>
        <p:nvSpPr>
          <p:cNvPr id="33" name="Shape 31"/>
          <p:cNvSpPr/>
          <p:nvPr/>
        </p:nvSpPr>
        <p:spPr>
          <a:xfrm>
            <a:off x="4309872" y="4791456"/>
            <a:ext cx="3550920" cy="1298448"/>
          </a:xfrm>
          <a:prstGeom prst="roundRect">
            <a:avLst>
              <a:gd name="adj" fmla="val 9859"/>
            </a:avLst>
          </a:prstGeom>
          <a:solidFill>
            <a:srgbClr val="F7F9FC"/>
          </a:solidFill>
          <a:ln w="12700">
            <a:solidFill>
              <a:srgbClr val="DFE7F1"/>
            </a:solidFill>
            <a:prstDash val="solid"/>
          </a:ln>
        </p:spPr>
        <p:txBody>
          <a:bodyPr/>
          <a:p/>
        </p:txBody>
      </p:sp>
      <p:sp>
        <p:nvSpPr>
          <p:cNvPr id="34" name="Shape 32"/>
          <p:cNvSpPr/>
          <p:nvPr/>
        </p:nvSpPr>
        <p:spPr>
          <a:xfrm>
            <a:off x="4309872" y="4791456"/>
            <a:ext cx="50292" cy="1298448"/>
          </a:xfrm>
          <a:prstGeom prst="rect">
            <a:avLst/>
          </a:prstGeom>
          <a:solidFill>
            <a:srgbClr val="2866F6"/>
          </a:solidFill>
          <a:ln w="12700">
            <a:solidFill>
              <a:srgbClr val="2866F6"/>
            </a:solidFill>
            <a:prstDash val="solid"/>
          </a:ln>
        </p:spPr>
        <p:txBody>
          <a:bodyPr/>
          <a:p/>
        </p:txBody>
      </p:sp>
      <p:sp>
        <p:nvSpPr>
          <p:cNvPr id="35" name="Text 33"/>
          <p:cNvSpPr/>
          <p:nvPr/>
        </p:nvSpPr>
        <p:spPr>
          <a:xfrm>
            <a:off x="4483608" y="4910328"/>
            <a:ext cx="3221736"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Define success first</a:t>
            </a:r>
            <a:endParaRPr lang="en-US" sz="1340" dirty="0"/>
          </a:p>
        </p:txBody>
      </p:sp>
      <p:sp>
        <p:nvSpPr>
          <p:cNvPr id="36" name="Text 34"/>
          <p:cNvSpPr/>
          <p:nvPr/>
        </p:nvSpPr>
        <p:spPr>
          <a:xfrm>
            <a:off x="4483608" y="5294376"/>
            <a:ext cx="3212592" cy="71323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Know what healthy degradation and recovery should look like.</a:t>
            </a:r>
            <a:endParaRPr lang="en-US" sz="1230" dirty="0"/>
          </a:p>
        </p:txBody>
      </p:sp>
      <p:sp>
        <p:nvSpPr>
          <p:cNvPr id="37" name="Shape 35"/>
          <p:cNvSpPr/>
          <p:nvPr/>
        </p:nvSpPr>
        <p:spPr>
          <a:xfrm>
            <a:off x="8007096" y="4791456"/>
            <a:ext cx="3550920" cy="1298448"/>
          </a:xfrm>
          <a:prstGeom prst="roundRect">
            <a:avLst>
              <a:gd name="adj" fmla="val 9859"/>
            </a:avLst>
          </a:prstGeom>
          <a:solidFill>
            <a:srgbClr val="F7F9FC"/>
          </a:solidFill>
          <a:ln w="12700">
            <a:solidFill>
              <a:srgbClr val="DFE7F1"/>
            </a:solidFill>
            <a:prstDash val="solid"/>
          </a:ln>
        </p:spPr>
        <p:txBody>
          <a:bodyPr/>
          <a:p/>
        </p:txBody>
      </p:sp>
      <p:sp>
        <p:nvSpPr>
          <p:cNvPr id="38" name="Shape 36"/>
          <p:cNvSpPr/>
          <p:nvPr/>
        </p:nvSpPr>
        <p:spPr>
          <a:xfrm>
            <a:off x="8007096" y="4791456"/>
            <a:ext cx="50292" cy="1298448"/>
          </a:xfrm>
          <a:prstGeom prst="rect">
            <a:avLst/>
          </a:prstGeom>
          <a:solidFill>
            <a:srgbClr val="2866F6"/>
          </a:solidFill>
          <a:ln w="12700">
            <a:solidFill>
              <a:srgbClr val="2866F6"/>
            </a:solidFill>
            <a:prstDash val="solid"/>
          </a:ln>
        </p:spPr>
        <p:txBody>
          <a:bodyPr/>
          <a:p/>
        </p:txBody>
      </p:sp>
      <p:sp>
        <p:nvSpPr>
          <p:cNvPr id="39" name="Text 37"/>
          <p:cNvSpPr/>
          <p:nvPr/>
        </p:nvSpPr>
        <p:spPr>
          <a:xfrm>
            <a:off x="8180832" y="4910328"/>
            <a:ext cx="3221736"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A demo is evidence, not proof</a:t>
            </a:r>
            <a:endParaRPr lang="en-US" sz="1340" dirty="0"/>
          </a:p>
        </p:txBody>
      </p:sp>
      <p:sp>
        <p:nvSpPr>
          <p:cNvPr id="40" name="Text 38"/>
          <p:cNvSpPr/>
          <p:nvPr/>
        </p:nvSpPr>
        <p:spPr>
          <a:xfrm>
            <a:off x="8180832" y="5294376"/>
            <a:ext cx="3212592" cy="71323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One successful experiment does not guarantee all failures are safe.</a:t>
            </a:r>
            <a:endParaRPr lang="en-US" sz="123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P</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An Order Pod crashes and leaves less capacity</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The application needs three instances, but only two are running after one fails.</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HEALTHY</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 Service</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Three Pods running</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CRASH</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One Order Pod</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Stops unexpectedly</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GAP</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Remaining Pods</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Only two are available</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Application processes and containers can exit unexpectedly.</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Without automated recovery, the service runs below its intended capacity.</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44</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DEPLOYMENT &amp; SECURITY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45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2800" b="1" dirty="0">
                <a:solidFill>
                  <a:srgbClr val="122239"/>
                </a:solidFill>
                <a:latin typeface="Aptos" pitchFamily="34" charset="0"/>
                <a:ea typeface="Aptos" pitchFamily="34" charset="-122"/>
                <a:cs typeface="Aptos" pitchFamily="34" charset="-120"/>
              </a:rPr>
              <a:t>Kubernetes reconciles desired and actual replicas</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Deployments maintain Pods across failures and rolling updates.</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45</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P</a:t>
            </a:r>
            <a:endParaRPr lang="en-US" sz="1000" dirty="0"/>
          </a:p>
        </p:txBody>
      </p:sp>
      <p:sp>
        <p:nvSpPr>
          <p:cNvPr id="14" name="Shape 12"/>
          <p:cNvSpPr/>
          <p:nvPr/>
        </p:nvSpPr>
        <p:spPr>
          <a:xfrm>
            <a:off x="621792" y="2304288"/>
            <a:ext cx="10936224" cy="786384"/>
          </a:xfrm>
          <a:prstGeom prst="roundRect">
            <a:avLst>
              <a:gd name="adj" fmla="val 15116"/>
            </a:avLst>
          </a:prstGeom>
          <a:solidFill>
            <a:srgbClr val="ECF3FF"/>
          </a:solidFill>
          <a:ln w="12700">
            <a:solidFill>
              <a:srgbClr val="CBDBFF"/>
            </a:solidFill>
            <a:prstDash val="solid"/>
          </a:ln>
        </p:spPr>
        <p:txBody>
          <a:bodyPr/>
          <a:p/>
        </p:txBody>
      </p:sp>
      <p:sp>
        <p:nvSpPr>
          <p:cNvPr id="15" name="Text 13"/>
          <p:cNvSpPr/>
          <p:nvPr/>
        </p:nvSpPr>
        <p:spPr>
          <a:xfrm>
            <a:off x="914400" y="2542032"/>
            <a:ext cx="10332720" cy="246888"/>
          </a:xfrm>
          <a:prstGeom prst="rect">
            <a:avLst/>
          </a:prstGeom>
          <a:noFill/>
          <a:ln/>
        </p:spPr>
        <p:txBody>
          <a:bodyPr wrap="square" lIns="0" tIns="0" rIns="0" bIns="0" rtlCol="0" anchor="ctr">
            <a:normAutofit/>
          </a:bodyPr>
          <a:lstStyle/>
          <a:p>
            <a:pPr algn="ctr" indent="0" marL="0">
              <a:buNone/>
            </a:pPr>
            <a:r>
              <a:rPr lang="en-US" sz="1800" b="1" dirty="0">
                <a:solidFill>
                  <a:srgbClr val="122239"/>
                </a:solidFill>
                <a:latin typeface="Aptos" pitchFamily="34" charset="0"/>
                <a:ea typeface="Aptos" pitchFamily="34" charset="-122"/>
                <a:cs typeface="Aptos" pitchFamily="34" charset="-120"/>
              </a:rPr>
              <a:t>DESIRED STATE: 3 healthy Order Service Pods</a:t>
            </a:r>
            <a:endParaRPr lang="en-US" sz="1800" dirty="0"/>
          </a:p>
        </p:txBody>
      </p:sp>
      <p:sp>
        <p:nvSpPr>
          <p:cNvPr id="16" name="Shape 14"/>
          <p:cNvSpPr/>
          <p:nvPr/>
        </p:nvSpPr>
        <p:spPr>
          <a:xfrm>
            <a:off x="932688" y="3483864"/>
            <a:ext cx="3419856" cy="987552"/>
          </a:xfrm>
          <a:prstGeom prst="roundRect">
            <a:avLst>
              <a:gd name="adj" fmla="val 12037"/>
            </a:avLst>
          </a:prstGeom>
          <a:solidFill>
            <a:srgbClr val="E7F8F3"/>
          </a:solidFill>
          <a:ln w="12700">
            <a:solidFill>
              <a:srgbClr val="B4E6DD"/>
            </a:solidFill>
            <a:prstDash val="solid"/>
          </a:ln>
        </p:spPr>
        <p:txBody>
          <a:bodyPr/>
          <a:p/>
        </p:txBody>
      </p:sp>
      <p:sp>
        <p:nvSpPr>
          <p:cNvPr id="17" name="Text 15"/>
          <p:cNvSpPr/>
          <p:nvPr/>
        </p:nvSpPr>
        <p:spPr>
          <a:xfrm>
            <a:off x="1051560" y="3813048"/>
            <a:ext cx="3145536" cy="265176"/>
          </a:xfrm>
          <a:prstGeom prst="rect">
            <a:avLst/>
          </a:prstGeom>
          <a:noFill/>
          <a:ln/>
        </p:spPr>
        <p:txBody>
          <a:bodyPr wrap="square" lIns="0" tIns="0" rIns="0" bIns="0" rtlCol="0" anchor="ctr">
            <a:normAutofit/>
          </a:bodyPr>
          <a:lstStyle/>
          <a:p>
            <a:pPr algn="ctr" indent="0" marL="0">
              <a:buNone/>
            </a:pPr>
            <a:r>
              <a:rPr lang="en-US" sz="1600" b="1" dirty="0">
                <a:solidFill>
                  <a:srgbClr val="122239"/>
                </a:solidFill>
                <a:latin typeface="Aptos" pitchFamily="34" charset="0"/>
                <a:ea typeface="Aptos" pitchFamily="34" charset="-122"/>
                <a:cs typeface="Aptos" pitchFamily="34" charset="-120"/>
              </a:rPr>
              <a:t>Order Pod 1</a:t>
            </a:r>
            <a:endParaRPr lang="en-US" sz="1600" dirty="0"/>
          </a:p>
        </p:txBody>
      </p:sp>
      <p:sp>
        <p:nvSpPr>
          <p:cNvPr id="18" name="Shape 16"/>
          <p:cNvSpPr/>
          <p:nvPr/>
        </p:nvSpPr>
        <p:spPr>
          <a:xfrm>
            <a:off x="4709160" y="3483864"/>
            <a:ext cx="3419856" cy="987552"/>
          </a:xfrm>
          <a:prstGeom prst="roundRect">
            <a:avLst>
              <a:gd name="adj" fmla="val 12037"/>
            </a:avLst>
          </a:prstGeom>
          <a:solidFill>
            <a:srgbClr val="E7F8F3"/>
          </a:solidFill>
          <a:ln w="12700">
            <a:solidFill>
              <a:srgbClr val="B4E6DD"/>
            </a:solidFill>
            <a:prstDash val="solid"/>
          </a:ln>
        </p:spPr>
        <p:txBody>
          <a:bodyPr/>
          <a:p/>
        </p:txBody>
      </p:sp>
      <p:sp>
        <p:nvSpPr>
          <p:cNvPr id="19" name="Text 17"/>
          <p:cNvSpPr/>
          <p:nvPr/>
        </p:nvSpPr>
        <p:spPr>
          <a:xfrm>
            <a:off x="4828032" y="3813048"/>
            <a:ext cx="3145536" cy="265176"/>
          </a:xfrm>
          <a:prstGeom prst="rect">
            <a:avLst/>
          </a:prstGeom>
          <a:noFill/>
          <a:ln/>
        </p:spPr>
        <p:txBody>
          <a:bodyPr wrap="square" lIns="0" tIns="0" rIns="0" bIns="0" rtlCol="0" anchor="ctr">
            <a:normAutofit/>
          </a:bodyPr>
          <a:lstStyle/>
          <a:p>
            <a:pPr algn="ctr" indent="0" marL="0">
              <a:buNone/>
            </a:pPr>
            <a:r>
              <a:rPr lang="en-US" sz="1600" b="1" dirty="0">
                <a:solidFill>
                  <a:srgbClr val="122239"/>
                </a:solidFill>
                <a:latin typeface="Aptos" pitchFamily="34" charset="0"/>
                <a:ea typeface="Aptos" pitchFamily="34" charset="-122"/>
                <a:cs typeface="Aptos" pitchFamily="34" charset="-120"/>
              </a:rPr>
              <a:t>Order Pod 2</a:t>
            </a:r>
            <a:endParaRPr lang="en-US" sz="1600" dirty="0"/>
          </a:p>
        </p:txBody>
      </p:sp>
      <p:sp>
        <p:nvSpPr>
          <p:cNvPr id="20" name="Shape 18"/>
          <p:cNvSpPr/>
          <p:nvPr/>
        </p:nvSpPr>
        <p:spPr>
          <a:xfrm>
            <a:off x="8485632" y="3483864"/>
            <a:ext cx="3419856" cy="987552"/>
          </a:xfrm>
          <a:prstGeom prst="roundRect">
            <a:avLst>
              <a:gd name="adj" fmla="val 12037"/>
            </a:avLst>
          </a:prstGeom>
          <a:solidFill>
            <a:srgbClr val="E7F8F3"/>
          </a:solidFill>
          <a:ln w="12700">
            <a:solidFill>
              <a:srgbClr val="B4E6DD"/>
            </a:solidFill>
            <a:prstDash val="solid"/>
          </a:ln>
        </p:spPr>
        <p:txBody>
          <a:bodyPr/>
          <a:p/>
        </p:txBody>
      </p:sp>
      <p:sp>
        <p:nvSpPr>
          <p:cNvPr id="21" name="Text 19"/>
          <p:cNvSpPr/>
          <p:nvPr/>
        </p:nvSpPr>
        <p:spPr>
          <a:xfrm>
            <a:off x="8604504" y="3813048"/>
            <a:ext cx="3145536" cy="265176"/>
          </a:xfrm>
          <a:prstGeom prst="rect">
            <a:avLst/>
          </a:prstGeom>
          <a:noFill/>
          <a:ln/>
        </p:spPr>
        <p:txBody>
          <a:bodyPr wrap="square" lIns="0" tIns="0" rIns="0" bIns="0" rtlCol="0" anchor="ctr">
            <a:normAutofit/>
          </a:bodyPr>
          <a:lstStyle/>
          <a:p>
            <a:pPr algn="ctr" indent="0" marL="0">
              <a:buNone/>
            </a:pPr>
            <a:r>
              <a:rPr lang="en-US" sz="1600" b="1" dirty="0">
                <a:solidFill>
                  <a:srgbClr val="122239"/>
                </a:solidFill>
                <a:latin typeface="Aptos" pitchFamily="34" charset="0"/>
                <a:ea typeface="Aptos" pitchFamily="34" charset="-122"/>
                <a:cs typeface="Aptos" pitchFamily="34" charset="-120"/>
              </a:rPr>
              <a:t>Order Pod 3</a:t>
            </a:r>
            <a:endParaRPr lang="en-US" sz="1600" dirty="0"/>
          </a:p>
        </p:txBody>
      </p:sp>
      <p:sp>
        <p:nvSpPr>
          <p:cNvPr id="22" name="Shape 20"/>
          <p:cNvSpPr/>
          <p:nvPr/>
        </p:nvSpPr>
        <p:spPr>
          <a:xfrm>
            <a:off x="6099048" y="3108960"/>
            <a:ext cx="0" cy="283464"/>
          </a:xfrm>
          <a:prstGeom prst="line">
            <a:avLst/>
          </a:prstGeom>
          <a:noFill/>
          <a:ln w="19050">
            <a:solidFill>
              <a:srgbClr val="2866F6"/>
            </a:solidFill>
            <a:prstDash val="solid"/>
            <a:headEnd type="none"/>
            <a:tailEnd type="triangle"/>
          </a:ln>
        </p:spPr>
        <p:txBody>
          <a:bodyPr/>
          <a:p/>
        </p:txBody>
      </p:sp>
      <p:sp>
        <p:nvSpPr>
          <p:cNvPr id="23" name="Shape 21"/>
          <p:cNvSpPr/>
          <p:nvPr/>
        </p:nvSpPr>
        <p:spPr>
          <a:xfrm>
            <a:off x="603504" y="4773168"/>
            <a:ext cx="3560064" cy="1325880"/>
          </a:xfrm>
          <a:prstGeom prst="roundRect">
            <a:avLst>
              <a:gd name="adj" fmla="val 9655"/>
            </a:avLst>
          </a:prstGeom>
          <a:solidFill>
            <a:srgbClr val="F7F9FC"/>
          </a:solidFill>
          <a:ln w="12700">
            <a:solidFill>
              <a:srgbClr val="DFE7F1"/>
            </a:solidFill>
            <a:prstDash val="solid"/>
          </a:ln>
        </p:spPr>
        <p:txBody>
          <a:bodyPr/>
          <a:p/>
        </p:txBody>
      </p:sp>
      <p:sp>
        <p:nvSpPr>
          <p:cNvPr id="24" name="Shape 22"/>
          <p:cNvSpPr/>
          <p:nvPr/>
        </p:nvSpPr>
        <p:spPr>
          <a:xfrm>
            <a:off x="603504" y="4773168"/>
            <a:ext cx="50292" cy="1325880"/>
          </a:xfrm>
          <a:prstGeom prst="rect">
            <a:avLst/>
          </a:prstGeom>
          <a:solidFill>
            <a:srgbClr val="2866F6"/>
          </a:solidFill>
          <a:ln w="12700">
            <a:solidFill>
              <a:srgbClr val="2866F6"/>
            </a:solidFill>
            <a:prstDash val="solid"/>
          </a:ln>
        </p:spPr>
        <p:txBody>
          <a:bodyPr/>
          <a:p/>
        </p:txBody>
      </p:sp>
      <p:sp>
        <p:nvSpPr>
          <p:cNvPr id="25" name="Text 23"/>
          <p:cNvSpPr/>
          <p:nvPr/>
        </p:nvSpPr>
        <p:spPr>
          <a:xfrm>
            <a:off x="777240" y="489204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Pod</a:t>
            </a:r>
            <a:endParaRPr lang="en-US" sz="1340" dirty="0"/>
          </a:p>
        </p:txBody>
      </p:sp>
      <p:sp>
        <p:nvSpPr>
          <p:cNvPr id="26" name="Text 24"/>
          <p:cNvSpPr/>
          <p:nvPr/>
        </p:nvSpPr>
        <p:spPr>
          <a:xfrm>
            <a:off x="777240" y="5276088"/>
            <a:ext cx="3221736"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Smallest deployable unit, typically with one application container.</a:t>
            </a:r>
            <a:endParaRPr lang="en-US" sz="1230" dirty="0"/>
          </a:p>
        </p:txBody>
      </p:sp>
      <p:sp>
        <p:nvSpPr>
          <p:cNvPr id="27" name="Shape 25"/>
          <p:cNvSpPr/>
          <p:nvPr/>
        </p:nvSpPr>
        <p:spPr>
          <a:xfrm>
            <a:off x="4309872" y="4773168"/>
            <a:ext cx="3560064" cy="1325880"/>
          </a:xfrm>
          <a:prstGeom prst="roundRect">
            <a:avLst>
              <a:gd name="adj" fmla="val 9655"/>
            </a:avLst>
          </a:prstGeom>
          <a:solidFill>
            <a:srgbClr val="F7F9FC"/>
          </a:solidFill>
          <a:ln w="12700">
            <a:solidFill>
              <a:srgbClr val="DFE7F1"/>
            </a:solidFill>
            <a:prstDash val="solid"/>
          </a:ln>
        </p:spPr>
        <p:txBody>
          <a:bodyPr/>
          <a:p/>
        </p:txBody>
      </p:sp>
      <p:sp>
        <p:nvSpPr>
          <p:cNvPr id="28" name="Shape 26"/>
          <p:cNvSpPr/>
          <p:nvPr/>
        </p:nvSpPr>
        <p:spPr>
          <a:xfrm>
            <a:off x="4309872" y="4773168"/>
            <a:ext cx="50292" cy="1325880"/>
          </a:xfrm>
          <a:prstGeom prst="rect">
            <a:avLst/>
          </a:prstGeom>
          <a:solidFill>
            <a:srgbClr val="2866F6"/>
          </a:solidFill>
          <a:ln w="12700">
            <a:solidFill>
              <a:srgbClr val="2866F6"/>
            </a:solidFill>
            <a:prstDash val="solid"/>
          </a:ln>
        </p:spPr>
        <p:txBody>
          <a:bodyPr/>
          <a:p/>
        </p:txBody>
      </p:sp>
      <p:sp>
        <p:nvSpPr>
          <p:cNvPr id="29" name="Text 27"/>
          <p:cNvSpPr/>
          <p:nvPr/>
        </p:nvSpPr>
        <p:spPr>
          <a:xfrm>
            <a:off x="4483608" y="489204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Deployment</a:t>
            </a:r>
            <a:endParaRPr lang="en-US" sz="1340" dirty="0"/>
          </a:p>
        </p:txBody>
      </p:sp>
      <p:sp>
        <p:nvSpPr>
          <p:cNvPr id="30" name="Text 28"/>
          <p:cNvSpPr/>
          <p:nvPr/>
        </p:nvSpPr>
        <p:spPr>
          <a:xfrm>
            <a:off x="4483608" y="5276088"/>
            <a:ext cx="3221736"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Controller declares replica count and manages replacement/update through ReplicaSets.</a:t>
            </a:r>
            <a:endParaRPr lang="en-US" sz="1230" dirty="0"/>
          </a:p>
        </p:txBody>
      </p:sp>
      <p:sp>
        <p:nvSpPr>
          <p:cNvPr id="31" name="Shape 29"/>
          <p:cNvSpPr/>
          <p:nvPr/>
        </p:nvSpPr>
        <p:spPr>
          <a:xfrm>
            <a:off x="8016240" y="4773168"/>
            <a:ext cx="3560064" cy="1325880"/>
          </a:xfrm>
          <a:prstGeom prst="roundRect">
            <a:avLst>
              <a:gd name="adj" fmla="val 9655"/>
            </a:avLst>
          </a:prstGeom>
          <a:solidFill>
            <a:srgbClr val="F7F9FC"/>
          </a:solidFill>
          <a:ln w="12700">
            <a:solidFill>
              <a:srgbClr val="DFE7F1"/>
            </a:solidFill>
            <a:prstDash val="solid"/>
          </a:ln>
        </p:spPr>
        <p:txBody>
          <a:bodyPr/>
          <a:p/>
        </p:txBody>
      </p:sp>
      <p:sp>
        <p:nvSpPr>
          <p:cNvPr id="32" name="Shape 30"/>
          <p:cNvSpPr/>
          <p:nvPr/>
        </p:nvSpPr>
        <p:spPr>
          <a:xfrm>
            <a:off x="8016240" y="4773168"/>
            <a:ext cx="50292" cy="1325880"/>
          </a:xfrm>
          <a:prstGeom prst="rect">
            <a:avLst/>
          </a:prstGeom>
          <a:solidFill>
            <a:srgbClr val="2866F6"/>
          </a:solidFill>
          <a:ln w="12700">
            <a:solidFill>
              <a:srgbClr val="2866F6"/>
            </a:solidFill>
            <a:prstDash val="solid"/>
          </a:ln>
        </p:spPr>
        <p:txBody>
          <a:bodyPr/>
          <a:p/>
        </p:txBody>
      </p:sp>
      <p:sp>
        <p:nvSpPr>
          <p:cNvPr id="33" name="Text 31"/>
          <p:cNvSpPr/>
          <p:nvPr/>
        </p:nvSpPr>
        <p:spPr>
          <a:xfrm>
            <a:off x="8189976" y="4892040"/>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Reconciliation</a:t>
            </a:r>
            <a:endParaRPr lang="en-US" sz="1340" dirty="0"/>
          </a:p>
        </p:txBody>
      </p:sp>
      <p:sp>
        <p:nvSpPr>
          <p:cNvPr id="34" name="Text 32"/>
          <p:cNvSpPr/>
          <p:nvPr/>
        </p:nvSpPr>
        <p:spPr>
          <a:xfrm>
            <a:off x="8189976" y="5276088"/>
            <a:ext cx="3221736"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Kubernetes continuously works to close the gap between actual and desired state.</a:t>
            </a:r>
            <a:endParaRPr lang="en-US" sz="123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DEPLOYMENT &amp; SECURITY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47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sz="3050" b="1">
                <a:latin typeface="Aptos"/>
              </a:rPr>
              <a:t>Kubernetes Services provide stable access to Pods</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sz="1400">
                <a:latin typeface="Aptos"/>
              </a:rPr>
              <a:t>Call a Service name instead of relying on an individual Pod IP.</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47</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Q</a:t>
            </a:r>
            <a:endParaRPr lang="en-US" sz="1000" dirty="0"/>
          </a:p>
        </p:txBody>
      </p:sp>
      <p:sp>
        <p:nvSpPr>
          <p:cNvPr id="14" name="Shape 12"/>
          <p:cNvSpPr/>
          <p:nvPr/>
        </p:nvSpPr>
        <p:spPr>
          <a:xfrm>
            <a:off x="3364992" y="2267712"/>
            <a:ext cx="5458968" cy="713232"/>
          </a:xfrm>
          <a:prstGeom prst="roundRect">
            <a:avLst>
              <a:gd name="adj" fmla="val 16667"/>
            </a:avLst>
          </a:prstGeom>
          <a:solidFill>
            <a:srgbClr val="ECF3FF"/>
          </a:solidFill>
          <a:ln w="12700">
            <a:solidFill>
              <a:srgbClr val="CBDBFF"/>
            </a:solidFill>
            <a:prstDash val="solid"/>
          </a:ln>
        </p:spPr>
        <p:txBody>
          <a:bodyPr/>
          <a:p/>
        </p:txBody>
      </p:sp>
      <p:sp>
        <p:nvSpPr>
          <p:cNvPr id="15" name="Text 13"/>
          <p:cNvSpPr/>
          <p:nvPr/>
        </p:nvSpPr>
        <p:spPr>
          <a:xfrm>
            <a:off x="3538728" y="2496312"/>
            <a:ext cx="5102352" cy="237744"/>
          </a:xfrm>
          <a:prstGeom prst="rect">
            <a:avLst/>
          </a:prstGeom>
          <a:noFill/>
          <a:ln/>
        </p:spPr>
        <p:txBody>
          <a:bodyPr wrap="square" lIns="0" tIns="0" rIns="0" bIns="0" rtlCol="0" anchor="ctr">
            <a:normAutofit/>
          </a:bodyPr>
          <a:lstStyle/>
          <a:p>
            <a:pPr algn="ctr" indent="0" marL="0">
              <a:buNone/>
            </a:pPr>
            <a:r>
              <a:rPr lang="en-US" sz="1800" b="1" dirty="0">
                <a:solidFill>
                  <a:srgbClr val="122239"/>
                </a:solidFill>
                <a:latin typeface="Aptos" pitchFamily="34" charset="0"/>
                <a:ea typeface="Aptos" pitchFamily="34" charset="-122"/>
                <a:cs typeface="Aptos" pitchFamily="34" charset="-120"/>
              </a:rPr>
              <a:t>inventory-service  (ClusterIP + DNS)</a:t>
            </a:r>
            <a:endParaRPr lang="en-US" sz="1800" dirty="0"/>
          </a:p>
        </p:txBody>
      </p:sp>
      <p:sp>
        <p:nvSpPr>
          <p:cNvPr id="16" name="Shape 14"/>
          <p:cNvSpPr/>
          <p:nvPr/>
        </p:nvSpPr>
        <p:spPr>
          <a:xfrm>
            <a:off x="960120" y="3566160"/>
            <a:ext cx="3410712" cy="804672"/>
          </a:xfrm>
          <a:prstGeom prst="roundRect">
            <a:avLst>
              <a:gd name="adj" fmla="val 14773"/>
            </a:avLst>
          </a:prstGeom>
          <a:solidFill>
            <a:srgbClr val="E7F8F3"/>
          </a:solidFill>
          <a:ln w="12700">
            <a:solidFill>
              <a:srgbClr val="B4E6DD"/>
            </a:solidFill>
            <a:prstDash val="solid"/>
          </a:ln>
        </p:spPr>
        <p:txBody>
          <a:bodyPr/>
          <a:p/>
        </p:txBody>
      </p:sp>
      <p:sp>
        <p:nvSpPr>
          <p:cNvPr id="17" name="Text 15"/>
          <p:cNvSpPr/>
          <p:nvPr/>
        </p:nvSpPr>
        <p:spPr>
          <a:xfrm>
            <a:off x="1060704" y="3803904"/>
            <a:ext cx="3191256" cy="201168"/>
          </a:xfrm>
          <a:prstGeom prst="rect">
            <a:avLst/>
          </a:prstGeom>
          <a:noFill/>
          <a:ln/>
        </p:spPr>
        <p:txBody>
          <a:bodyPr wrap="square" lIns="0" tIns="0" rIns="0" bIns="0" rtlCol="0" anchor="ctr">
            <a:normAutofit/>
          </a:bodyPr>
          <a:lstStyle/>
          <a:p>
            <a:pPr algn="ctr" indent="0" marL="0">
              <a:buNone/>
            </a:pPr>
            <a:r>
              <a:rPr lang="en-US" sz="1450" b="1" dirty="0">
                <a:solidFill>
                  <a:srgbClr val="122239"/>
                </a:solidFill>
                <a:latin typeface="Aptos" pitchFamily="34" charset="0"/>
                <a:ea typeface="Aptos" pitchFamily="34" charset="-122"/>
                <a:cs typeface="Aptos" pitchFamily="34" charset="-120"/>
              </a:rPr>
              <a:t>Inventory Pod 1</a:t>
            </a:r>
            <a:endParaRPr lang="en-US" sz="1450" dirty="0"/>
          </a:p>
        </p:txBody>
      </p:sp>
      <p:sp>
        <p:nvSpPr>
          <p:cNvPr id="18" name="Shape 16"/>
          <p:cNvSpPr/>
          <p:nvPr/>
        </p:nvSpPr>
        <p:spPr>
          <a:xfrm>
            <a:off x="6099048" y="2990088"/>
            <a:ext cx="-3419856" cy="539496"/>
          </a:xfrm>
          <a:prstGeom prst="line">
            <a:avLst/>
          </a:prstGeom>
          <a:noFill/>
          <a:ln w="16510">
            <a:solidFill>
              <a:srgbClr val="2866F6"/>
            </a:solidFill>
            <a:prstDash val="solid"/>
            <a:headEnd type="none"/>
            <a:tailEnd type="triangle"/>
          </a:ln>
        </p:spPr>
        <p:txBody>
          <a:bodyPr/>
          <a:p/>
        </p:txBody>
      </p:sp>
      <p:sp>
        <p:nvSpPr>
          <p:cNvPr id="19" name="Shape 17"/>
          <p:cNvSpPr/>
          <p:nvPr/>
        </p:nvSpPr>
        <p:spPr>
          <a:xfrm>
            <a:off x="4754880" y="3566160"/>
            <a:ext cx="3410712" cy="804672"/>
          </a:xfrm>
          <a:prstGeom prst="roundRect">
            <a:avLst>
              <a:gd name="adj" fmla="val 14773"/>
            </a:avLst>
          </a:prstGeom>
          <a:solidFill>
            <a:srgbClr val="E7F8F3"/>
          </a:solidFill>
          <a:ln w="12700">
            <a:solidFill>
              <a:srgbClr val="B4E6DD"/>
            </a:solidFill>
            <a:prstDash val="solid"/>
          </a:ln>
        </p:spPr>
        <p:txBody>
          <a:bodyPr/>
          <a:p/>
        </p:txBody>
      </p:sp>
      <p:sp>
        <p:nvSpPr>
          <p:cNvPr id="20" name="Text 18"/>
          <p:cNvSpPr/>
          <p:nvPr/>
        </p:nvSpPr>
        <p:spPr>
          <a:xfrm>
            <a:off x="4855464" y="3803904"/>
            <a:ext cx="3191256" cy="201168"/>
          </a:xfrm>
          <a:prstGeom prst="rect">
            <a:avLst/>
          </a:prstGeom>
          <a:noFill/>
          <a:ln/>
        </p:spPr>
        <p:txBody>
          <a:bodyPr wrap="square" lIns="0" tIns="0" rIns="0" bIns="0" rtlCol="0" anchor="ctr">
            <a:normAutofit/>
          </a:bodyPr>
          <a:lstStyle/>
          <a:p>
            <a:pPr algn="ctr" indent="0" marL="0">
              <a:buNone/>
            </a:pPr>
            <a:r>
              <a:rPr lang="en-US" sz="1450" b="1" dirty="0">
                <a:solidFill>
                  <a:srgbClr val="122239"/>
                </a:solidFill>
                <a:latin typeface="Aptos" pitchFamily="34" charset="0"/>
                <a:ea typeface="Aptos" pitchFamily="34" charset="-122"/>
                <a:cs typeface="Aptos" pitchFamily="34" charset="-120"/>
              </a:rPr>
              <a:t>Inventory Pod 2</a:t>
            </a:r>
            <a:endParaRPr lang="en-US" sz="1450" dirty="0"/>
          </a:p>
        </p:txBody>
      </p:sp>
      <p:sp>
        <p:nvSpPr>
          <p:cNvPr id="21" name="Shape 19"/>
          <p:cNvSpPr/>
          <p:nvPr/>
        </p:nvSpPr>
        <p:spPr>
          <a:xfrm>
            <a:off x="6099048" y="2990088"/>
            <a:ext cx="374904" cy="539496"/>
          </a:xfrm>
          <a:prstGeom prst="line">
            <a:avLst/>
          </a:prstGeom>
          <a:noFill/>
          <a:ln w="16510">
            <a:solidFill>
              <a:srgbClr val="2866F6"/>
            </a:solidFill>
            <a:prstDash val="solid"/>
            <a:headEnd type="none"/>
            <a:tailEnd type="triangle"/>
          </a:ln>
        </p:spPr>
        <p:txBody>
          <a:bodyPr/>
          <a:p/>
        </p:txBody>
      </p:sp>
      <p:sp>
        <p:nvSpPr>
          <p:cNvPr id="22" name="Shape 20"/>
          <p:cNvSpPr/>
          <p:nvPr/>
        </p:nvSpPr>
        <p:spPr>
          <a:xfrm>
            <a:off x="8549640" y="3566160"/>
            <a:ext cx="3410712" cy="804672"/>
          </a:xfrm>
          <a:prstGeom prst="roundRect">
            <a:avLst>
              <a:gd name="adj" fmla="val 14773"/>
            </a:avLst>
          </a:prstGeom>
          <a:solidFill>
            <a:srgbClr val="E7F8F3"/>
          </a:solidFill>
          <a:ln w="12700">
            <a:solidFill>
              <a:srgbClr val="B4E6DD"/>
            </a:solidFill>
            <a:prstDash val="solid"/>
          </a:ln>
        </p:spPr>
        <p:txBody>
          <a:bodyPr/>
          <a:p/>
        </p:txBody>
      </p:sp>
      <p:sp>
        <p:nvSpPr>
          <p:cNvPr id="23" name="Text 21"/>
          <p:cNvSpPr/>
          <p:nvPr/>
        </p:nvSpPr>
        <p:spPr>
          <a:xfrm>
            <a:off x="8650224" y="3803904"/>
            <a:ext cx="3191256" cy="201168"/>
          </a:xfrm>
          <a:prstGeom prst="rect">
            <a:avLst/>
          </a:prstGeom>
          <a:noFill/>
          <a:ln/>
        </p:spPr>
        <p:txBody>
          <a:bodyPr wrap="square" lIns="0" tIns="0" rIns="0" bIns="0" rtlCol="0" anchor="ctr">
            <a:normAutofit/>
          </a:bodyPr>
          <a:lstStyle/>
          <a:p>
            <a:pPr algn="ctr" indent="0" marL="0">
              <a:buNone/>
            </a:pPr>
            <a:r>
              <a:rPr lang="en-US" sz="1450" b="1" dirty="0">
                <a:solidFill>
                  <a:srgbClr val="122239"/>
                </a:solidFill>
                <a:latin typeface="Aptos" pitchFamily="34" charset="0"/>
                <a:ea typeface="Aptos" pitchFamily="34" charset="-122"/>
                <a:cs typeface="Aptos" pitchFamily="34" charset="-120"/>
              </a:rPr>
              <a:t>Inventory Pod 3</a:t>
            </a:r>
            <a:endParaRPr lang="en-US" sz="1450" dirty="0"/>
          </a:p>
        </p:txBody>
      </p:sp>
      <p:sp>
        <p:nvSpPr>
          <p:cNvPr id="24" name="Shape 22"/>
          <p:cNvSpPr/>
          <p:nvPr/>
        </p:nvSpPr>
        <p:spPr>
          <a:xfrm>
            <a:off x="6099048" y="2990088"/>
            <a:ext cx="4169664" cy="539496"/>
          </a:xfrm>
          <a:prstGeom prst="line">
            <a:avLst/>
          </a:prstGeom>
          <a:noFill/>
          <a:ln w="16510">
            <a:solidFill>
              <a:srgbClr val="2866F6"/>
            </a:solidFill>
            <a:prstDash val="solid"/>
            <a:headEnd type="none"/>
            <a:tailEnd type="triangle"/>
          </a:ln>
        </p:spPr>
        <p:txBody>
          <a:bodyPr/>
          <a:p/>
        </p:txBody>
      </p:sp>
      <p:sp>
        <p:nvSpPr>
          <p:cNvPr id="25" name="Shape 23"/>
          <p:cNvSpPr/>
          <p:nvPr/>
        </p:nvSpPr>
        <p:spPr>
          <a:xfrm>
            <a:off x="594360" y="4800600"/>
            <a:ext cx="3560064" cy="1325880"/>
          </a:xfrm>
          <a:prstGeom prst="roundRect">
            <a:avLst>
              <a:gd name="adj" fmla="val 9655"/>
            </a:avLst>
          </a:prstGeom>
          <a:solidFill>
            <a:srgbClr val="F7F9FC"/>
          </a:solidFill>
          <a:ln w="12700">
            <a:solidFill>
              <a:srgbClr val="DFE7F1"/>
            </a:solidFill>
            <a:prstDash val="solid"/>
          </a:ln>
        </p:spPr>
        <p:txBody>
          <a:bodyPr/>
          <a:p/>
        </p:txBody>
      </p:sp>
      <p:sp>
        <p:nvSpPr>
          <p:cNvPr id="26" name="Shape 24"/>
          <p:cNvSpPr/>
          <p:nvPr/>
        </p:nvSpPr>
        <p:spPr>
          <a:xfrm>
            <a:off x="594360" y="4800600"/>
            <a:ext cx="50292" cy="1325880"/>
          </a:xfrm>
          <a:prstGeom prst="rect">
            <a:avLst/>
          </a:prstGeom>
          <a:solidFill>
            <a:srgbClr val="2866F6"/>
          </a:solidFill>
          <a:ln w="12700">
            <a:solidFill>
              <a:srgbClr val="2866F6"/>
            </a:solidFill>
            <a:prstDash val="solid"/>
          </a:ln>
        </p:spPr>
        <p:txBody>
          <a:bodyPr/>
          <a:p/>
        </p:txBody>
      </p:sp>
      <p:sp>
        <p:nvSpPr>
          <p:cNvPr id="27" name="Text 25"/>
          <p:cNvSpPr/>
          <p:nvPr/>
        </p:nvSpPr>
        <p:spPr>
          <a:xfrm>
            <a:off x="768096" y="4919472"/>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Stable discovery</a:t>
            </a:r>
            <a:endParaRPr lang="en-US" sz="1340" dirty="0"/>
          </a:p>
        </p:txBody>
      </p:sp>
      <p:sp>
        <p:nvSpPr>
          <p:cNvPr id="28" name="Text 26"/>
          <p:cNvSpPr/>
          <p:nvPr/>
        </p:nvSpPr>
        <p:spPr>
          <a:xfrm>
            <a:off x="768096" y="5303520"/>
            <a:ext cx="3221736"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Call the Service name rather than a changing individual Pod IP.</a:t>
            </a:r>
            <a:endParaRPr lang="en-US" sz="1230" dirty="0"/>
          </a:p>
        </p:txBody>
      </p:sp>
      <p:sp>
        <p:nvSpPr>
          <p:cNvPr id="29" name="Shape 27"/>
          <p:cNvSpPr/>
          <p:nvPr/>
        </p:nvSpPr>
        <p:spPr>
          <a:xfrm>
            <a:off x="4300728" y="4800600"/>
            <a:ext cx="3560064" cy="1325880"/>
          </a:xfrm>
          <a:prstGeom prst="roundRect">
            <a:avLst>
              <a:gd name="adj" fmla="val 9655"/>
            </a:avLst>
          </a:prstGeom>
          <a:solidFill>
            <a:srgbClr val="F7F9FC"/>
          </a:solidFill>
          <a:ln w="12700">
            <a:solidFill>
              <a:srgbClr val="DFE7F1"/>
            </a:solidFill>
            <a:prstDash val="solid"/>
          </a:ln>
        </p:spPr>
        <p:txBody>
          <a:bodyPr/>
          <a:p/>
        </p:txBody>
      </p:sp>
      <p:sp>
        <p:nvSpPr>
          <p:cNvPr id="30" name="Shape 28"/>
          <p:cNvSpPr/>
          <p:nvPr/>
        </p:nvSpPr>
        <p:spPr>
          <a:xfrm>
            <a:off x="4300728" y="4800600"/>
            <a:ext cx="50292" cy="1325880"/>
          </a:xfrm>
          <a:prstGeom prst="rect">
            <a:avLst/>
          </a:prstGeom>
          <a:solidFill>
            <a:srgbClr val="2866F6"/>
          </a:solidFill>
          <a:ln w="12700">
            <a:solidFill>
              <a:srgbClr val="2866F6"/>
            </a:solidFill>
            <a:prstDash val="solid"/>
          </a:ln>
        </p:spPr>
        <p:txBody>
          <a:bodyPr/>
          <a:p/>
        </p:txBody>
      </p:sp>
      <p:sp>
        <p:nvSpPr>
          <p:cNvPr id="31" name="Text 29"/>
          <p:cNvSpPr/>
          <p:nvPr/>
        </p:nvSpPr>
        <p:spPr>
          <a:xfrm>
            <a:off x="4474464" y="4919472"/>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Readiness probe</a:t>
            </a:r>
            <a:endParaRPr lang="en-US" sz="1340" dirty="0"/>
          </a:p>
        </p:txBody>
      </p:sp>
      <p:sp>
        <p:nvSpPr>
          <p:cNvPr id="32" name="Text 30"/>
          <p:cNvSpPr/>
          <p:nvPr/>
        </p:nvSpPr>
        <p:spPr>
          <a:xfrm>
            <a:off x="4474464" y="5303520"/>
            <a:ext cx="3221736"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An unready Pod should not receive normal Service traffic.</a:t>
            </a:r>
            <a:endParaRPr lang="en-US" sz="1230" dirty="0"/>
          </a:p>
        </p:txBody>
      </p:sp>
      <p:sp>
        <p:nvSpPr>
          <p:cNvPr id="33" name="Shape 31"/>
          <p:cNvSpPr/>
          <p:nvPr/>
        </p:nvSpPr>
        <p:spPr>
          <a:xfrm>
            <a:off x="8007096" y="4800600"/>
            <a:ext cx="3560064" cy="1325880"/>
          </a:xfrm>
          <a:prstGeom prst="roundRect">
            <a:avLst>
              <a:gd name="adj" fmla="val 9655"/>
            </a:avLst>
          </a:prstGeom>
          <a:solidFill>
            <a:srgbClr val="F7F9FC"/>
          </a:solidFill>
          <a:ln w="12700">
            <a:solidFill>
              <a:srgbClr val="DFE7F1"/>
            </a:solidFill>
            <a:prstDash val="solid"/>
          </a:ln>
        </p:spPr>
        <p:txBody>
          <a:bodyPr/>
          <a:p/>
        </p:txBody>
      </p:sp>
      <p:sp>
        <p:nvSpPr>
          <p:cNvPr id="34" name="Shape 32"/>
          <p:cNvSpPr/>
          <p:nvPr/>
        </p:nvSpPr>
        <p:spPr>
          <a:xfrm>
            <a:off x="8007096" y="4800600"/>
            <a:ext cx="50292" cy="1325880"/>
          </a:xfrm>
          <a:prstGeom prst="rect">
            <a:avLst/>
          </a:prstGeom>
          <a:solidFill>
            <a:srgbClr val="2866F6"/>
          </a:solidFill>
          <a:ln w="12700">
            <a:solidFill>
              <a:srgbClr val="2866F6"/>
            </a:solidFill>
            <a:prstDash val="solid"/>
          </a:ln>
        </p:spPr>
        <p:txBody>
          <a:bodyPr/>
          <a:p/>
        </p:txBody>
      </p:sp>
      <p:sp>
        <p:nvSpPr>
          <p:cNvPr id="35" name="Text 33"/>
          <p:cNvSpPr/>
          <p:nvPr/>
        </p:nvSpPr>
        <p:spPr>
          <a:xfrm>
            <a:off x="8180832" y="4919472"/>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Liveness probe</a:t>
            </a:r>
            <a:endParaRPr lang="en-US" sz="1340" dirty="0"/>
          </a:p>
        </p:txBody>
      </p:sp>
      <p:sp>
        <p:nvSpPr>
          <p:cNvPr id="36" name="Text 34"/>
          <p:cNvSpPr/>
          <p:nvPr/>
        </p:nvSpPr>
        <p:spPr>
          <a:xfrm>
            <a:off x="8180832" y="5303520"/>
            <a:ext cx="3221736" cy="74066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Detect an unrecoverably stuck container that should be restarted.</a:t>
            </a:r>
            <a:endParaRPr lang="en-US" sz="123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R</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A compromised internal service calls the payment API</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An attacker controls one worker inside the cluster and attempts a sensitive payment operation.</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COMPROMISED</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Worker container</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Attacker gains control</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REACHABLE</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Payment endpoint</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Inside same network</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ATTEMPT</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Sensitive API</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Unauthorized request</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Being on a private network does not prove workload identity or permissions.</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Payment Service needs to identify its caller and check whether the action is allowed.</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48</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DEPLOYMENT &amp; SECURITY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49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mTLS verifies both sides of a service connection</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A service mesh can apply identity and traffic policies consistently.</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49</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R</a:t>
            </a:r>
            <a:endParaRPr lang="en-US" sz="1000" dirty="0"/>
          </a:p>
        </p:txBody>
      </p:sp>
      <p:sp>
        <p:nvSpPr>
          <p:cNvPr id="14" name="Shape 12"/>
          <p:cNvSpPr/>
          <p:nvPr/>
        </p:nvSpPr>
        <p:spPr>
          <a:xfrm>
            <a:off x="731520" y="2414016"/>
            <a:ext cx="3368040" cy="1325880"/>
          </a:xfrm>
          <a:prstGeom prst="roundRect">
            <a:avLst>
              <a:gd name="adj" fmla="val 9655"/>
            </a:avLst>
          </a:prstGeom>
          <a:solidFill>
            <a:srgbClr val="ECF3FF"/>
          </a:solidFill>
          <a:ln w="12700">
            <a:solidFill>
              <a:srgbClr val="CBDBFF"/>
            </a:solidFill>
            <a:prstDash val="solid"/>
          </a:ln>
        </p:spPr>
        <p:txBody>
          <a:bodyPr/>
          <a:p/>
        </p:txBody>
      </p:sp>
      <p:sp>
        <p:nvSpPr>
          <p:cNvPr id="15" name="Text 13"/>
          <p:cNvSpPr/>
          <p:nvPr/>
        </p:nvSpPr>
        <p:spPr>
          <a:xfrm>
            <a:off x="841248" y="2532888"/>
            <a:ext cx="314858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Order app</a:t>
            </a:r>
            <a:endParaRPr lang="en-US" sz="1500" dirty="0"/>
          </a:p>
        </p:txBody>
      </p:sp>
      <p:sp>
        <p:nvSpPr>
          <p:cNvPr id="16" name="Text 14"/>
          <p:cNvSpPr/>
          <p:nvPr/>
        </p:nvSpPr>
        <p:spPr>
          <a:xfrm>
            <a:off x="868680" y="2953512"/>
            <a:ext cx="309372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Local proxy</a:t>
            </a:r>
            <a:endParaRPr lang="en-US" sz="1150" dirty="0"/>
          </a:p>
        </p:txBody>
      </p:sp>
      <p:sp>
        <p:nvSpPr>
          <p:cNvPr id="17" name="Shape 15"/>
          <p:cNvSpPr/>
          <p:nvPr/>
        </p:nvSpPr>
        <p:spPr>
          <a:xfrm>
            <a:off x="4136136" y="2916936"/>
            <a:ext cx="210312" cy="0"/>
          </a:xfrm>
          <a:prstGeom prst="line">
            <a:avLst/>
          </a:prstGeom>
          <a:noFill/>
          <a:ln w="21590">
            <a:solidFill>
              <a:srgbClr val="2866F6"/>
            </a:solidFill>
            <a:prstDash val="solid"/>
            <a:headEnd type="none"/>
            <a:tailEnd type="triangle"/>
          </a:ln>
        </p:spPr>
        <p:txBody>
          <a:bodyPr/>
          <a:p/>
        </p:txBody>
      </p:sp>
      <p:sp>
        <p:nvSpPr>
          <p:cNvPr id="18" name="Shape 16"/>
          <p:cNvSpPr/>
          <p:nvPr/>
        </p:nvSpPr>
        <p:spPr>
          <a:xfrm>
            <a:off x="4383024" y="2414016"/>
            <a:ext cx="3368040" cy="1325880"/>
          </a:xfrm>
          <a:prstGeom prst="roundRect">
            <a:avLst>
              <a:gd name="adj" fmla="val 9655"/>
            </a:avLst>
          </a:prstGeom>
          <a:solidFill>
            <a:srgbClr val="E7F8F3"/>
          </a:solidFill>
          <a:ln w="12700">
            <a:solidFill>
              <a:srgbClr val="B4E6DD"/>
            </a:solidFill>
            <a:prstDash val="solid"/>
          </a:ln>
        </p:spPr>
        <p:txBody>
          <a:bodyPr/>
          <a:p/>
        </p:txBody>
      </p:sp>
      <p:sp>
        <p:nvSpPr>
          <p:cNvPr id="19" name="Text 17"/>
          <p:cNvSpPr/>
          <p:nvPr/>
        </p:nvSpPr>
        <p:spPr>
          <a:xfrm>
            <a:off x="4492752" y="2532888"/>
            <a:ext cx="314858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mTLS connection</a:t>
            </a:r>
            <a:endParaRPr lang="en-US" sz="1500" dirty="0"/>
          </a:p>
        </p:txBody>
      </p:sp>
      <p:sp>
        <p:nvSpPr>
          <p:cNvPr id="20" name="Text 18"/>
          <p:cNvSpPr/>
          <p:nvPr/>
        </p:nvSpPr>
        <p:spPr>
          <a:xfrm>
            <a:off x="4520184" y="2953512"/>
            <a:ext cx="309372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Mutual certificates</a:t>
            </a:r>
            <a:endParaRPr lang="en-US" sz="1150" dirty="0"/>
          </a:p>
        </p:txBody>
      </p:sp>
      <p:sp>
        <p:nvSpPr>
          <p:cNvPr id="21" name="Shape 19"/>
          <p:cNvSpPr/>
          <p:nvPr/>
        </p:nvSpPr>
        <p:spPr>
          <a:xfrm>
            <a:off x="7787640" y="2916936"/>
            <a:ext cx="210312" cy="0"/>
          </a:xfrm>
          <a:prstGeom prst="line">
            <a:avLst/>
          </a:prstGeom>
          <a:noFill/>
          <a:ln w="21590">
            <a:solidFill>
              <a:srgbClr val="2866F6"/>
            </a:solidFill>
            <a:prstDash val="solid"/>
            <a:headEnd type="none"/>
            <a:tailEnd type="triangle"/>
          </a:ln>
        </p:spPr>
        <p:txBody>
          <a:bodyPr/>
          <a:p/>
        </p:txBody>
      </p:sp>
      <p:sp>
        <p:nvSpPr>
          <p:cNvPr id="22" name="Shape 20"/>
          <p:cNvSpPr/>
          <p:nvPr/>
        </p:nvSpPr>
        <p:spPr>
          <a:xfrm>
            <a:off x="8034528" y="2414016"/>
            <a:ext cx="3368040" cy="1325880"/>
          </a:xfrm>
          <a:prstGeom prst="roundRect">
            <a:avLst>
              <a:gd name="adj" fmla="val 9655"/>
            </a:avLst>
          </a:prstGeom>
          <a:solidFill>
            <a:srgbClr val="ECF3FF"/>
          </a:solidFill>
          <a:ln w="12700">
            <a:solidFill>
              <a:srgbClr val="CBDBFF"/>
            </a:solidFill>
            <a:prstDash val="solid"/>
          </a:ln>
        </p:spPr>
        <p:txBody>
          <a:bodyPr/>
          <a:p/>
        </p:txBody>
      </p:sp>
      <p:sp>
        <p:nvSpPr>
          <p:cNvPr id="23" name="Text 21"/>
          <p:cNvSpPr/>
          <p:nvPr/>
        </p:nvSpPr>
        <p:spPr>
          <a:xfrm>
            <a:off x="8144256" y="2532888"/>
            <a:ext cx="3148584" cy="356616"/>
          </a:xfrm>
          <a:prstGeom prst="rect">
            <a:avLst/>
          </a:prstGeom>
          <a:noFill/>
          <a:ln/>
        </p:spPr>
        <p:txBody>
          <a:bodyPr wrap="square" lIns="0" tIns="0" rIns="0" bIns="0" rtlCol="0" anchor="ctr">
            <a:normAutofit/>
          </a:bodyPr>
          <a:lstStyle/>
          <a:p>
            <a:pPr algn="ctr" indent="0" marL="0">
              <a:buNone/>
            </a:pPr>
            <a:r>
              <a:rPr lang="en-US" sz="1500" b="1" dirty="0">
                <a:solidFill>
                  <a:srgbClr val="122239"/>
                </a:solidFill>
                <a:latin typeface="Aptos" pitchFamily="34" charset="0"/>
                <a:ea typeface="Aptos" pitchFamily="34" charset="-122"/>
                <a:cs typeface="Aptos" pitchFamily="34" charset="-120"/>
              </a:rPr>
              <a:t>Payment app</a:t>
            </a:r>
            <a:endParaRPr lang="en-US" sz="1500" dirty="0"/>
          </a:p>
        </p:txBody>
      </p:sp>
      <p:sp>
        <p:nvSpPr>
          <p:cNvPr id="24" name="Text 22"/>
          <p:cNvSpPr/>
          <p:nvPr/>
        </p:nvSpPr>
        <p:spPr>
          <a:xfrm>
            <a:off x="8171688" y="2953512"/>
            <a:ext cx="3093720" cy="338328"/>
          </a:xfrm>
          <a:prstGeom prst="rect">
            <a:avLst/>
          </a:prstGeom>
          <a:noFill/>
          <a:ln/>
        </p:spPr>
        <p:txBody>
          <a:bodyPr wrap="square" lIns="0" tIns="0" rIns="0" bIns="0" rtlCol="0" anchor="ctr">
            <a:normAutofit/>
          </a:bodyPr>
          <a:lstStyle/>
          <a:p>
            <a:pPr algn="ctr" indent="0" marL="0">
              <a:buNone/>
            </a:pPr>
            <a:r>
              <a:rPr lang="en-US" sz="1150" dirty="0">
                <a:solidFill>
                  <a:srgbClr val="354862"/>
                </a:solidFill>
                <a:latin typeface="Aptos" pitchFamily="34" charset="0"/>
                <a:ea typeface="Aptos" pitchFamily="34" charset="-122"/>
                <a:cs typeface="Aptos" pitchFamily="34" charset="-120"/>
              </a:rPr>
              <a:t>Local proxy</a:t>
            </a:r>
            <a:endParaRPr lang="en-US" sz="1150" dirty="0"/>
          </a:p>
        </p:txBody>
      </p:sp>
      <p:sp>
        <p:nvSpPr>
          <p:cNvPr id="25" name="Shape 23"/>
          <p:cNvSpPr/>
          <p:nvPr/>
        </p:nvSpPr>
        <p:spPr>
          <a:xfrm>
            <a:off x="594360" y="4663440"/>
            <a:ext cx="3560064" cy="1453896"/>
          </a:xfrm>
          <a:prstGeom prst="roundRect">
            <a:avLst>
              <a:gd name="adj" fmla="val 8805"/>
            </a:avLst>
          </a:prstGeom>
          <a:solidFill>
            <a:srgbClr val="F7F9FC"/>
          </a:solidFill>
          <a:ln w="12700">
            <a:solidFill>
              <a:srgbClr val="DFE7F1"/>
            </a:solidFill>
            <a:prstDash val="solid"/>
          </a:ln>
        </p:spPr>
        <p:txBody>
          <a:bodyPr/>
          <a:p/>
        </p:txBody>
      </p:sp>
      <p:sp>
        <p:nvSpPr>
          <p:cNvPr id="26" name="Shape 24"/>
          <p:cNvSpPr/>
          <p:nvPr/>
        </p:nvSpPr>
        <p:spPr>
          <a:xfrm>
            <a:off x="594360" y="4663440"/>
            <a:ext cx="50292" cy="1453896"/>
          </a:xfrm>
          <a:prstGeom prst="rect">
            <a:avLst/>
          </a:prstGeom>
          <a:solidFill>
            <a:srgbClr val="2866F6"/>
          </a:solidFill>
          <a:ln w="12700">
            <a:solidFill>
              <a:srgbClr val="2866F6"/>
            </a:solidFill>
            <a:prstDash val="solid"/>
          </a:ln>
        </p:spPr>
        <p:txBody>
          <a:bodyPr/>
          <a:p/>
        </p:txBody>
      </p:sp>
      <p:sp>
        <p:nvSpPr>
          <p:cNvPr id="27" name="Text 25"/>
          <p:cNvSpPr/>
          <p:nvPr/>
        </p:nvSpPr>
        <p:spPr>
          <a:xfrm>
            <a:off x="768096" y="4782312"/>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TLS vs mTLS</a:t>
            </a:r>
            <a:endParaRPr lang="en-US" sz="1340" dirty="0"/>
          </a:p>
        </p:txBody>
      </p:sp>
      <p:sp>
        <p:nvSpPr>
          <p:cNvPr id="28" name="Text 26"/>
          <p:cNvSpPr/>
          <p:nvPr/>
        </p:nvSpPr>
        <p:spPr>
          <a:xfrm>
            <a:off x="768096" y="5166360"/>
            <a:ext cx="3221736" cy="868680"/>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TLS normally authenticates the server; mTLS also authenticates the client.</a:t>
            </a:r>
            <a:endParaRPr lang="en-US" sz="1230" dirty="0"/>
          </a:p>
        </p:txBody>
      </p:sp>
      <p:sp>
        <p:nvSpPr>
          <p:cNvPr id="29" name="Shape 27"/>
          <p:cNvSpPr/>
          <p:nvPr/>
        </p:nvSpPr>
        <p:spPr>
          <a:xfrm>
            <a:off x="4300728" y="4663440"/>
            <a:ext cx="3560064" cy="1453896"/>
          </a:xfrm>
          <a:prstGeom prst="roundRect">
            <a:avLst>
              <a:gd name="adj" fmla="val 8805"/>
            </a:avLst>
          </a:prstGeom>
          <a:solidFill>
            <a:srgbClr val="F7F9FC"/>
          </a:solidFill>
          <a:ln w="12700">
            <a:solidFill>
              <a:srgbClr val="DFE7F1"/>
            </a:solidFill>
            <a:prstDash val="solid"/>
          </a:ln>
        </p:spPr>
        <p:txBody>
          <a:bodyPr/>
          <a:p/>
        </p:txBody>
      </p:sp>
      <p:sp>
        <p:nvSpPr>
          <p:cNvPr id="30" name="Shape 28"/>
          <p:cNvSpPr/>
          <p:nvPr/>
        </p:nvSpPr>
        <p:spPr>
          <a:xfrm>
            <a:off x="4300728" y="4663440"/>
            <a:ext cx="50292" cy="1453896"/>
          </a:xfrm>
          <a:prstGeom prst="rect">
            <a:avLst/>
          </a:prstGeom>
          <a:solidFill>
            <a:srgbClr val="2866F6"/>
          </a:solidFill>
          <a:ln w="12700">
            <a:solidFill>
              <a:srgbClr val="2866F6"/>
            </a:solidFill>
            <a:prstDash val="solid"/>
          </a:ln>
        </p:spPr>
        <p:txBody>
          <a:bodyPr/>
          <a:p/>
        </p:txBody>
      </p:sp>
      <p:sp>
        <p:nvSpPr>
          <p:cNvPr id="31" name="Text 29"/>
          <p:cNvSpPr/>
          <p:nvPr/>
        </p:nvSpPr>
        <p:spPr>
          <a:xfrm>
            <a:off x="4474464" y="4782312"/>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Authentication vs authorization</a:t>
            </a:r>
            <a:endParaRPr lang="en-US" sz="1340" dirty="0"/>
          </a:p>
        </p:txBody>
      </p:sp>
      <p:sp>
        <p:nvSpPr>
          <p:cNvPr id="32" name="Text 30"/>
          <p:cNvSpPr/>
          <p:nvPr/>
        </p:nvSpPr>
        <p:spPr>
          <a:xfrm>
            <a:off x="4474464" y="5166360"/>
            <a:ext cx="3221736" cy="868680"/>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Knowing the caller identity is separate from allowing a payment operation.</a:t>
            </a:r>
            <a:endParaRPr lang="en-US" sz="1230" dirty="0"/>
          </a:p>
        </p:txBody>
      </p:sp>
      <p:sp>
        <p:nvSpPr>
          <p:cNvPr id="33" name="Shape 31"/>
          <p:cNvSpPr/>
          <p:nvPr/>
        </p:nvSpPr>
        <p:spPr>
          <a:xfrm>
            <a:off x="8007096" y="4663440"/>
            <a:ext cx="3560064" cy="1453896"/>
          </a:xfrm>
          <a:prstGeom prst="roundRect">
            <a:avLst>
              <a:gd name="adj" fmla="val 8805"/>
            </a:avLst>
          </a:prstGeom>
          <a:solidFill>
            <a:srgbClr val="F7F9FC"/>
          </a:solidFill>
          <a:ln w="12700">
            <a:solidFill>
              <a:srgbClr val="DFE7F1"/>
            </a:solidFill>
            <a:prstDash val="solid"/>
          </a:ln>
        </p:spPr>
        <p:txBody>
          <a:bodyPr/>
          <a:p/>
        </p:txBody>
      </p:sp>
      <p:sp>
        <p:nvSpPr>
          <p:cNvPr id="34" name="Shape 32"/>
          <p:cNvSpPr/>
          <p:nvPr/>
        </p:nvSpPr>
        <p:spPr>
          <a:xfrm>
            <a:off x="8007096" y="4663440"/>
            <a:ext cx="50292" cy="1453896"/>
          </a:xfrm>
          <a:prstGeom prst="rect">
            <a:avLst/>
          </a:prstGeom>
          <a:solidFill>
            <a:srgbClr val="2866F6"/>
          </a:solidFill>
          <a:ln w="12700">
            <a:solidFill>
              <a:srgbClr val="2866F6"/>
            </a:solidFill>
            <a:prstDash val="solid"/>
          </a:ln>
        </p:spPr>
        <p:txBody>
          <a:bodyPr/>
          <a:p/>
        </p:txBody>
      </p:sp>
      <p:sp>
        <p:nvSpPr>
          <p:cNvPr id="35" name="Text 33"/>
          <p:cNvSpPr/>
          <p:nvPr/>
        </p:nvSpPr>
        <p:spPr>
          <a:xfrm>
            <a:off x="8180832" y="4782312"/>
            <a:ext cx="3230880"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Service mesh</a:t>
            </a:r>
            <a:endParaRPr lang="en-US" sz="1340" dirty="0"/>
          </a:p>
        </p:txBody>
      </p:sp>
      <p:sp>
        <p:nvSpPr>
          <p:cNvPr id="36" name="Text 34"/>
          <p:cNvSpPr/>
          <p:nvPr/>
        </p:nvSpPr>
        <p:spPr>
          <a:xfrm>
            <a:off x="8180832" y="5166360"/>
            <a:ext cx="3221736" cy="868680"/>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Istio/Linkerd can manage identities and traffic via proxies or other data planes.</a:t>
            </a:r>
            <a:endParaRPr lang="en-US" sz="123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S</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The new release passes health checks but breaks checkout</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Order Service v2 starts normally, but calculates customer discounts incorrectly.</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DEPLOY</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 v2</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Returns HTTP 200</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HIDDEN BUG</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Discount logic</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Calculates wrong total</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IMPACT</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Customers</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Receive wrong prices</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Process health checks cannot validate every business rule.</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Sending all customers to an unproven release exposes everyone to the bug.</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50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DEPLOYMENT &amp; SECURITY</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51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2800" b="1" dirty="0">
                <a:solidFill>
                  <a:srgbClr val="122239"/>
                </a:solidFill>
                <a:latin typeface="Aptos" pitchFamily="34" charset="0"/>
                <a:ea typeface="Aptos" pitchFamily="34" charset="-122"/>
                <a:cs typeface="Aptos" pitchFamily="34" charset="-120"/>
              </a:rPr>
              <a:t>Rolling, blue-green and canary reduce rollout risk</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Each controls who receives a new version and how quickly exposure grows.</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51</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S</a:t>
            </a:r>
            <a:endParaRPr lang="en-US" sz="1000" dirty="0"/>
          </a:p>
        </p:txBody>
      </p:sp>
      <p:sp>
        <p:nvSpPr>
          <p:cNvPr id="14" name="Shape 12"/>
          <p:cNvSpPr/>
          <p:nvPr/>
        </p:nvSpPr>
        <p:spPr>
          <a:xfrm>
            <a:off x="576072" y="2432304"/>
            <a:ext cx="3584448" cy="2002536"/>
          </a:xfrm>
          <a:prstGeom prst="roundRect">
            <a:avLst>
              <a:gd name="adj" fmla="val 6393"/>
            </a:avLst>
          </a:prstGeom>
          <a:solidFill>
            <a:srgbClr val="F7F9FC"/>
          </a:solidFill>
          <a:ln w="12700">
            <a:solidFill>
              <a:srgbClr val="DFE7F1"/>
            </a:solidFill>
            <a:prstDash val="solid"/>
          </a:ln>
        </p:spPr>
        <p:txBody>
          <a:bodyPr/>
          <a:p/>
        </p:txBody>
      </p:sp>
      <p:sp>
        <p:nvSpPr>
          <p:cNvPr id="15" name="Shape 13"/>
          <p:cNvSpPr/>
          <p:nvPr/>
        </p:nvSpPr>
        <p:spPr>
          <a:xfrm>
            <a:off x="576072" y="2432304"/>
            <a:ext cx="50292" cy="2002536"/>
          </a:xfrm>
          <a:prstGeom prst="rect">
            <a:avLst/>
          </a:prstGeom>
          <a:solidFill>
            <a:srgbClr val="2866F6"/>
          </a:solidFill>
          <a:ln w="12700">
            <a:solidFill>
              <a:srgbClr val="2866F6"/>
            </a:solidFill>
            <a:prstDash val="solid"/>
          </a:ln>
        </p:spPr>
        <p:txBody>
          <a:bodyPr/>
          <a:p/>
        </p:txBody>
      </p:sp>
      <p:sp>
        <p:nvSpPr>
          <p:cNvPr id="16" name="Text 14"/>
          <p:cNvSpPr/>
          <p:nvPr/>
        </p:nvSpPr>
        <p:spPr>
          <a:xfrm>
            <a:off x="749808" y="2551176"/>
            <a:ext cx="325526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ROLLING</a:t>
            </a:r>
            <a:endParaRPr lang="en-US" sz="1340" dirty="0"/>
          </a:p>
        </p:txBody>
      </p:sp>
      <p:sp>
        <p:nvSpPr>
          <p:cNvPr id="17" name="Text 15"/>
          <p:cNvSpPr/>
          <p:nvPr/>
        </p:nvSpPr>
        <p:spPr>
          <a:xfrm>
            <a:off x="749808" y="2935224"/>
            <a:ext cx="3246120" cy="1417320"/>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Gradually replace old Pods with new Pods; versions can coexist.</a:t>
            </a:r>
            <a:endParaRPr lang="en-US" sz="1230" dirty="0"/>
          </a:p>
        </p:txBody>
      </p:sp>
      <p:sp>
        <p:nvSpPr>
          <p:cNvPr id="18" name="Shape 16"/>
          <p:cNvSpPr/>
          <p:nvPr/>
        </p:nvSpPr>
        <p:spPr>
          <a:xfrm>
            <a:off x="4306824" y="2432304"/>
            <a:ext cx="3584448" cy="2002536"/>
          </a:xfrm>
          <a:prstGeom prst="roundRect">
            <a:avLst>
              <a:gd name="adj" fmla="val 6393"/>
            </a:avLst>
          </a:prstGeom>
          <a:solidFill>
            <a:srgbClr val="F7F9FC"/>
          </a:solidFill>
          <a:ln w="12700">
            <a:solidFill>
              <a:srgbClr val="DFE7F1"/>
            </a:solidFill>
            <a:prstDash val="solid"/>
          </a:ln>
        </p:spPr>
        <p:txBody>
          <a:bodyPr/>
          <a:p/>
        </p:txBody>
      </p:sp>
      <p:sp>
        <p:nvSpPr>
          <p:cNvPr id="19" name="Shape 17"/>
          <p:cNvSpPr/>
          <p:nvPr/>
        </p:nvSpPr>
        <p:spPr>
          <a:xfrm>
            <a:off x="4306824" y="2432304"/>
            <a:ext cx="50292" cy="2002536"/>
          </a:xfrm>
          <a:prstGeom prst="rect">
            <a:avLst/>
          </a:prstGeom>
          <a:solidFill>
            <a:srgbClr val="2866F6"/>
          </a:solidFill>
          <a:ln w="12700">
            <a:solidFill>
              <a:srgbClr val="2866F6"/>
            </a:solidFill>
            <a:prstDash val="solid"/>
          </a:ln>
        </p:spPr>
        <p:txBody>
          <a:bodyPr/>
          <a:p/>
        </p:txBody>
      </p:sp>
      <p:sp>
        <p:nvSpPr>
          <p:cNvPr id="20" name="Text 18"/>
          <p:cNvSpPr/>
          <p:nvPr/>
        </p:nvSpPr>
        <p:spPr>
          <a:xfrm>
            <a:off x="4480560" y="2551176"/>
            <a:ext cx="325526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BLUE-GREEN</a:t>
            </a:r>
            <a:endParaRPr lang="en-US" sz="1340" dirty="0"/>
          </a:p>
        </p:txBody>
      </p:sp>
      <p:sp>
        <p:nvSpPr>
          <p:cNvPr id="21" name="Text 19"/>
          <p:cNvSpPr/>
          <p:nvPr/>
        </p:nvSpPr>
        <p:spPr>
          <a:xfrm>
            <a:off x="4480560" y="2935224"/>
            <a:ext cx="3246120" cy="1417320"/>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Prepare two environments and switch traffic after validation.</a:t>
            </a:r>
            <a:endParaRPr lang="en-US" sz="1230" dirty="0"/>
          </a:p>
        </p:txBody>
      </p:sp>
      <p:sp>
        <p:nvSpPr>
          <p:cNvPr id="22" name="Shape 20"/>
          <p:cNvSpPr/>
          <p:nvPr/>
        </p:nvSpPr>
        <p:spPr>
          <a:xfrm>
            <a:off x="8037576" y="2432304"/>
            <a:ext cx="3584448" cy="2002536"/>
          </a:xfrm>
          <a:prstGeom prst="roundRect">
            <a:avLst>
              <a:gd name="adj" fmla="val 6393"/>
            </a:avLst>
          </a:prstGeom>
          <a:solidFill>
            <a:srgbClr val="F7F9FC"/>
          </a:solidFill>
          <a:ln w="12700">
            <a:solidFill>
              <a:srgbClr val="DFE7F1"/>
            </a:solidFill>
            <a:prstDash val="solid"/>
          </a:ln>
        </p:spPr>
        <p:txBody>
          <a:bodyPr/>
          <a:p/>
        </p:txBody>
      </p:sp>
      <p:sp>
        <p:nvSpPr>
          <p:cNvPr id="23" name="Shape 21"/>
          <p:cNvSpPr/>
          <p:nvPr/>
        </p:nvSpPr>
        <p:spPr>
          <a:xfrm>
            <a:off x="8037576" y="2432304"/>
            <a:ext cx="50292" cy="2002536"/>
          </a:xfrm>
          <a:prstGeom prst="rect">
            <a:avLst/>
          </a:prstGeom>
          <a:solidFill>
            <a:srgbClr val="2866F6"/>
          </a:solidFill>
          <a:ln w="12700">
            <a:solidFill>
              <a:srgbClr val="2866F6"/>
            </a:solidFill>
            <a:prstDash val="solid"/>
          </a:ln>
        </p:spPr>
        <p:txBody>
          <a:bodyPr/>
          <a:p/>
        </p:txBody>
      </p:sp>
      <p:sp>
        <p:nvSpPr>
          <p:cNvPr id="24" name="Text 22"/>
          <p:cNvSpPr/>
          <p:nvPr/>
        </p:nvSpPr>
        <p:spPr>
          <a:xfrm>
            <a:off x="8211312" y="2551176"/>
            <a:ext cx="325526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CANARY</a:t>
            </a:r>
            <a:endParaRPr lang="en-US" sz="1340" dirty="0"/>
          </a:p>
        </p:txBody>
      </p:sp>
      <p:sp>
        <p:nvSpPr>
          <p:cNvPr id="25" name="Text 23"/>
          <p:cNvSpPr/>
          <p:nvPr/>
        </p:nvSpPr>
        <p:spPr>
          <a:xfrm>
            <a:off x="8211312" y="2935224"/>
            <a:ext cx="3246120" cy="1417320"/>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Start with a small traffic slice (e.g. 5%), then expand if healthy.</a:t>
            </a:r>
            <a:endParaRPr lang="en-US" sz="1230" dirty="0"/>
          </a:p>
        </p:txBody>
      </p:sp>
      <p:sp>
        <p:nvSpPr>
          <p:cNvPr id="26" name="Shape 24"/>
          <p:cNvSpPr/>
          <p:nvPr/>
        </p:nvSpPr>
        <p:spPr>
          <a:xfrm>
            <a:off x="649224" y="4791456"/>
            <a:ext cx="10908792" cy="1033272"/>
          </a:xfrm>
          <a:prstGeom prst="roundRect">
            <a:avLst>
              <a:gd name="adj" fmla="val 11504"/>
            </a:avLst>
          </a:prstGeom>
          <a:solidFill>
            <a:srgbClr val="FFF4E5"/>
          </a:solidFill>
          <a:ln w="12700">
            <a:solidFill>
              <a:srgbClr val="F2D9B7"/>
            </a:solidFill>
            <a:prstDash val="solid"/>
          </a:ln>
        </p:spPr>
        <p:txBody>
          <a:bodyPr/>
          <a:p/>
        </p:txBody>
      </p:sp>
      <p:sp>
        <p:nvSpPr>
          <p:cNvPr id="27" name="Text 25"/>
          <p:cNvSpPr/>
          <p:nvPr/>
        </p:nvSpPr>
        <p:spPr>
          <a:xfrm>
            <a:off x="896112" y="4965192"/>
            <a:ext cx="10341864" cy="283464"/>
          </a:xfrm>
          <a:prstGeom prst="rect">
            <a:avLst/>
          </a:prstGeom>
          <a:noFill/>
          <a:ln/>
        </p:spPr>
        <p:txBody>
          <a:bodyPr wrap="square" lIns="0" tIns="0" rIns="0" bIns="0" rtlCol="0" anchor="ctr">
            <a:normAutofit/>
          </a:bodyPr>
          <a:lstStyle/>
          <a:p>
            <a:pPr algn="ctr" indent="0" marL="0">
              <a:buNone/>
            </a:pPr>
            <a:r>
              <a:rPr lang="en-US" sz="1700" b="1" dirty="0">
                <a:solidFill>
                  <a:srgbClr val="122239"/>
                </a:solidFill>
                <a:latin typeface="Aptos" pitchFamily="34" charset="0"/>
                <a:ea typeface="Aptos" pitchFamily="34" charset="-122"/>
                <a:cs typeface="Aptos" pitchFamily="34" charset="-120"/>
              </a:rPr>
              <a:t>A fast traffic rollback is not a database rollback.</a:t>
            </a:r>
            <a:endParaRPr lang="en-US" sz="1700" dirty="0"/>
          </a:p>
        </p:txBody>
      </p:sp>
      <p:sp>
        <p:nvSpPr>
          <p:cNvPr id="28" name="Text 26"/>
          <p:cNvSpPr/>
          <p:nvPr/>
        </p:nvSpPr>
        <p:spPr>
          <a:xfrm>
            <a:off x="914400" y="5367528"/>
            <a:ext cx="10287000" cy="201168"/>
          </a:xfrm>
          <a:prstGeom prst="rect">
            <a:avLst/>
          </a:prstGeom>
          <a:noFill/>
          <a:ln/>
        </p:spPr>
        <p:txBody>
          <a:bodyPr wrap="square" lIns="0" tIns="0" rIns="0" bIns="0" rtlCol="0" anchor="ctr">
            <a:normAutofit/>
          </a:bodyPr>
          <a:lstStyle/>
          <a:p>
            <a:pPr algn="ctr" indent="0" marL="0">
              <a:buNone/>
            </a:pPr>
            <a:r>
              <a:rPr lang="en-US" sz="1300" dirty="0">
                <a:solidFill>
                  <a:srgbClr val="354862"/>
                </a:solidFill>
                <a:latin typeface="Aptos" pitchFamily="34" charset="0"/>
                <a:ea typeface="Aptos" pitchFamily="34" charset="-122"/>
                <a:cs typeface="Aptos" pitchFamily="34" charset="-120"/>
              </a:rPr>
              <a:t>Old and new API/database versions must remain compatible while traffic overlaps.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TESTING</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53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sz="3050" b="1">
                <a:latin typeface="Aptos"/>
              </a:rPr>
              <a:t>Unit, integration and end-to-end testing</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sz="1400">
                <a:latin typeface="Aptos"/>
              </a:rPr>
              <a:t>Each test level checks a different part of a distributed application.</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53</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T</a:t>
            </a:r>
            <a:endParaRPr lang="en-US" sz="1000" dirty="0"/>
          </a:p>
        </p:txBody>
      </p:sp>
      <p:sp>
        <p:nvSpPr>
          <p:cNvPr id="14" name="Shape 12"/>
          <p:cNvSpPr/>
          <p:nvPr/>
        </p:nvSpPr>
        <p:spPr>
          <a:xfrm>
            <a:off x="603504" y="2450592"/>
            <a:ext cx="3547872" cy="2075688"/>
          </a:xfrm>
          <a:prstGeom prst="roundRect">
            <a:avLst>
              <a:gd name="adj" fmla="val 6167"/>
            </a:avLst>
          </a:prstGeom>
          <a:solidFill>
            <a:srgbClr val="F7F9FC"/>
          </a:solidFill>
          <a:ln w="12700">
            <a:solidFill>
              <a:srgbClr val="DFE7F1"/>
            </a:solidFill>
            <a:prstDash val="solid"/>
          </a:ln>
        </p:spPr>
        <p:txBody>
          <a:bodyPr/>
          <a:p/>
        </p:txBody>
      </p:sp>
      <p:sp>
        <p:nvSpPr>
          <p:cNvPr id="15" name="Shape 13"/>
          <p:cNvSpPr/>
          <p:nvPr/>
        </p:nvSpPr>
        <p:spPr>
          <a:xfrm>
            <a:off x="603504" y="2450592"/>
            <a:ext cx="50292" cy="2075688"/>
          </a:xfrm>
          <a:prstGeom prst="rect">
            <a:avLst/>
          </a:prstGeom>
          <a:solidFill>
            <a:srgbClr val="2866F6"/>
          </a:solidFill>
          <a:ln w="12700">
            <a:solidFill>
              <a:srgbClr val="2866F6"/>
            </a:solidFill>
            <a:prstDash val="solid"/>
          </a:ln>
        </p:spPr>
        <p:txBody>
          <a:bodyPr/>
          <a:p/>
        </p:txBody>
      </p:sp>
      <p:sp>
        <p:nvSpPr>
          <p:cNvPr id="16" name="Text 14"/>
          <p:cNvSpPr/>
          <p:nvPr/>
        </p:nvSpPr>
        <p:spPr>
          <a:xfrm>
            <a:off x="777240" y="2569464"/>
            <a:ext cx="321868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UNIT TEST</a:t>
            </a:r>
            <a:endParaRPr lang="en-US" sz="1340" dirty="0"/>
          </a:p>
        </p:txBody>
      </p:sp>
      <p:sp>
        <p:nvSpPr>
          <p:cNvPr id="17" name="Text 15"/>
          <p:cNvSpPr/>
          <p:nvPr/>
        </p:nvSpPr>
        <p:spPr>
          <a:xfrm>
            <a:off x="777240" y="2953512"/>
            <a:ext cx="3209544" cy="149047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Validate calculations and business logic in isolation.</a:t>
            </a:r>
            <a:endParaRPr lang="en-US" sz="1230" dirty="0"/>
          </a:p>
        </p:txBody>
      </p:sp>
      <p:sp>
        <p:nvSpPr>
          <p:cNvPr id="18" name="Shape 16"/>
          <p:cNvSpPr/>
          <p:nvPr/>
        </p:nvSpPr>
        <p:spPr>
          <a:xfrm>
            <a:off x="4297680" y="2450592"/>
            <a:ext cx="3547872" cy="2075688"/>
          </a:xfrm>
          <a:prstGeom prst="roundRect">
            <a:avLst>
              <a:gd name="adj" fmla="val 6167"/>
            </a:avLst>
          </a:prstGeom>
          <a:solidFill>
            <a:srgbClr val="F7F9FC"/>
          </a:solidFill>
          <a:ln w="12700">
            <a:solidFill>
              <a:srgbClr val="DFE7F1"/>
            </a:solidFill>
            <a:prstDash val="solid"/>
          </a:ln>
        </p:spPr>
        <p:txBody>
          <a:bodyPr/>
          <a:p/>
        </p:txBody>
      </p:sp>
      <p:sp>
        <p:nvSpPr>
          <p:cNvPr id="19" name="Shape 17"/>
          <p:cNvSpPr/>
          <p:nvPr/>
        </p:nvSpPr>
        <p:spPr>
          <a:xfrm>
            <a:off x="4297680" y="2450592"/>
            <a:ext cx="50292" cy="2075688"/>
          </a:xfrm>
          <a:prstGeom prst="rect">
            <a:avLst/>
          </a:prstGeom>
          <a:solidFill>
            <a:srgbClr val="2866F6"/>
          </a:solidFill>
          <a:ln w="12700">
            <a:solidFill>
              <a:srgbClr val="2866F6"/>
            </a:solidFill>
            <a:prstDash val="solid"/>
          </a:ln>
        </p:spPr>
        <p:txBody>
          <a:bodyPr/>
          <a:p/>
        </p:txBody>
      </p:sp>
      <p:sp>
        <p:nvSpPr>
          <p:cNvPr id="20" name="Text 18"/>
          <p:cNvSpPr/>
          <p:nvPr/>
        </p:nvSpPr>
        <p:spPr>
          <a:xfrm>
            <a:off x="4471416" y="2569464"/>
            <a:ext cx="321868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INTEGRATION TEST</a:t>
            </a:r>
            <a:endParaRPr lang="en-US" sz="1340" dirty="0"/>
          </a:p>
        </p:txBody>
      </p:sp>
      <p:sp>
        <p:nvSpPr>
          <p:cNvPr id="21" name="Text 19"/>
          <p:cNvSpPr/>
          <p:nvPr/>
        </p:nvSpPr>
        <p:spPr>
          <a:xfrm>
            <a:off x="4471416" y="2953512"/>
            <a:ext cx="3209544" cy="149047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Exercise real database, messaging or service integration.</a:t>
            </a:r>
            <a:endParaRPr lang="en-US" sz="1230" dirty="0"/>
          </a:p>
        </p:txBody>
      </p:sp>
      <p:sp>
        <p:nvSpPr>
          <p:cNvPr id="22" name="Shape 20"/>
          <p:cNvSpPr/>
          <p:nvPr/>
        </p:nvSpPr>
        <p:spPr>
          <a:xfrm>
            <a:off x="7991856" y="2450592"/>
            <a:ext cx="3547872" cy="2075688"/>
          </a:xfrm>
          <a:prstGeom prst="roundRect">
            <a:avLst>
              <a:gd name="adj" fmla="val 6167"/>
            </a:avLst>
          </a:prstGeom>
          <a:solidFill>
            <a:srgbClr val="F7F9FC"/>
          </a:solidFill>
          <a:ln w="12700">
            <a:solidFill>
              <a:srgbClr val="DFE7F1"/>
            </a:solidFill>
            <a:prstDash val="solid"/>
          </a:ln>
        </p:spPr>
        <p:txBody>
          <a:bodyPr/>
          <a:p/>
        </p:txBody>
      </p:sp>
      <p:sp>
        <p:nvSpPr>
          <p:cNvPr id="23" name="Shape 21"/>
          <p:cNvSpPr/>
          <p:nvPr/>
        </p:nvSpPr>
        <p:spPr>
          <a:xfrm>
            <a:off x="7991856" y="2450592"/>
            <a:ext cx="50292" cy="2075688"/>
          </a:xfrm>
          <a:prstGeom prst="rect">
            <a:avLst/>
          </a:prstGeom>
          <a:solidFill>
            <a:srgbClr val="2866F6"/>
          </a:solidFill>
          <a:ln w="12700">
            <a:solidFill>
              <a:srgbClr val="2866F6"/>
            </a:solidFill>
            <a:prstDash val="solid"/>
          </a:ln>
        </p:spPr>
        <p:txBody>
          <a:bodyPr/>
          <a:p/>
        </p:txBody>
      </p:sp>
      <p:sp>
        <p:nvSpPr>
          <p:cNvPr id="24" name="Text 22"/>
          <p:cNvSpPr/>
          <p:nvPr/>
        </p:nvSpPr>
        <p:spPr>
          <a:xfrm>
            <a:off x="8165592" y="2569464"/>
            <a:ext cx="3218688"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END-TO-END TEST</a:t>
            </a:r>
            <a:endParaRPr lang="en-US" sz="1340" dirty="0"/>
          </a:p>
        </p:txBody>
      </p:sp>
      <p:sp>
        <p:nvSpPr>
          <p:cNvPr id="25" name="Text 23"/>
          <p:cNvSpPr/>
          <p:nvPr/>
        </p:nvSpPr>
        <p:spPr>
          <a:xfrm>
            <a:off x="8165592" y="2953512"/>
            <a:ext cx="3209544" cy="149047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Verify critical user workflows across services.</a:t>
            </a:r>
            <a:endParaRPr lang="en-US" sz="1230" dirty="0"/>
          </a:p>
        </p:txBody>
      </p:sp>
      <p:sp>
        <p:nvSpPr>
          <p:cNvPr id="26" name="Shape 24"/>
          <p:cNvSpPr/>
          <p:nvPr/>
        </p:nvSpPr>
        <p:spPr>
          <a:xfrm>
            <a:off x="630936" y="4910328"/>
            <a:ext cx="10881360" cy="758952"/>
          </a:xfrm>
          <a:prstGeom prst="roundRect">
            <a:avLst>
              <a:gd name="adj" fmla="val 15663"/>
            </a:avLst>
          </a:prstGeom>
          <a:solidFill>
            <a:srgbClr val="ECF3FF"/>
          </a:solidFill>
          <a:ln w="12700">
            <a:solidFill>
              <a:srgbClr val="CBDBFF"/>
            </a:solidFill>
            <a:prstDash val="solid"/>
          </a:ln>
        </p:spPr>
        <p:txBody>
          <a:bodyPr/>
          <a:p/>
        </p:txBody>
      </p:sp>
      <p:sp>
        <p:nvSpPr>
          <p:cNvPr id="27" name="Text 25"/>
          <p:cNvSpPr/>
          <p:nvPr/>
        </p:nvSpPr>
        <p:spPr>
          <a:xfrm>
            <a:off x="868680" y="5129784"/>
            <a:ext cx="10268712" cy="274320"/>
          </a:xfrm>
          <a:prstGeom prst="rect">
            <a:avLst/>
          </a:prstGeom>
          <a:noFill/>
          <a:ln/>
        </p:spPr>
        <p:txBody>
          <a:bodyPr wrap="square" lIns="0" tIns="0" rIns="0" bIns="0" rtlCol="0" anchor="ctr">
            <a:normAutofit/>
          </a:bodyPr>
          <a:lstStyle/>
          <a:p>
            <a:pPr algn="ctr" indent="0" marL="0">
              <a:buNone/>
            </a:pPr>
            <a:r>
              <a:rPr lang="en-US" sz="1700" b="1" dirty="0">
                <a:solidFill>
                  <a:srgbClr val="2866F6"/>
                </a:solidFill>
                <a:latin typeface="Aptos" pitchFamily="34" charset="0"/>
                <a:ea typeface="Aptos" pitchFamily="34" charset="-122"/>
                <a:cs typeface="Aptos" pitchFamily="34" charset="-120"/>
              </a:rPr>
              <a:t>No single test type proves the whole distributed system is safe.</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TESTING</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55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sz="3050" b="1">
                <a:latin typeface="Aptos"/>
              </a:rPr>
              <a:t>Consumer-driven contract tests catch API breaks</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sz="1400">
                <a:latin typeface="Aptos"/>
              </a:rPr>
              <a:t>Verify that a provider’s changes preserve what its consumers expect.</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55</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U</a:t>
            </a:r>
            <a:endParaRPr lang="en-US" sz="1000" dirty="0"/>
          </a:p>
        </p:txBody>
      </p:sp>
      <p:sp>
        <p:nvSpPr>
          <p:cNvPr id="14" name="Shape 12"/>
          <p:cNvSpPr/>
          <p:nvPr/>
        </p:nvSpPr>
        <p:spPr>
          <a:xfrm>
            <a:off x="713232" y="2423160"/>
            <a:ext cx="5148072" cy="1755648"/>
          </a:xfrm>
          <a:prstGeom prst="roundRect">
            <a:avLst>
              <a:gd name="adj" fmla="val 6771"/>
            </a:avLst>
          </a:prstGeom>
          <a:solidFill>
            <a:srgbClr val="FFF0F0"/>
          </a:solidFill>
          <a:ln w="12700">
            <a:solidFill>
              <a:srgbClr val="F4C8CB"/>
            </a:solidFill>
            <a:prstDash val="solid"/>
          </a:ln>
        </p:spPr>
        <p:txBody>
          <a:bodyPr/>
          <a:p/>
        </p:txBody>
      </p:sp>
      <p:sp>
        <p:nvSpPr>
          <p:cNvPr id="15" name="Text 13"/>
          <p:cNvSpPr/>
          <p:nvPr/>
        </p:nvSpPr>
        <p:spPr>
          <a:xfrm>
            <a:off x="941832" y="2706624"/>
            <a:ext cx="4608576" cy="292608"/>
          </a:xfrm>
          <a:prstGeom prst="rect">
            <a:avLst/>
          </a:prstGeom>
          <a:noFill/>
          <a:ln/>
        </p:spPr>
        <p:txBody>
          <a:bodyPr wrap="square" lIns="0" tIns="0" rIns="0" bIns="0" rtlCol="0" anchor="ctr">
            <a:normAutofit/>
          </a:bodyPr>
          <a:lstStyle/>
          <a:p>
            <a:pPr algn="l" indent="0" marL="0">
              <a:buNone/>
            </a:pPr>
            <a:r>
              <a:rPr lang="en-US" sz="1600" b="1" dirty="0">
                <a:solidFill>
                  <a:srgbClr val="A92D39"/>
                </a:solidFill>
                <a:latin typeface="Aptos" pitchFamily="34" charset="0"/>
                <a:ea typeface="Aptos" pitchFamily="34" charset="-122"/>
                <a:cs typeface="Aptos" pitchFamily="34" charset="-120"/>
              </a:rPr>
              <a:t>Order expects</a:t>
            </a:r>
            <a:endParaRPr lang="en-US" sz="1600" dirty="0"/>
          </a:p>
        </p:txBody>
      </p:sp>
      <p:sp>
        <p:nvSpPr>
          <p:cNvPr id="16" name="Text 14"/>
          <p:cNvSpPr/>
          <p:nvPr/>
        </p:nvSpPr>
        <p:spPr>
          <a:xfrm>
            <a:off x="960120" y="3236976"/>
            <a:ext cx="4507992" cy="347472"/>
          </a:xfrm>
          <a:prstGeom prst="rect">
            <a:avLst/>
          </a:prstGeom>
          <a:noFill/>
          <a:ln/>
        </p:spPr>
        <p:txBody>
          <a:bodyPr wrap="square" lIns="0" tIns="0" rIns="0" bIns="0" rtlCol="0" anchor="ctr">
            <a:normAutofit/>
          </a:bodyPr>
          <a:lstStyle/>
          <a:p>
            <a:pPr algn="l" indent="0" marL="0">
              <a:buNone/>
            </a:pPr>
            <a:r>
              <a:rPr lang="en-US" sz="2100" b="1" dirty="0">
                <a:solidFill>
                  <a:srgbClr val="122239"/>
                </a:solidFill>
                <a:latin typeface="Aptos" pitchFamily="34" charset="0"/>
                <a:ea typeface="Aptos" pitchFamily="34" charset="-122"/>
                <a:cs typeface="Aptos" pitchFamily="34" charset="-120"/>
              </a:rPr>
              <a:t>{ stock: 20 }</a:t>
            </a:r>
            <a:endParaRPr lang="en-US" sz="2100" dirty="0"/>
          </a:p>
        </p:txBody>
      </p:sp>
      <p:sp>
        <p:nvSpPr>
          <p:cNvPr id="17" name="Shape 15"/>
          <p:cNvSpPr/>
          <p:nvPr/>
        </p:nvSpPr>
        <p:spPr>
          <a:xfrm>
            <a:off x="6272784" y="2423160"/>
            <a:ext cx="5202936" cy="1755648"/>
          </a:xfrm>
          <a:prstGeom prst="roundRect">
            <a:avLst>
              <a:gd name="adj" fmla="val 6771"/>
            </a:avLst>
          </a:prstGeom>
          <a:solidFill>
            <a:srgbClr val="F7F9FC"/>
          </a:solidFill>
          <a:ln w="12700">
            <a:solidFill>
              <a:srgbClr val="DFE7F1"/>
            </a:solidFill>
            <a:prstDash val="solid"/>
          </a:ln>
        </p:spPr>
        <p:txBody>
          <a:bodyPr/>
          <a:p/>
        </p:txBody>
      </p:sp>
      <p:sp>
        <p:nvSpPr>
          <p:cNvPr id="18" name="Text 16"/>
          <p:cNvSpPr/>
          <p:nvPr/>
        </p:nvSpPr>
        <p:spPr>
          <a:xfrm>
            <a:off x="6492240" y="2706624"/>
            <a:ext cx="4626864" cy="292608"/>
          </a:xfrm>
          <a:prstGeom prst="rect">
            <a:avLst/>
          </a:prstGeom>
          <a:noFill/>
          <a:ln/>
        </p:spPr>
        <p:txBody>
          <a:bodyPr wrap="square" lIns="0" tIns="0" rIns="0" bIns="0" rtlCol="0" anchor="ctr">
            <a:normAutofit/>
          </a:bodyPr>
          <a:lstStyle/>
          <a:p>
            <a:pPr algn="l" indent="0" marL="0">
              <a:buNone/>
            </a:pPr>
            <a:r>
              <a:rPr lang="en-US" sz="1600" b="1" dirty="0">
                <a:solidFill>
                  <a:srgbClr val="122239"/>
                </a:solidFill>
                <a:latin typeface="Aptos" pitchFamily="34" charset="0"/>
                <a:ea typeface="Aptos" pitchFamily="34" charset="-122"/>
                <a:cs typeface="Aptos" pitchFamily="34" charset="-120"/>
              </a:rPr>
              <a:t>Inventory now returns</a:t>
            </a:r>
            <a:endParaRPr lang="en-US" sz="1600" dirty="0"/>
          </a:p>
        </p:txBody>
      </p:sp>
      <p:sp>
        <p:nvSpPr>
          <p:cNvPr id="19" name="Text 17"/>
          <p:cNvSpPr/>
          <p:nvPr/>
        </p:nvSpPr>
        <p:spPr>
          <a:xfrm>
            <a:off x="6473952" y="3236976"/>
            <a:ext cx="4700016" cy="347472"/>
          </a:xfrm>
          <a:prstGeom prst="rect">
            <a:avLst/>
          </a:prstGeom>
          <a:noFill/>
          <a:ln/>
        </p:spPr>
        <p:txBody>
          <a:bodyPr wrap="square" lIns="0" tIns="0" rIns="0" bIns="0" rtlCol="0" anchor="ctr">
            <a:normAutofit/>
          </a:bodyPr>
          <a:lstStyle/>
          <a:p>
            <a:pPr algn="l" indent="0" marL="0">
              <a:buNone/>
            </a:pPr>
            <a:r>
              <a:rPr lang="en-US" sz="1900" b="1" dirty="0">
                <a:solidFill>
                  <a:srgbClr val="122239"/>
                </a:solidFill>
                <a:latin typeface="Aptos" pitchFamily="34" charset="0"/>
                <a:ea typeface="Aptos" pitchFamily="34" charset="-122"/>
                <a:cs typeface="Aptos" pitchFamily="34" charset="-120"/>
              </a:rPr>
              <a:t>{ quantityAvailable: 20 }</a:t>
            </a:r>
            <a:endParaRPr lang="en-US" sz="1900" dirty="0"/>
          </a:p>
        </p:txBody>
      </p:sp>
      <p:sp>
        <p:nvSpPr>
          <p:cNvPr id="20" name="Shape 18"/>
          <p:cNvSpPr/>
          <p:nvPr/>
        </p:nvSpPr>
        <p:spPr>
          <a:xfrm>
            <a:off x="603504" y="4626864"/>
            <a:ext cx="3557016" cy="1417320"/>
          </a:xfrm>
          <a:prstGeom prst="roundRect">
            <a:avLst>
              <a:gd name="adj" fmla="val 9032"/>
            </a:avLst>
          </a:prstGeom>
          <a:solidFill>
            <a:srgbClr val="F7F9FC"/>
          </a:solidFill>
          <a:ln w="12700">
            <a:solidFill>
              <a:srgbClr val="DFE7F1"/>
            </a:solidFill>
            <a:prstDash val="solid"/>
          </a:ln>
        </p:spPr>
        <p:txBody>
          <a:bodyPr/>
          <a:p/>
        </p:txBody>
      </p:sp>
      <p:sp>
        <p:nvSpPr>
          <p:cNvPr id="21" name="Shape 19"/>
          <p:cNvSpPr/>
          <p:nvPr/>
        </p:nvSpPr>
        <p:spPr>
          <a:xfrm>
            <a:off x="603504" y="4626864"/>
            <a:ext cx="50292" cy="1417320"/>
          </a:xfrm>
          <a:prstGeom prst="rect">
            <a:avLst/>
          </a:prstGeom>
          <a:solidFill>
            <a:srgbClr val="2866F6"/>
          </a:solidFill>
          <a:ln w="12700">
            <a:solidFill>
              <a:srgbClr val="2866F6"/>
            </a:solidFill>
            <a:prstDash val="solid"/>
          </a:ln>
        </p:spPr>
        <p:txBody>
          <a:bodyPr/>
          <a:p/>
        </p:txBody>
      </p:sp>
      <p:sp>
        <p:nvSpPr>
          <p:cNvPr id="22" name="Text 20"/>
          <p:cNvSpPr/>
          <p:nvPr/>
        </p:nvSpPr>
        <p:spPr>
          <a:xfrm>
            <a:off x="777240" y="4745736"/>
            <a:ext cx="3227832"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Consumer expectation</a:t>
            </a:r>
            <a:endParaRPr lang="en-US" sz="1340" dirty="0"/>
          </a:p>
        </p:txBody>
      </p:sp>
      <p:sp>
        <p:nvSpPr>
          <p:cNvPr id="23" name="Text 21"/>
          <p:cNvSpPr/>
          <p:nvPr/>
        </p:nvSpPr>
        <p:spPr>
          <a:xfrm>
            <a:off x="777240" y="5129784"/>
            <a:ext cx="3218688" cy="83210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Order specifies the response structure it depends on.</a:t>
            </a:r>
            <a:endParaRPr lang="en-US" sz="1230" dirty="0"/>
          </a:p>
        </p:txBody>
      </p:sp>
      <p:sp>
        <p:nvSpPr>
          <p:cNvPr id="24" name="Shape 22"/>
          <p:cNvSpPr/>
          <p:nvPr/>
        </p:nvSpPr>
        <p:spPr>
          <a:xfrm>
            <a:off x="4306824" y="4626864"/>
            <a:ext cx="3557016" cy="1417320"/>
          </a:xfrm>
          <a:prstGeom prst="roundRect">
            <a:avLst>
              <a:gd name="adj" fmla="val 9032"/>
            </a:avLst>
          </a:prstGeom>
          <a:solidFill>
            <a:srgbClr val="F7F9FC"/>
          </a:solidFill>
          <a:ln w="12700">
            <a:solidFill>
              <a:srgbClr val="DFE7F1"/>
            </a:solidFill>
            <a:prstDash val="solid"/>
          </a:ln>
        </p:spPr>
        <p:txBody>
          <a:bodyPr/>
          <a:p/>
        </p:txBody>
      </p:sp>
      <p:sp>
        <p:nvSpPr>
          <p:cNvPr id="25" name="Shape 23"/>
          <p:cNvSpPr/>
          <p:nvPr/>
        </p:nvSpPr>
        <p:spPr>
          <a:xfrm>
            <a:off x="4306824" y="4626864"/>
            <a:ext cx="50292" cy="1417320"/>
          </a:xfrm>
          <a:prstGeom prst="rect">
            <a:avLst/>
          </a:prstGeom>
          <a:solidFill>
            <a:srgbClr val="2866F6"/>
          </a:solidFill>
          <a:ln w="12700">
            <a:solidFill>
              <a:srgbClr val="2866F6"/>
            </a:solidFill>
            <a:prstDash val="solid"/>
          </a:ln>
        </p:spPr>
        <p:txBody>
          <a:bodyPr/>
          <a:p/>
        </p:txBody>
      </p:sp>
      <p:sp>
        <p:nvSpPr>
          <p:cNvPr id="26" name="Text 24"/>
          <p:cNvSpPr/>
          <p:nvPr/>
        </p:nvSpPr>
        <p:spPr>
          <a:xfrm>
            <a:off x="4480560" y="4745736"/>
            <a:ext cx="3227832"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Provider verification</a:t>
            </a:r>
            <a:endParaRPr lang="en-US" sz="1340" dirty="0"/>
          </a:p>
        </p:txBody>
      </p:sp>
      <p:sp>
        <p:nvSpPr>
          <p:cNvPr id="27" name="Text 25"/>
          <p:cNvSpPr/>
          <p:nvPr/>
        </p:nvSpPr>
        <p:spPr>
          <a:xfrm>
            <a:off x="4480560" y="5129784"/>
            <a:ext cx="3218688" cy="83210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Inventory verifies that its current API satisfies the contract.</a:t>
            </a:r>
            <a:endParaRPr lang="en-US" sz="1230" dirty="0"/>
          </a:p>
        </p:txBody>
      </p:sp>
      <p:sp>
        <p:nvSpPr>
          <p:cNvPr id="28" name="Shape 26"/>
          <p:cNvSpPr/>
          <p:nvPr/>
        </p:nvSpPr>
        <p:spPr>
          <a:xfrm>
            <a:off x="8010144" y="4626864"/>
            <a:ext cx="3557016" cy="1417320"/>
          </a:xfrm>
          <a:prstGeom prst="roundRect">
            <a:avLst>
              <a:gd name="adj" fmla="val 9032"/>
            </a:avLst>
          </a:prstGeom>
          <a:solidFill>
            <a:srgbClr val="F7F9FC"/>
          </a:solidFill>
          <a:ln w="12700">
            <a:solidFill>
              <a:srgbClr val="DFE7F1"/>
            </a:solidFill>
            <a:prstDash val="solid"/>
          </a:ln>
        </p:spPr>
        <p:txBody>
          <a:bodyPr/>
          <a:p/>
        </p:txBody>
      </p:sp>
      <p:sp>
        <p:nvSpPr>
          <p:cNvPr id="29" name="Shape 27"/>
          <p:cNvSpPr/>
          <p:nvPr/>
        </p:nvSpPr>
        <p:spPr>
          <a:xfrm>
            <a:off x="8010144" y="4626864"/>
            <a:ext cx="50292" cy="1417320"/>
          </a:xfrm>
          <a:prstGeom prst="rect">
            <a:avLst/>
          </a:prstGeom>
          <a:solidFill>
            <a:srgbClr val="2866F6"/>
          </a:solidFill>
          <a:ln w="12700">
            <a:solidFill>
              <a:srgbClr val="2866F6"/>
            </a:solidFill>
            <a:prstDash val="solid"/>
          </a:ln>
        </p:spPr>
        <p:txBody>
          <a:bodyPr/>
          <a:p/>
        </p:txBody>
      </p:sp>
      <p:sp>
        <p:nvSpPr>
          <p:cNvPr id="30" name="Text 28"/>
          <p:cNvSpPr/>
          <p:nvPr/>
        </p:nvSpPr>
        <p:spPr>
          <a:xfrm>
            <a:off x="8183880" y="4745736"/>
            <a:ext cx="3227832"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Safer releases</a:t>
            </a:r>
            <a:endParaRPr lang="en-US" sz="1340" dirty="0"/>
          </a:p>
        </p:txBody>
      </p:sp>
      <p:sp>
        <p:nvSpPr>
          <p:cNvPr id="31" name="Text 29"/>
          <p:cNvSpPr/>
          <p:nvPr/>
        </p:nvSpPr>
        <p:spPr>
          <a:xfrm>
            <a:off x="8183880" y="5129784"/>
            <a:ext cx="3218688" cy="832104"/>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Detect incompatible changes before affected services deploy.</a:t>
            </a:r>
            <a:endParaRPr lang="en-US" sz="123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TESTING</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57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sz="3050" b="1">
                <a:latin typeface="Aptos"/>
              </a:rPr>
              <a:t>Failure tests and controlled release validation</a:t>
            </a:r>
            <a:endParaRPr lang="en-US" sz="280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sz="1400">
                <a:latin typeface="Aptos"/>
              </a:rPr>
              <a:t>Test outages and retries; introduce changes to a limited audience first.</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57</a:t>
            </a:r>
            <a:endParaRPr lang="en-US" sz="850" dirty="0"/>
          </a:p>
        </p:txBody>
      </p:sp>
      <p:sp>
        <p:nvSpPr>
          <p:cNvPr id="12" name="Shape 10"/>
          <p:cNvSpPr/>
          <p:nvPr/>
        </p:nvSpPr>
        <p:spPr>
          <a:xfrm>
            <a:off x="9912096" y="1938528"/>
            <a:ext cx="1737360" cy="274320"/>
          </a:xfrm>
          <a:prstGeom prst="roundRect">
            <a:avLst>
              <a:gd name="adj" fmla="val 40000"/>
            </a:avLst>
          </a:prstGeom>
          <a:solidFill>
            <a:srgbClr val="E7F8F3"/>
          </a:solidFill>
          <a:ln w="12700">
            <a:solidFill>
              <a:srgbClr val="E7F8F3"/>
            </a:solidFill>
            <a:prstDash val="solid"/>
          </a:ln>
        </p:spPr>
        <p:txBody>
          <a:bodyPr/>
          <a:p/>
        </p:txBody>
      </p:sp>
      <p:sp>
        <p:nvSpPr>
          <p:cNvPr id="13" name="Text 11"/>
          <p:cNvSpPr/>
          <p:nvPr/>
        </p:nvSpPr>
        <p:spPr>
          <a:xfrm>
            <a:off x="10012680" y="1965960"/>
            <a:ext cx="1536192" cy="219456"/>
          </a:xfrm>
          <a:prstGeom prst="rect">
            <a:avLst/>
          </a:prstGeom>
          <a:noFill/>
          <a:ln/>
        </p:spPr>
        <p:txBody>
          <a:bodyPr wrap="square" lIns="0" tIns="0" rIns="0" bIns="0" rtlCol="0" anchor="ctr">
            <a:normAutofit/>
          </a:bodyPr>
          <a:lstStyle/>
          <a:p>
            <a:pPr algn="l" indent="0" marL="0">
              <a:buNone/>
            </a:pPr>
            <a:r>
              <a:rPr sz="1000" b="1">
                <a:solidFill>
                  <a:srgbClr val="008F83"/>
                </a:solidFill>
                <a:latin typeface="Aptos"/>
              </a:rPr>
              <a:t>SOLUTION V</a:t>
            </a:r>
            <a:endParaRPr lang="en-US" sz="1000" dirty="0"/>
          </a:p>
        </p:txBody>
      </p:sp>
      <p:sp>
        <p:nvSpPr>
          <p:cNvPr id="14" name="Shape 12"/>
          <p:cNvSpPr/>
          <p:nvPr/>
        </p:nvSpPr>
        <p:spPr>
          <a:xfrm>
            <a:off x="585216" y="2423160"/>
            <a:ext cx="3569208" cy="2121408"/>
          </a:xfrm>
          <a:prstGeom prst="roundRect">
            <a:avLst>
              <a:gd name="adj" fmla="val 6034"/>
            </a:avLst>
          </a:prstGeom>
          <a:solidFill>
            <a:srgbClr val="F7F9FC"/>
          </a:solidFill>
          <a:ln w="12700">
            <a:solidFill>
              <a:srgbClr val="DFE7F1"/>
            </a:solidFill>
            <a:prstDash val="solid"/>
          </a:ln>
        </p:spPr>
        <p:txBody>
          <a:bodyPr/>
          <a:p/>
        </p:txBody>
      </p:sp>
      <p:sp>
        <p:nvSpPr>
          <p:cNvPr id="15" name="Shape 13"/>
          <p:cNvSpPr/>
          <p:nvPr/>
        </p:nvSpPr>
        <p:spPr>
          <a:xfrm>
            <a:off x="585216" y="2423160"/>
            <a:ext cx="50292" cy="2121408"/>
          </a:xfrm>
          <a:prstGeom prst="rect">
            <a:avLst/>
          </a:prstGeom>
          <a:solidFill>
            <a:srgbClr val="2866F6"/>
          </a:solidFill>
          <a:ln w="12700">
            <a:solidFill>
              <a:srgbClr val="2866F6"/>
            </a:solidFill>
            <a:prstDash val="solid"/>
          </a:ln>
        </p:spPr>
        <p:txBody>
          <a:bodyPr/>
          <a:p/>
        </p:txBody>
      </p:sp>
      <p:sp>
        <p:nvSpPr>
          <p:cNvPr id="16" name="Text 14"/>
          <p:cNvSpPr/>
          <p:nvPr/>
        </p:nvSpPr>
        <p:spPr>
          <a:xfrm>
            <a:off x="758952" y="2542032"/>
            <a:ext cx="324002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FAILURE TESTS</a:t>
            </a:r>
            <a:endParaRPr lang="en-US" sz="1340" dirty="0"/>
          </a:p>
        </p:txBody>
      </p:sp>
      <p:sp>
        <p:nvSpPr>
          <p:cNvPr id="17" name="Text 15"/>
          <p:cNvSpPr/>
          <p:nvPr/>
        </p:nvSpPr>
        <p:spPr>
          <a:xfrm>
            <a:off x="758952" y="2926080"/>
            <a:ext cx="3230880" cy="153619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Stop a dependency; verify timeouts, safe retries, error states and recovery.</a:t>
            </a:r>
            <a:endParaRPr lang="en-US" sz="1230" dirty="0"/>
          </a:p>
        </p:txBody>
      </p:sp>
      <p:sp>
        <p:nvSpPr>
          <p:cNvPr id="18" name="Shape 16"/>
          <p:cNvSpPr/>
          <p:nvPr/>
        </p:nvSpPr>
        <p:spPr>
          <a:xfrm>
            <a:off x="4300728" y="2423160"/>
            <a:ext cx="3569208" cy="2121408"/>
          </a:xfrm>
          <a:prstGeom prst="roundRect">
            <a:avLst>
              <a:gd name="adj" fmla="val 6034"/>
            </a:avLst>
          </a:prstGeom>
          <a:solidFill>
            <a:srgbClr val="F7F9FC"/>
          </a:solidFill>
          <a:ln w="12700">
            <a:solidFill>
              <a:srgbClr val="DFE7F1"/>
            </a:solidFill>
            <a:prstDash val="solid"/>
          </a:ln>
        </p:spPr>
        <p:txBody>
          <a:bodyPr/>
          <a:p/>
        </p:txBody>
      </p:sp>
      <p:sp>
        <p:nvSpPr>
          <p:cNvPr id="19" name="Shape 17"/>
          <p:cNvSpPr/>
          <p:nvPr/>
        </p:nvSpPr>
        <p:spPr>
          <a:xfrm>
            <a:off x="4300728" y="2423160"/>
            <a:ext cx="50292" cy="2121408"/>
          </a:xfrm>
          <a:prstGeom prst="rect">
            <a:avLst/>
          </a:prstGeom>
          <a:solidFill>
            <a:srgbClr val="2866F6"/>
          </a:solidFill>
          <a:ln w="12700">
            <a:solidFill>
              <a:srgbClr val="2866F6"/>
            </a:solidFill>
            <a:prstDash val="solid"/>
          </a:ln>
        </p:spPr>
        <p:txBody>
          <a:bodyPr/>
          <a:p/>
        </p:txBody>
      </p:sp>
      <p:sp>
        <p:nvSpPr>
          <p:cNvPr id="20" name="Text 18"/>
          <p:cNvSpPr/>
          <p:nvPr/>
        </p:nvSpPr>
        <p:spPr>
          <a:xfrm>
            <a:off x="4474464" y="2542032"/>
            <a:ext cx="324002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FEATURE FLAGS</a:t>
            </a:r>
            <a:endParaRPr lang="en-US" sz="1340" dirty="0"/>
          </a:p>
        </p:txBody>
      </p:sp>
      <p:sp>
        <p:nvSpPr>
          <p:cNvPr id="21" name="Text 19"/>
          <p:cNvSpPr/>
          <p:nvPr/>
        </p:nvSpPr>
        <p:spPr>
          <a:xfrm>
            <a:off x="4474464" y="2926080"/>
            <a:ext cx="3230880" cy="153619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Enable a new feature for selected users without a full redeploy.</a:t>
            </a:r>
            <a:endParaRPr lang="en-US" sz="1230" dirty="0"/>
          </a:p>
        </p:txBody>
      </p:sp>
      <p:sp>
        <p:nvSpPr>
          <p:cNvPr id="22" name="Shape 20"/>
          <p:cNvSpPr/>
          <p:nvPr/>
        </p:nvSpPr>
        <p:spPr>
          <a:xfrm>
            <a:off x="8016240" y="2423160"/>
            <a:ext cx="3569208" cy="2121408"/>
          </a:xfrm>
          <a:prstGeom prst="roundRect">
            <a:avLst>
              <a:gd name="adj" fmla="val 6034"/>
            </a:avLst>
          </a:prstGeom>
          <a:solidFill>
            <a:srgbClr val="F7F9FC"/>
          </a:solidFill>
          <a:ln w="12700">
            <a:solidFill>
              <a:srgbClr val="DFE7F1"/>
            </a:solidFill>
            <a:prstDash val="solid"/>
          </a:ln>
        </p:spPr>
        <p:txBody>
          <a:bodyPr/>
          <a:p/>
        </p:txBody>
      </p:sp>
      <p:sp>
        <p:nvSpPr>
          <p:cNvPr id="23" name="Shape 21"/>
          <p:cNvSpPr/>
          <p:nvPr/>
        </p:nvSpPr>
        <p:spPr>
          <a:xfrm>
            <a:off x="8016240" y="2423160"/>
            <a:ext cx="50292" cy="2121408"/>
          </a:xfrm>
          <a:prstGeom prst="rect">
            <a:avLst/>
          </a:prstGeom>
          <a:solidFill>
            <a:srgbClr val="2866F6"/>
          </a:solidFill>
          <a:ln w="12700">
            <a:solidFill>
              <a:srgbClr val="2866F6"/>
            </a:solidFill>
            <a:prstDash val="solid"/>
          </a:ln>
        </p:spPr>
        <p:txBody>
          <a:bodyPr/>
          <a:p/>
        </p:txBody>
      </p:sp>
      <p:sp>
        <p:nvSpPr>
          <p:cNvPr id="24" name="Text 22"/>
          <p:cNvSpPr/>
          <p:nvPr/>
        </p:nvSpPr>
        <p:spPr>
          <a:xfrm>
            <a:off x="8189976" y="2542032"/>
            <a:ext cx="3240024" cy="301752"/>
          </a:xfrm>
          <a:prstGeom prst="rect">
            <a:avLst/>
          </a:prstGeom>
          <a:noFill/>
          <a:ln/>
        </p:spPr>
        <p:txBody>
          <a:bodyPr wrap="square" lIns="0" tIns="0" rIns="0" bIns="0" rtlCol="0" anchor="ctr">
            <a:normAutofit/>
          </a:bodyPr>
          <a:lstStyle/>
          <a:p>
            <a:pPr algn="l" indent="0" marL="0">
              <a:buNone/>
            </a:pPr>
            <a:r>
              <a:rPr lang="en-US" sz="1340" b="1" dirty="0">
                <a:solidFill>
                  <a:srgbClr val="122239"/>
                </a:solidFill>
                <a:latin typeface="Aptos" pitchFamily="34" charset="0"/>
                <a:ea typeface="Aptos" pitchFamily="34" charset="-122"/>
                <a:cs typeface="Aptos" pitchFamily="34" charset="-120"/>
              </a:rPr>
              <a:t>CANARY VALIDATION</a:t>
            </a:r>
            <a:endParaRPr lang="en-US" sz="1340" dirty="0"/>
          </a:p>
        </p:txBody>
      </p:sp>
      <p:sp>
        <p:nvSpPr>
          <p:cNvPr id="25" name="Text 23"/>
          <p:cNvSpPr/>
          <p:nvPr/>
        </p:nvSpPr>
        <p:spPr>
          <a:xfrm>
            <a:off x="8189976" y="2926080"/>
            <a:ext cx="3230880" cy="1536192"/>
          </a:xfrm>
          <a:prstGeom prst="rect">
            <a:avLst/>
          </a:prstGeom>
          <a:noFill/>
          <a:ln/>
        </p:spPr>
        <p:txBody>
          <a:bodyPr wrap="square" lIns="0" tIns="0" rIns="0" bIns="0" rtlCol="0" anchor="ctr">
            <a:normAutofit/>
          </a:bodyPr>
          <a:lstStyle/>
          <a:p>
            <a:pPr algn="l" indent="0" marL="0">
              <a:buNone/>
            </a:pPr>
            <a:r>
              <a:rPr lang="en-US" sz="1230" dirty="0">
                <a:solidFill>
                  <a:srgbClr val="354862"/>
                </a:solidFill>
                <a:latin typeface="Aptos" pitchFamily="34" charset="0"/>
                <a:ea typeface="Aptos" pitchFamily="34" charset="-122"/>
                <a:cs typeface="Aptos" pitchFamily="34" charset="-120"/>
              </a:rPr>
              <a:t>Check real error and business outcomes before expanding exposure.</a:t>
            </a:r>
            <a:endParaRPr lang="en-US" sz="1230" dirty="0"/>
          </a:p>
        </p:txBody>
      </p:sp>
      <p:sp>
        <p:nvSpPr>
          <p:cNvPr id="26" name="Shape 24"/>
          <p:cNvSpPr/>
          <p:nvPr/>
        </p:nvSpPr>
        <p:spPr>
          <a:xfrm>
            <a:off x="658368" y="5010912"/>
            <a:ext cx="10872216" cy="722376"/>
          </a:xfrm>
          <a:prstGeom prst="roundRect">
            <a:avLst>
              <a:gd name="adj" fmla="val 16456"/>
            </a:avLst>
          </a:prstGeom>
          <a:solidFill>
            <a:srgbClr val="E7F8F3"/>
          </a:solidFill>
          <a:ln w="12700">
            <a:solidFill>
              <a:srgbClr val="B4E6DD"/>
            </a:solidFill>
            <a:prstDash val="solid"/>
          </a:ln>
        </p:spPr>
        <p:txBody>
          <a:bodyPr/>
          <a:p/>
        </p:txBody>
      </p:sp>
      <p:sp>
        <p:nvSpPr>
          <p:cNvPr id="27" name="Text 25"/>
          <p:cNvSpPr/>
          <p:nvPr/>
        </p:nvSpPr>
        <p:spPr>
          <a:xfrm>
            <a:off x="886968" y="5248656"/>
            <a:ext cx="10296144" cy="228600"/>
          </a:xfrm>
          <a:prstGeom prst="rect">
            <a:avLst/>
          </a:prstGeom>
          <a:noFill/>
          <a:ln/>
        </p:spPr>
        <p:txBody>
          <a:bodyPr wrap="square" lIns="0" tIns="0" rIns="0" bIns="0" rtlCol="0" anchor="ctr">
            <a:normAutofit/>
          </a:bodyPr>
          <a:lstStyle/>
          <a:p>
            <a:pPr algn="ctr" indent="0" marL="0">
              <a:buNone/>
            </a:pPr>
            <a:r>
              <a:rPr lang="en-US" sz="1600" b="1" dirty="0">
                <a:solidFill>
                  <a:srgbClr val="008F83"/>
                </a:solidFill>
                <a:latin typeface="Aptos" pitchFamily="34" charset="0"/>
                <a:ea typeface="Aptos" pitchFamily="34" charset="-122"/>
                <a:cs typeface="Aptos" pitchFamily="34" charset="-120"/>
              </a:rPr>
              <a:t>Test the failure mode you designed for, not only the success path.</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512064" y="310896"/>
            <a:ext cx="91440" cy="91440"/>
          </a:xfrm>
          <a:prstGeom prst="ellipse">
            <a:avLst/>
          </a:prstGeom>
          <a:solidFill>
            <a:srgbClr val="2866F6"/>
          </a:solidFill>
          <a:ln w="12700">
            <a:solidFill>
              <a:srgbClr val="2866F6"/>
            </a:solidFill>
            <a:prstDash val="solid"/>
          </a:ln>
        </p:spPr>
        <p:txBody>
          <a:bodyPr/>
          <a:p/>
        </p:txBody>
      </p:sp>
      <p:sp>
        <p:nvSpPr>
          <p:cNvPr id="4" name="Text 2"/>
          <p:cNvSpPr/>
          <p:nvPr/>
        </p:nvSpPr>
        <p:spPr>
          <a:xfrm>
            <a:off x="704088" y="260604"/>
            <a:ext cx="9144000" cy="210312"/>
          </a:xfrm>
          <a:prstGeom prst="rect">
            <a:avLst/>
          </a:prstGeom>
          <a:noFill/>
          <a:ln/>
        </p:spPr>
        <p:txBody>
          <a:bodyPr wrap="square" lIns="0" tIns="0" rIns="0" bIns="0" rtlCol="0" anchor="ctr">
            <a:normAutofit/>
          </a:bodyPr>
          <a:lstStyle/>
          <a:p>
            <a:pPr algn="l" indent="0" marL="0">
              <a:buNone/>
            </a:pPr>
            <a:r>
              <a:rPr lang="en-US" sz="1000" b="1" dirty="0">
                <a:solidFill>
                  <a:srgbClr val="2866F6"/>
                </a:solidFill>
                <a:latin typeface="Aptos" pitchFamily="34" charset="0"/>
                <a:ea typeface="Aptos" pitchFamily="34" charset="-122"/>
                <a:cs typeface="Aptos" pitchFamily="34" charset="-120"/>
              </a:rPr>
              <a:t>TAKEAWAYS</a:t>
            </a:r>
            <a:endParaRPr lang="en-US" sz="1000" dirty="0"/>
          </a:p>
        </p:txBody>
      </p:sp>
      <p:sp>
        <p:nvSpPr>
          <p:cNvPr id="5" name="Text 3"/>
          <p:cNvSpPr/>
          <p:nvPr/>
        </p:nvSpPr>
        <p:spPr>
          <a:xfrm>
            <a:off x="10332720" y="265176"/>
            <a:ext cx="1325880" cy="201168"/>
          </a:xfrm>
          <a:prstGeom prst="rect">
            <a:avLst/>
          </a:prstGeom>
          <a:noFill/>
          <a:ln/>
        </p:spPr>
        <p:txBody>
          <a:bodyPr wrap="square" lIns="0" tIns="0" rIns="0" bIns="0" rtlCol="0" anchor="ctr">
            <a:normAutofit/>
          </a:bodyPr>
          <a:lstStyle/>
          <a:p>
            <a:pPr algn="r" indent="0" marL="0">
              <a:buNone/>
            </a:pPr>
            <a:r>
              <a:rPr sz="880">
                <a:solidFill>
                  <a:srgbClr val="64748B"/>
                </a:solidFill>
                <a:latin typeface="Aptos"/>
              </a:rPr>
              <a:t>58  /  59</a:t>
            </a:r>
            <a:endParaRPr lang="en-US" sz="880" dirty="0"/>
          </a:p>
        </p:txBody>
      </p:sp>
      <p:sp>
        <p:nvSpPr>
          <p:cNvPr id="6" name="Text 4"/>
          <p:cNvSpPr/>
          <p:nvPr/>
        </p:nvSpPr>
        <p:spPr>
          <a:xfrm>
            <a:off x="530352" y="640080"/>
            <a:ext cx="11109960" cy="530352"/>
          </a:xfrm>
          <a:prstGeom prst="rect">
            <a:avLst/>
          </a:prstGeom>
          <a:noFill/>
          <a:ln/>
        </p:spPr>
        <p:txBody>
          <a:bodyPr wrap="square" lIns="0" tIns="0" rIns="0" bIns="0" rtlCol="0" anchor="ctr">
            <a:normAutofit/>
          </a:bodyPr>
          <a:lstStyle/>
          <a:p>
            <a:pPr algn="l" indent="0" marL="0">
              <a:buNone/>
            </a:pPr>
            <a:r>
              <a:rPr lang="en-US" sz="3050" b="1" dirty="0">
                <a:solidFill>
                  <a:srgbClr val="122239"/>
                </a:solidFill>
                <a:latin typeface="Aptos" pitchFamily="34" charset="0"/>
                <a:ea typeface="Aptos" pitchFamily="34" charset="-122"/>
                <a:cs typeface="Aptos" pitchFamily="34" charset="-120"/>
              </a:rPr>
              <a:t>Distributed systems are engineering trade-offs</a:t>
            </a:r>
            <a:endParaRPr lang="en-US" sz="3050" dirty="0"/>
          </a:p>
        </p:txBody>
      </p:sp>
      <p:sp>
        <p:nvSpPr>
          <p:cNvPr id="7" name="Text 5"/>
          <p:cNvSpPr/>
          <p:nvPr/>
        </p:nvSpPr>
        <p:spPr>
          <a:xfrm>
            <a:off x="548640" y="1298448"/>
            <a:ext cx="11045952" cy="310896"/>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Each solution controls a failure mode and introduces costs of its own.</a:t>
            </a:r>
            <a:endParaRPr lang="en-US" sz="1400" dirty="0"/>
          </a:p>
        </p:txBody>
      </p:sp>
      <p:sp>
        <p:nvSpPr>
          <p:cNvPr id="8" name="Shape 6"/>
          <p:cNvSpPr/>
          <p:nvPr/>
        </p:nvSpPr>
        <p:spPr>
          <a:xfrm>
            <a:off x="530352" y="1773936"/>
            <a:ext cx="11155680" cy="0"/>
          </a:xfrm>
          <a:prstGeom prst="line">
            <a:avLst/>
          </a:prstGeom>
          <a:noFill/>
          <a:ln w="12700">
            <a:solidFill>
              <a:srgbClr val="DFE7F1"/>
            </a:solidFill>
            <a:prstDash val="solid"/>
            <a:headEnd type="none"/>
            <a:tailEnd type="none"/>
          </a:ln>
        </p:spPr>
        <p:txBody>
          <a:bodyPr/>
          <a:p/>
        </p:txBody>
      </p:sp>
      <p:sp>
        <p:nvSpPr>
          <p:cNvPr id="9" name="Shape 7"/>
          <p:cNvSpPr/>
          <p:nvPr/>
        </p:nvSpPr>
        <p:spPr>
          <a:xfrm>
            <a:off x="530352" y="6556248"/>
            <a:ext cx="11155680" cy="0"/>
          </a:xfrm>
          <a:prstGeom prst="line">
            <a:avLst/>
          </a:prstGeom>
          <a:noFill/>
          <a:ln w="12700">
            <a:solidFill>
              <a:srgbClr val="DFE7F1"/>
            </a:solidFill>
            <a:prstDash val="solid"/>
            <a:headEnd type="none"/>
            <a:tailEnd type="none"/>
          </a:ln>
        </p:spPr>
        <p:txBody>
          <a:bodyPr/>
          <a:p/>
        </p:txBody>
      </p:sp>
      <p:sp>
        <p:nvSpPr>
          <p:cNvPr id="10" name="Text 8"/>
          <p:cNvSpPr/>
          <p:nvPr/>
        </p:nvSpPr>
        <p:spPr>
          <a:xfrm>
            <a:off x="539496" y="6629400"/>
            <a:ext cx="8503920" cy="109728"/>
          </a:xfrm>
          <a:prstGeom prst="rect">
            <a:avLst/>
          </a:prstGeom>
          <a:noFill/>
          <a:ln/>
        </p:spPr>
        <p:txBody>
          <a:bodyPr wrap="square" lIns="0" tIns="0" rIns="0" bIns="0" rtlCol="0" anchor="ctr">
            <a:normAutofit/>
          </a:bodyPr>
          <a:lstStyle/>
          <a:p>
            <a:pPr algn="l" indent="0" marL="0">
              <a:buNone/>
            </a:pPr>
            <a:r>
              <a:rPr sz="770" b="1">
                <a:solidFill>
                  <a:srgbClr val="64748B"/>
                </a:solidFill>
                <a:latin typeface="Aptos"/>
              </a:rPr>
              <a:t>DEV WEEKENDS   /   BEYOND MICROSERVICES: REAL ENGINEERING CHALLENGES</a:t>
            </a:r>
            <a:endParaRPr lang="en-US" sz="800" dirty="0"/>
          </a:p>
        </p:txBody>
      </p:sp>
      <p:sp>
        <p:nvSpPr>
          <p:cNvPr id="11" name="Text 9"/>
          <p:cNvSpPr/>
          <p:nvPr/>
        </p:nvSpPr>
        <p:spPr>
          <a:xfrm>
            <a:off x="11201400" y="6611112"/>
            <a:ext cx="466344" cy="146304"/>
          </a:xfrm>
          <a:prstGeom prst="rect">
            <a:avLst/>
          </a:prstGeom>
          <a:noFill/>
          <a:ln/>
        </p:spPr>
        <p:txBody>
          <a:bodyPr wrap="square" lIns="0" tIns="0" rIns="0" bIns="0" rtlCol="0" anchor="ctr">
            <a:normAutofit/>
          </a:bodyPr>
          <a:lstStyle/>
          <a:p>
            <a:pPr algn="r" indent="0" marL="0">
              <a:buNone/>
            </a:pPr>
            <a:r>
              <a:rPr sz="900">
                <a:solidFill>
                  <a:srgbClr val="64748B"/>
                </a:solidFill>
                <a:latin typeface="Aptos"/>
              </a:rPr>
              <a:t>58</a:t>
            </a:r>
            <a:endParaRPr lang="en-US" sz="850" dirty="0"/>
          </a:p>
        </p:txBody>
      </p:sp>
      <p:sp>
        <p:nvSpPr>
          <p:cNvPr id="12" name="Shape 10"/>
          <p:cNvSpPr/>
          <p:nvPr/>
        </p:nvSpPr>
        <p:spPr>
          <a:xfrm>
            <a:off x="667512" y="2130552"/>
            <a:ext cx="10771632" cy="557784"/>
          </a:xfrm>
          <a:prstGeom prst="roundRect">
            <a:avLst>
              <a:gd name="adj" fmla="val 21311"/>
            </a:avLst>
          </a:prstGeom>
          <a:solidFill>
            <a:srgbClr val="F7F9FC"/>
          </a:solidFill>
          <a:ln w="12700">
            <a:solidFill>
              <a:srgbClr val="DFE7F1"/>
            </a:solidFill>
            <a:prstDash val="solid"/>
          </a:ln>
        </p:spPr>
        <p:txBody>
          <a:bodyPr/>
          <a:p/>
        </p:txBody>
      </p:sp>
      <p:sp>
        <p:nvSpPr>
          <p:cNvPr id="13" name="Text 11"/>
          <p:cNvSpPr/>
          <p:nvPr/>
        </p:nvSpPr>
        <p:spPr>
          <a:xfrm>
            <a:off x="832104" y="2276856"/>
            <a:ext cx="484632" cy="201168"/>
          </a:xfrm>
          <a:prstGeom prst="rect">
            <a:avLst/>
          </a:prstGeom>
          <a:noFill/>
          <a:ln/>
        </p:spPr>
        <p:txBody>
          <a:bodyPr wrap="square" lIns="0" tIns="0" rIns="0" bIns="0" rtlCol="0" anchor="ctr">
            <a:normAutofit/>
          </a:bodyPr>
          <a:lstStyle/>
          <a:p>
            <a:pPr algn="l" indent="0" marL="0">
              <a:buNone/>
            </a:pPr>
            <a:r>
              <a:rPr lang="en-US" sz="1100" b="1" dirty="0">
                <a:solidFill>
                  <a:srgbClr val="2866F6"/>
                </a:solidFill>
                <a:latin typeface="Aptos" pitchFamily="34" charset="0"/>
                <a:ea typeface="Aptos" pitchFamily="34" charset="-122"/>
                <a:cs typeface="Aptos" pitchFamily="34" charset="-120"/>
              </a:rPr>
              <a:t>01</a:t>
            </a:r>
            <a:endParaRPr lang="en-US" sz="1100" dirty="0"/>
          </a:p>
        </p:txBody>
      </p:sp>
      <p:sp>
        <p:nvSpPr>
          <p:cNvPr id="14" name="Text 12"/>
          <p:cNvSpPr/>
          <p:nvPr/>
        </p:nvSpPr>
        <p:spPr>
          <a:xfrm>
            <a:off x="1380744" y="2240280"/>
            <a:ext cx="2935224" cy="292608"/>
          </a:xfrm>
          <a:prstGeom prst="rect">
            <a:avLst/>
          </a:prstGeom>
          <a:noFill/>
          <a:ln/>
        </p:spPr>
        <p:txBody>
          <a:bodyPr wrap="square" lIns="0" tIns="0" rIns="0" bIns="0" rtlCol="0" anchor="ctr">
            <a:normAutofit/>
          </a:bodyPr>
          <a:lstStyle/>
          <a:p>
            <a:pPr algn="l" indent="0" marL="0">
              <a:buNone/>
            </a:pPr>
            <a:r>
              <a:rPr lang="en-US" sz="1300" b="1" dirty="0">
                <a:solidFill>
                  <a:srgbClr val="122239"/>
                </a:solidFill>
                <a:latin typeface="Aptos" pitchFamily="34" charset="0"/>
                <a:ea typeface="Aptos" pitchFamily="34" charset="-122"/>
                <a:cs typeface="Aptos" pitchFamily="34" charset="-120"/>
              </a:rPr>
              <a:t>COMMUNICATION</a:t>
            </a:r>
            <a:endParaRPr lang="en-US" sz="1300" dirty="0"/>
          </a:p>
        </p:txBody>
      </p:sp>
      <p:sp>
        <p:nvSpPr>
          <p:cNvPr id="15" name="Text 13"/>
          <p:cNvSpPr/>
          <p:nvPr/>
        </p:nvSpPr>
        <p:spPr>
          <a:xfrm>
            <a:off x="4315968" y="2231136"/>
            <a:ext cx="6848856" cy="292608"/>
          </a:xfrm>
          <a:prstGeom prst="rect">
            <a:avLst/>
          </a:prstGeom>
          <a:noFill/>
          <a:ln/>
        </p:spPr>
        <p:txBody>
          <a:bodyPr wrap="square" lIns="0" tIns="0" rIns="0" bIns="0" rtlCol="0" anchor="ctr">
            <a:normAutofit/>
          </a:bodyPr>
          <a:lstStyle/>
          <a:p>
            <a:pPr algn="l" indent="0" marL="0">
              <a:buNone/>
            </a:pPr>
            <a:r>
              <a:rPr lang="en-US" sz="1400" dirty="0">
                <a:solidFill>
                  <a:srgbClr val="354862"/>
                </a:solidFill>
                <a:latin typeface="Aptos" pitchFamily="34" charset="0"/>
                <a:ea typeface="Aptos" pitchFamily="34" charset="-122"/>
                <a:cs typeface="Aptos" pitchFamily="34" charset="-120"/>
              </a:rPr>
              <a:t>Every network call introduces uncertainty.</a:t>
            </a:r>
            <a:endParaRPr lang="en-US" sz="1400" dirty="0"/>
          </a:p>
        </p:txBody>
      </p:sp>
      <p:sp>
        <p:nvSpPr>
          <p:cNvPr id="16" name="Shape 14"/>
          <p:cNvSpPr/>
          <p:nvPr/>
        </p:nvSpPr>
        <p:spPr>
          <a:xfrm>
            <a:off x="667512" y="2816352"/>
            <a:ext cx="10771632" cy="557784"/>
          </a:xfrm>
          <a:prstGeom prst="roundRect">
            <a:avLst>
              <a:gd name="adj" fmla="val 21311"/>
            </a:avLst>
          </a:prstGeom>
          <a:solidFill>
            <a:srgbClr val="FFFFFF"/>
          </a:solidFill>
          <a:ln w="12700">
            <a:solidFill>
              <a:srgbClr val="DFE7F1"/>
            </a:solidFill>
            <a:prstDash val="solid"/>
          </a:ln>
        </p:spPr>
        <p:txBody>
          <a:bodyPr/>
          <a:p/>
        </p:txBody>
      </p:sp>
      <p:sp>
        <p:nvSpPr>
          <p:cNvPr id="17" name="Text 15"/>
          <p:cNvSpPr/>
          <p:nvPr/>
        </p:nvSpPr>
        <p:spPr>
          <a:xfrm>
            <a:off x="832104" y="2962656"/>
            <a:ext cx="484632" cy="201168"/>
          </a:xfrm>
          <a:prstGeom prst="rect">
            <a:avLst/>
          </a:prstGeom>
          <a:noFill/>
          <a:ln/>
        </p:spPr>
        <p:txBody>
          <a:bodyPr wrap="square" lIns="0" tIns="0" rIns="0" bIns="0" rtlCol="0" anchor="ctr">
            <a:normAutofit/>
          </a:bodyPr>
          <a:lstStyle/>
          <a:p>
            <a:pPr algn="l" indent="0" marL="0">
              <a:buNone/>
            </a:pPr>
            <a:r>
              <a:rPr lang="en-US" sz="1100" b="1" dirty="0">
                <a:solidFill>
                  <a:srgbClr val="2866F6"/>
                </a:solidFill>
                <a:latin typeface="Aptos" pitchFamily="34" charset="0"/>
                <a:ea typeface="Aptos" pitchFamily="34" charset="-122"/>
                <a:cs typeface="Aptos" pitchFamily="34" charset="-120"/>
              </a:rPr>
              <a:t>02</a:t>
            </a:r>
            <a:endParaRPr lang="en-US" sz="1100" dirty="0"/>
          </a:p>
        </p:txBody>
      </p:sp>
      <p:sp>
        <p:nvSpPr>
          <p:cNvPr id="18" name="Text 16"/>
          <p:cNvSpPr/>
          <p:nvPr/>
        </p:nvSpPr>
        <p:spPr>
          <a:xfrm>
            <a:off x="1380744" y="2926080"/>
            <a:ext cx="2935224" cy="292608"/>
          </a:xfrm>
          <a:prstGeom prst="rect">
            <a:avLst/>
          </a:prstGeom>
          <a:noFill/>
          <a:ln/>
        </p:spPr>
        <p:txBody>
          <a:bodyPr wrap="square" lIns="0" tIns="0" rIns="0" bIns="0" rtlCol="0" anchor="ctr">
            <a:normAutofit/>
          </a:bodyPr>
          <a:lstStyle/>
          <a:p>
            <a:pPr algn="l" indent="0" marL="0">
              <a:buNone/>
            </a:pPr>
            <a:r>
              <a:rPr lang="en-US" sz="1300" b="1" dirty="0">
                <a:solidFill>
                  <a:srgbClr val="122239"/>
                </a:solidFill>
                <a:latin typeface="Aptos" pitchFamily="34" charset="0"/>
                <a:ea typeface="Aptos" pitchFamily="34" charset="-122"/>
                <a:cs typeface="Aptos" pitchFamily="34" charset="-120"/>
              </a:rPr>
              <a:t>DATA</a:t>
            </a:r>
            <a:endParaRPr lang="en-US" sz="1300" dirty="0"/>
          </a:p>
        </p:txBody>
      </p:sp>
      <p:sp>
        <p:nvSpPr>
          <p:cNvPr id="19" name="Text 17"/>
          <p:cNvSpPr/>
          <p:nvPr/>
        </p:nvSpPr>
        <p:spPr>
          <a:xfrm>
            <a:off x="4315968" y="2916936"/>
            <a:ext cx="6848856" cy="292608"/>
          </a:xfrm>
          <a:prstGeom prst="rect">
            <a:avLst/>
          </a:prstGeom>
          <a:noFill/>
          <a:ln/>
        </p:spPr>
        <p:txBody>
          <a:bodyPr wrap="square" lIns="0" tIns="0" rIns="0" bIns="0" rtlCol="0" anchor="ctr">
            <a:normAutofit/>
          </a:bodyPr>
          <a:lstStyle/>
          <a:p>
            <a:pPr algn="l" indent="0" marL="0">
              <a:buNone/>
            </a:pPr>
            <a:r>
              <a:rPr lang="en-US" sz="1400" dirty="0">
                <a:solidFill>
                  <a:srgbClr val="354862"/>
                </a:solidFill>
                <a:latin typeface="Aptos" pitchFamily="34" charset="0"/>
                <a:ea typeface="Aptos" pitchFamily="34" charset="-122"/>
                <a:cs typeface="Aptos" pitchFamily="34" charset="-120"/>
              </a:rPr>
              <a:t>Local success does not imply global correctness.</a:t>
            </a:r>
            <a:endParaRPr lang="en-US" sz="1400" dirty="0"/>
          </a:p>
        </p:txBody>
      </p:sp>
      <p:sp>
        <p:nvSpPr>
          <p:cNvPr id="20" name="Shape 18"/>
          <p:cNvSpPr/>
          <p:nvPr/>
        </p:nvSpPr>
        <p:spPr>
          <a:xfrm>
            <a:off x="667512" y="3502152"/>
            <a:ext cx="10771632" cy="557784"/>
          </a:xfrm>
          <a:prstGeom prst="roundRect">
            <a:avLst>
              <a:gd name="adj" fmla="val 21311"/>
            </a:avLst>
          </a:prstGeom>
          <a:solidFill>
            <a:srgbClr val="F7F9FC"/>
          </a:solidFill>
          <a:ln w="12700">
            <a:solidFill>
              <a:srgbClr val="DFE7F1"/>
            </a:solidFill>
            <a:prstDash val="solid"/>
          </a:ln>
        </p:spPr>
        <p:txBody>
          <a:bodyPr/>
          <a:p/>
        </p:txBody>
      </p:sp>
      <p:sp>
        <p:nvSpPr>
          <p:cNvPr id="21" name="Text 19"/>
          <p:cNvSpPr/>
          <p:nvPr/>
        </p:nvSpPr>
        <p:spPr>
          <a:xfrm>
            <a:off x="832104" y="3648456"/>
            <a:ext cx="484632" cy="201168"/>
          </a:xfrm>
          <a:prstGeom prst="rect">
            <a:avLst/>
          </a:prstGeom>
          <a:noFill/>
          <a:ln/>
        </p:spPr>
        <p:txBody>
          <a:bodyPr wrap="square" lIns="0" tIns="0" rIns="0" bIns="0" rtlCol="0" anchor="ctr">
            <a:normAutofit/>
          </a:bodyPr>
          <a:lstStyle/>
          <a:p>
            <a:pPr algn="l" indent="0" marL="0">
              <a:buNone/>
            </a:pPr>
            <a:r>
              <a:rPr lang="en-US" sz="1100" b="1" dirty="0">
                <a:solidFill>
                  <a:srgbClr val="2866F6"/>
                </a:solidFill>
                <a:latin typeface="Aptos" pitchFamily="34" charset="0"/>
                <a:ea typeface="Aptos" pitchFamily="34" charset="-122"/>
                <a:cs typeface="Aptos" pitchFamily="34" charset="-120"/>
              </a:rPr>
              <a:t>03</a:t>
            </a:r>
            <a:endParaRPr lang="en-US" sz="1100" dirty="0"/>
          </a:p>
        </p:txBody>
      </p:sp>
      <p:sp>
        <p:nvSpPr>
          <p:cNvPr id="22" name="Text 20"/>
          <p:cNvSpPr/>
          <p:nvPr/>
        </p:nvSpPr>
        <p:spPr>
          <a:xfrm>
            <a:off x="1380744" y="3611880"/>
            <a:ext cx="2935224" cy="292608"/>
          </a:xfrm>
          <a:prstGeom prst="rect">
            <a:avLst/>
          </a:prstGeom>
          <a:noFill/>
          <a:ln/>
        </p:spPr>
        <p:txBody>
          <a:bodyPr wrap="square" lIns="0" tIns="0" rIns="0" bIns="0" rtlCol="0" anchor="ctr">
            <a:normAutofit/>
          </a:bodyPr>
          <a:lstStyle/>
          <a:p>
            <a:pPr algn="l" indent="0" marL="0">
              <a:buNone/>
            </a:pPr>
            <a:r>
              <a:rPr lang="en-US" sz="1300" b="1" dirty="0">
                <a:solidFill>
                  <a:srgbClr val="122239"/>
                </a:solidFill>
                <a:latin typeface="Aptos" pitchFamily="34" charset="0"/>
                <a:ea typeface="Aptos" pitchFamily="34" charset="-122"/>
                <a:cs typeface="Aptos" pitchFamily="34" charset="-120"/>
              </a:rPr>
              <a:t>RESILIENCE</a:t>
            </a:r>
            <a:endParaRPr lang="en-US" sz="1300" dirty="0"/>
          </a:p>
        </p:txBody>
      </p:sp>
      <p:sp>
        <p:nvSpPr>
          <p:cNvPr id="23" name="Text 21"/>
          <p:cNvSpPr/>
          <p:nvPr/>
        </p:nvSpPr>
        <p:spPr>
          <a:xfrm>
            <a:off x="4315968" y="3602736"/>
            <a:ext cx="6848856" cy="292608"/>
          </a:xfrm>
          <a:prstGeom prst="rect">
            <a:avLst/>
          </a:prstGeom>
          <a:noFill/>
          <a:ln/>
        </p:spPr>
        <p:txBody>
          <a:bodyPr wrap="square" lIns="0" tIns="0" rIns="0" bIns="0" rtlCol="0" anchor="ctr">
            <a:normAutofit/>
          </a:bodyPr>
          <a:lstStyle/>
          <a:p>
            <a:pPr algn="l" indent="0" marL="0">
              <a:buNone/>
            </a:pPr>
            <a:r>
              <a:rPr lang="en-US" sz="1400" dirty="0">
                <a:solidFill>
                  <a:srgbClr val="354862"/>
                </a:solidFill>
                <a:latin typeface="Aptos" pitchFamily="34" charset="0"/>
                <a:ea typeface="Aptos" pitchFamily="34" charset="-122"/>
                <a:cs typeface="Aptos" pitchFamily="34" charset="-120"/>
              </a:rPr>
              <a:t>Contain failure instead of assuming it will not happen.</a:t>
            </a:r>
            <a:endParaRPr lang="en-US" sz="1400" dirty="0"/>
          </a:p>
        </p:txBody>
      </p:sp>
      <p:sp>
        <p:nvSpPr>
          <p:cNvPr id="24" name="Shape 22"/>
          <p:cNvSpPr/>
          <p:nvPr/>
        </p:nvSpPr>
        <p:spPr>
          <a:xfrm>
            <a:off x="667512" y="4187952"/>
            <a:ext cx="10771632" cy="557784"/>
          </a:xfrm>
          <a:prstGeom prst="roundRect">
            <a:avLst>
              <a:gd name="adj" fmla="val 21311"/>
            </a:avLst>
          </a:prstGeom>
          <a:solidFill>
            <a:srgbClr val="FFFFFF"/>
          </a:solidFill>
          <a:ln w="12700">
            <a:solidFill>
              <a:srgbClr val="DFE7F1"/>
            </a:solidFill>
            <a:prstDash val="solid"/>
          </a:ln>
        </p:spPr>
        <p:txBody>
          <a:bodyPr/>
          <a:p/>
        </p:txBody>
      </p:sp>
      <p:sp>
        <p:nvSpPr>
          <p:cNvPr id="25" name="Text 23"/>
          <p:cNvSpPr/>
          <p:nvPr/>
        </p:nvSpPr>
        <p:spPr>
          <a:xfrm>
            <a:off x="832104" y="4334256"/>
            <a:ext cx="484632" cy="201168"/>
          </a:xfrm>
          <a:prstGeom prst="rect">
            <a:avLst/>
          </a:prstGeom>
          <a:noFill/>
          <a:ln/>
        </p:spPr>
        <p:txBody>
          <a:bodyPr wrap="square" lIns="0" tIns="0" rIns="0" bIns="0" rtlCol="0" anchor="ctr">
            <a:normAutofit/>
          </a:bodyPr>
          <a:lstStyle/>
          <a:p>
            <a:pPr algn="l" indent="0" marL="0">
              <a:buNone/>
            </a:pPr>
            <a:r>
              <a:rPr lang="en-US" sz="1100" b="1" dirty="0">
                <a:solidFill>
                  <a:srgbClr val="2866F6"/>
                </a:solidFill>
                <a:latin typeface="Aptos" pitchFamily="34" charset="0"/>
                <a:ea typeface="Aptos" pitchFamily="34" charset="-122"/>
                <a:cs typeface="Aptos" pitchFamily="34" charset="-120"/>
              </a:rPr>
              <a:t>04</a:t>
            </a:r>
            <a:endParaRPr lang="en-US" sz="1100" dirty="0"/>
          </a:p>
        </p:txBody>
      </p:sp>
      <p:sp>
        <p:nvSpPr>
          <p:cNvPr id="26" name="Text 24"/>
          <p:cNvSpPr/>
          <p:nvPr/>
        </p:nvSpPr>
        <p:spPr>
          <a:xfrm>
            <a:off x="1380744" y="4297680"/>
            <a:ext cx="2935224" cy="292608"/>
          </a:xfrm>
          <a:prstGeom prst="rect">
            <a:avLst/>
          </a:prstGeom>
          <a:noFill/>
          <a:ln/>
        </p:spPr>
        <p:txBody>
          <a:bodyPr wrap="square" lIns="0" tIns="0" rIns="0" bIns="0" rtlCol="0" anchor="ctr">
            <a:normAutofit/>
          </a:bodyPr>
          <a:lstStyle/>
          <a:p>
            <a:pPr algn="l" indent="0" marL="0">
              <a:buNone/>
            </a:pPr>
            <a:r>
              <a:rPr lang="en-US" sz="1300" b="1" dirty="0">
                <a:solidFill>
                  <a:srgbClr val="122239"/>
                </a:solidFill>
                <a:latin typeface="Aptos" pitchFamily="34" charset="0"/>
                <a:ea typeface="Aptos" pitchFamily="34" charset="-122"/>
                <a:cs typeface="Aptos" pitchFamily="34" charset="-120"/>
              </a:rPr>
              <a:t>DEPLOYMENT &amp; SECURITY</a:t>
            </a:r>
            <a:endParaRPr lang="en-US" sz="1300" dirty="0"/>
          </a:p>
        </p:txBody>
      </p:sp>
      <p:sp>
        <p:nvSpPr>
          <p:cNvPr id="27" name="Text 25"/>
          <p:cNvSpPr/>
          <p:nvPr/>
        </p:nvSpPr>
        <p:spPr>
          <a:xfrm>
            <a:off x="4315968" y="4288536"/>
            <a:ext cx="6848856" cy="292608"/>
          </a:xfrm>
          <a:prstGeom prst="rect">
            <a:avLst/>
          </a:prstGeom>
          <a:noFill/>
          <a:ln/>
        </p:spPr>
        <p:txBody>
          <a:bodyPr wrap="square" lIns="0" tIns="0" rIns="0" bIns="0" rtlCol="0" anchor="ctr">
            <a:normAutofit/>
          </a:bodyPr>
          <a:lstStyle/>
          <a:p>
            <a:pPr algn="l" indent="0" marL="0">
              <a:buNone/>
            </a:pPr>
            <a:r>
              <a:rPr lang="en-US" sz="1400" dirty="0">
                <a:solidFill>
                  <a:srgbClr val="354862"/>
                </a:solidFill>
                <a:latin typeface="Aptos" pitchFamily="34" charset="0"/>
                <a:ea typeface="Aptos" pitchFamily="34" charset="-122"/>
                <a:cs typeface="Aptos" pitchFamily="34" charset="-120"/>
              </a:rPr>
              <a:t>Instances and versions change; identity and compatibility matter.</a:t>
            </a:r>
            <a:endParaRPr lang="en-US" sz="1400" dirty="0"/>
          </a:p>
        </p:txBody>
      </p:sp>
      <p:sp>
        <p:nvSpPr>
          <p:cNvPr id="28" name="Shape 26"/>
          <p:cNvSpPr/>
          <p:nvPr/>
        </p:nvSpPr>
        <p:spPr>
          <a:xfrm>
            <a:off x="667512" y="4873752"/>
            <a:ext cx="10771632" cy="557784"/>
          </a:xfrm>
          <a:prstGeom prst="roundRect">
            <a:avLst>
              <a:gd name="adj" fmla="val 21311"/>
            </a:avLst>
          </a:prstGeom>
          <a:solidFill>
            <a:srgbClr val="F7F9FC"/>
          </a:solidFill>
          <a:ln w="12700">
            <a:solidFill>
              <a:srgbClr val="DFE7F1"/>
            </a:solidFill>
            <a:prstDash val="solid"/>
          </a:ln>
        </p:spPr>
        <p:txBody>
          <a:bodyPr/>
          <a:p/>
        </p:txBody>
      </p:sp>
      <p:sp>
        <p:nvSpPr>
          <p:cNvPr id="29" name="Text 27"/>
          <p:cNvSpPr/>
          <p:nvPr/>
        </p:nvSpPr>
        <p:spPr>
          <a:xfrm>
            <a:off x="832104" y="5020056"/>
            <a:ext cx="484632" cy="201168"/>
          </a:xfrm>
          <a:prstGeom prst="rect">
            <a:avLst/>
          </a:prstGeom>
          <a:noFill/>
          <a:ln/>
        </p:spPr>
        <p:txBody>
          <a:bodyPr wrap="square" lIns="0" tIns="0" rIns="0" bIns="0" rtlCol="0" anchor="ctr">
            <a:normAutofit/>
          </a:bodyPr>
          <a:lstStyle/>
          <a:p>
            <a:pPr algn="l" indent="0" marL="0">
              <a:buNone/>
            </a:pPr>
            <a:r>
              <a:rPr lang="en-US" sz="1100" b="1" dirty="0">
                <a:solidFill>
                  <a:srgbClr val="2866F6"/>
                </a:solidFill>
                <a:latin typeface="Aptos" pitchFamily="34" charset="0"/>
                <a:ea typeface="Aptos" pitchFamily="34" charset="-122"/>
                <a:cs typeface="Aptos" pitchFamily="34" charset="-120"/>
              </a:rPr>
              <a:t>05</a:t>
            </a:r>
            <a:endParaRPr lang="en-US" sz="1100" dirty="0"/>
          </a:p>
        </p:txBody>
      </p:sp>
      <p:sp>
        <p:nvSpPr>
          <p:cNvPr id="30" name="Text 28"/>
          <p:cNvSpPr/>
          <p:nvPr/>
        </p:nvSpPr>
        <p:spPr>
          <a:xfrm>
            <a:off x="1380744" y="4983480"/>
            <a:ext cx="2935224" cy="292608"/>
          </a:xfrm>
          <a:prstGeom prst="rect">
            <a:avLst/>
          </a:prstGeom>
          <a:noFill/>
          <a:ln/>
        </p:spPr>
        <p:txBody>
          <a:bodyPr wrap="square" lIns="0" tIns="0" rIns="0" bIns="0" rtlCol="0" anchor="ctr">
            <a:normAutofit/>
          </a:bodyPr>
          <a:lstStyle/>
          <a:p>
            <a:pPr algn="l" indent="0" marL="0">
              <a:buNone/>
            </a:pPr>
            <a:r>
              <a:rPr lang="en-US" sz="1300" b="1" dirty="0">
                <a:solidFill>
                  <a:srgbClr val="122239"/>
                </a:solidFill>
                <a:latin typeface="Aptos" pitchFamily="34" charset="0"/>
                <a:ea typeface="Aptos" pitchFamily="34" charset="-122"/>
                <a:cs typeface="Aptos" pitchFamily="34" charset="-120"/>
              </a:rPr>
              <a:t>TESTING</a:t>
            </a:r>
            <a:endParaRPr lang="en-US" sz="1300" dirty="0"/>
          </a:p>
        </p:txBody>
      </p:sp>
      <p:sp>
        <p:nvSpPr>
          <p:cNvPr id="31" name="Text 29"/>
          <p:cNvSpPr/>
          <p:nvPr/>
        </p:nvSpPr>
        <p:spPr>
          <a:xfrm>
            <a:off x="4315968" y="4974336"/>
            <a:ext cx="6848856" cy="292608"/>
          </a:xfrm>
          <a:prstGeom prst="rect">
            <a:avLst/>
          </a:prstGeom>
          <a:noFill/>
          <a:ln/>
        </p:spPr>
        <p:txBody>
          <a:bodyPr wrap="square" lIns="0" tIns="0" rIns="0" bIns="0" rtlCol="0" anchor="ctr">
            <a:normAutofit/>
          </a:bodyPr>
          <a:lstStyle/>
          <a:p>
            <a:pPr algn="l" indent="0" marL="0">
              <a:buNone/>
            </a:pPr>
            <a:r>
              <a:rPr lang="en-US" sz="1400" dirty="0">
                <a:solidFill>
                  <a:srgbClr val="354862"/>
                </a:solidFill>
                <a:latin typeface="Aptos" pitchFamily="34" charset="0"/>
                <a:ea typeface="Aptos" pitchFamily="34" charset="-122"/>
                <a:cs typeface="Aptos" pitchFamily="34" charset="-120"/>
              </a:rPr>
              <a:t>Prove the response to real failure conditions.</a:t>
            </a:r>
            <a:endParaRPr lang="en-US" sz="1400" dirty="0"/>
          </a:p>
        </p:txBody>
      </p:sp>
      <p:sp>
        <p:nvSpPr>
          <p:cNvPr id="32" name="Shape 30"/>
          <p:cNvSpPr/>
          <p:nvPr/>
        </p:nvSpPr>
        <p:spPr>
          <a:xfrm>
            <a:off x="685800" y="5788152"/>
            <a:ext cx="10716768" cy="438912"/>
          </a:xfrm>
          <a:prstGeom prst="roundRect">
            <a:avLst>
              <a:gd name="adj" fmla="val 27083"/>
            </a:avLst>
          </a:prstGeom>
          <a:solidFill>
            <a:srgbClr val="ECF3FF"/>
          </a:solidFill>
          <a:ln w="12700">
            <a:solidFill>
              <a:srgbClr val="CBDBFF"/>
            </a:solidFill>
            <a:prstDash val="solid"/>
          </a:ln>
        </p:spPr>
        <p:txBody>
          <a:bodyPr/>
          <a:p/>
        </p:txBody>
      </p:sp>
      <p:sp>
        <p:nvSpPr>
          <p:cNvPr id="33" name="Text 31"/>
          <p:cNvSpPr/>
          <p:nvPr/>
        </p:nvSpPr>
        <p:spPr>
          <a:xfrm>
            <a:off x="896112" y="5916168"/>
            <a:ext cx="10241280" cy="173736"/>
          </a:xfrm>
          <a:prstGeom prst="rect">
            <a:avLst/>
          </a:prstGeom>
          <a:noFill/>
          <a:ln/>
        </p:spPr>
        <p:txBody>
          <a:bodyPr wrap="square" lIns="0" tIns="0" rIns="0" bIns="0" rtlCol="0" anchor="ctr">
            <a:normAutofit/>
          </a:bodyPr>
          <a:lstStyle/>
          <a:p>
            <a:pPr algn="ctr" indent="0" marL="0">
              <a:buNone/>
            </a:pPr>
            <a:r>
              <a:rPr lang="en-US" sz="1430" b="1" dirty="0">
                <a:solidFill>
                  <a:srgbClr val="2866F6"/>
                </a:solidFill>
                <a:latin typeface="Aptos" pitchFamily="34" charset="0"/>
                <a:ea typeface="Aptos" pitchFamily="34" charset="-122"/>
                <a:cs typeface="Aptos" pitchFamily="34" charset="-120"/>
              </a:rPr>
              <a:t>Understand the failure first. Then choose the mechanism that fits.</a:t>
            </a:r>
            <a:endParaRPr lang="en-US" sz="143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866F6"/>
          </a:solidFill>
          <a:ln w="12700">
            <a:solidFill>
              <a:srgbClr val="2866F6"/>
            </a:solidFill>
            <a:prstDash val="solid"/>
          </a:ln>
        </p:spPr>
        <p:txBody>
          <a:bodyPr/>
          <a:p/>
        </p:txBody>
      </p:sp>
      <p:sp>
        <p:nvSpPr>
          <p:cNvPr id="3" name="Shape 1"/>
          <p:cNvSpPr/>
          <p:nvPr/>
        </p:nvSpPr>
        <p:spPr>
          <a:xfrm>
            <a:off x="640080" y="621792"/>
            <a:ext cx="2843784" cy="274320"/>
          </a:xfrm>
          <a:prstGeom prst="roundRect">
            <a:avLst>
              <a:gd name="adj" fmla="val 40000"/>
            </a:avLst>
          </a:prstGeom>
          <a:solidFill>
            <a:srgbClr val="ECF3FF"/>
          </a:solidFill>
          <a:ln w="12700">
            <a:solidFill>
              <a:srgbClr val="ECF3FF"/>
            </a:solidFill>
            <a:prstDash val="solid"/>
          </a:ln>
        </p:spPr>
        <p:txBody>
          <a:bodyPr/>
          <a:p/>
        </p:txBody>
      </p:sp>
      <p:sp>
        <p:nvSpPr>
          <p:cNvPr id="4" name="Text 2"/>
          <p:cNvSpPr/>
          <p:nvPr/>
        </p:nvSpPr>
        <p:spPr>
          <a:xfrm>
            <a:off x="740664" y="649224"/>
            <a:ext cx="2642616"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2866F6"/>
                </a:solidFill>
                <a:latin typeface="Aptos" pitchFamily="34" charset="0"/>
                <a:ea typeface="Aptos" pitchFamily="34" charset="-122"/>
                <a:cs typeface="Aptos" pitchFamily="34" charset="-120"/>
              </a:rPr>
              <a:t>DEV WEEKENDS  ·  THANK YOU</a:t>
            </a:r>
            <a:endParaRPr lang="en-US" sz="1000" dirty="0"/>
          </a:p>
        </p:txBody>
      </p:sp>
      <p:sp>
        <p:nvSpPr>
          <p:cNvPr id="5" name="Text 3"/>
          <p:cNvSpPr/>
          <p:nvPr/>
        </p:nvSpPr>
        <p:spPr>
          <a:xfrm>
            <a:off x="685800" y="1344168"/>
            <a:ext cx="6665976" cy="768096"/>
          </a:xfrm>
          <a:prstGeom prst="rect">
            <a:avLst/>
          </a:prstGeom>
          <a:noFill/>
          <a:ln/>
        </p:spPr>
        <p:txBody>
          <a:bodyPr wrap="square" lIns="0" tIns="0" rIns="0" bIns="0" rtlCol="0" anchor="ctr">
            <a:normAutofit/>
          </a:bodyPr>
          <a:lstStyle/>
          <a:p>
            <a:pPr algn="l" indent="0" marL="0">
              <a:buNone/>
            </a:pPr>
            <a:r>
              <a:rPr lang="en-US" sz="4800" b="1" dirty="0">
                <a:solidFill>
                  <a:srgbClr val="122239"/>
                </a:solidFill>
                <a:latin typeface="Aptos" pitchFamily="34" charset="0"/>
                <a:ea typeface="Aptos" pitchFamily="34" charset="-122"/>
                <a:cs typeface="Aptos" pitchFamily="34" charset="-120"/>
              </a:rPr>
              <a:t>Questions?</a:t>
            </a:r>
            <a:endParaRPr lang="en-US" sz="4800" dirty="0"/>
          </a:p>
        </p:txBody>
      </p:sp>
      <p:sp>
        <p:nvSpPr>
          <p:cNvPr id="6" name="Text 4"/>
          <p:cNvSpPr/>
          <p:nvPr/>
        </p:nvSpPr>
        <p:spPr>
          <a:xfrm>
            <a:off x="704088" y="2377440"/>
            <a:ext cx="9875520" cy="521208"/>
          </a:xfrm>
          <a:prstGeom prst="rect">
            <a:avLst/>
          </a:prstGeom>
          <a:noFill/>
          <a:ln/>
        </p:spPr>
        <p:txBody>
          <a:bodyPr wrap="square" lIns="0" tIns="0" rIns="0" bIns="0" rtlCol="0" anchor="ctr">
            <a:normAutofit/>
          </a:bodyPr>
          <a:lstStyle/>
          <a:p>
            <a:pPr algn="l" indent="0" marL="0">
              <a:buNone/>
            </a:pPr>
            <a:r>
              <a:rPr lang="en-US" sz="2200" dirty="0">
                <a:solidFill>
                  <a:srgbClr val="354862"/>
                </a:solidFill>
                <a:latin typeface="Aptos" pitchFamily="34" charset="0"/>
                <a:ea typeface="Aptos" pitchFamily="34" charset="-122"/>
                <a:cs typeface="Aptos" pitchFamily="34" charset="-120"/>
              </a:rPr>
              <a:t>Which distributed failure would you design for first?</a:t>
            </a:r>
            <a:endParaRPr lang="en-US" sz="2200" dirty="0"/>
          </a:p>
        </p:txBody>
      </p:sp>
      <p:sp>
        <p:nvSpPr>
          <p:cNvPr id="7" name="Shape 5"/>
          <p:cNvSpPr/>
          <p:nvPr/>
        </p:nvSpPr>
        <p:spPr>
          <a:xfrm>
            <a:off x="722376" y="3200400"/>
            <a:ext cx="10506456" cy="0"/>
          </a:xfrm>
          <a:prstGeom prst="line">
            <a:avLst/>
          </a:prstGeom>
          <a:noFill/>
          <a:ln w="13970">
            <a:solidFill>
              <a:srgbClr val="DFE7F1"/>
            </a:solidFill>
            <a:prstDash val="solid"/>
            <a:headEnd type="none"/>
            <a:tailEnd type="none"/>
          </a:ln>
        </p:spPr>
        <p:txBody>
          <a:bodyPr/>
          <a:p/>
        </p:txBody>
      </p:sp>
      <p:sp>
        <p:nvSpPr>
          <p:cNvPr id="8" name="Text 6"/>
          <p:cNvSpPr/>
          <p:nvPr/>
        </p:nvSpPr>
        <p:spPr>
          <a:xfrm>
            <a:off x="713232" y="3502152"/>
            <a:ext cx="7918704" cy="411480"/>
          </a:xfrm>
          <a:prstGeom prst="rect">
            <a:avLst/>
          </a:prstGeom>
          <a:noFill/>
          <a:ln/>
        </p:spPr>
        <p:txBody>
          <a:bodyPr wrap="square" lIns="0" tIns="0" rIns="0" bIns="0" rtlCol="0" anchor="ctr">
            <a:normAutofit/>
          </a:bodyPr>
          <a:lstStyle/>
          <a:p>
            <a:pPr algn="l" indent="0" marL="0">
              <a:buNone/>
            </a:pPr>
            <a:r>
              <a:rPr lang="en-US" sz="2200" b="1" dirty="0">
                <a:solidFill>
                  <a:srgbClr val="2866F6"/>
                </a:solidFill>
                <a:latin typeface="Aptos" pitchFamily="34" charset="0"/>
                <a:ea typeface="Aptos" pitchFamily="34" charset="-122"/>
                <a:cs typeface="Aptos" pitchFamily="34" charset="-120"/>
              </a:rPr>
              <a:t>ALI SHAIR</a:t>
            </a:r>
            <a:endParaRPr lang="en-US" sz="2200" dirty="0"/>
          </a:p>
        </p:txBody>
      </p:sp>
      <p:sp>
        <p:nvSpPr>
          <p:cNvPr id="9" name="Text 7"/>
          <p:cNvSpPr/>
          <p:nvPr/>
        </p:nvSpPr>
        <p:spPr>
          <a:xfrm>
            <a:off x="713232" y="3968496"/>
            <a:ext cx="9592056" cy="338328"/>
          </a:xfrm>
          <a:prstGeom prst="rect">
            <a:avLst/>
          </a:prstGeom>
          <a:noFill/>
          <a:ln/>
        </p:spPr>
        <p:txBody>
          <a:bodyPr wrap="square" lIns="0" tIns="0" rIns="0" bIns="0" rtlCol="0" anchor="ctr">
            <a:normAutofit/>
          </a:bodyPr>
          <a:lstStyle/>
          <a:p>
            <a:pPr algn="l" indent="0" marL="0">
              <a:buNone/>
            </a:pPr>
            <a:r>
              <a:rPr lang="en-US" sz="1500" dirty="0">
                <a:solidFill>
                  <a:srgbClr val="64748B"/>
                </a:solidFill>
                <a:latin typeface="Aptos" pitchFamily="34" charset="0"/>
                <a:ea typeface="Aptos" pitchFamily="34" charset="-122"/>
                <a:cs typeface="Aptos" pitchFamily="34" charset="-120"/>
              </a:rPr>
              <a:t>Find the project, or connect after the talk.</a:t>
            </a:r>
            <a:endParaRPr lang="en-US" sz="1500" dirty="0"/>
          </a:p>
        </p:txBody>
      </p:sp>
      <p:sp>
        <p:nvSpPr>
          <p:cNvPr id="10" name="Shape 8"/>
          <p:cNvSpPr/>
          <p:nvPr/>
        </p:nvSpPr>
        <p:spPr>
          <a:xfrm>
            <a:off x="685800" y="4498848"/>
            <a:ext cx="5404104" cy="548640"/>
          </a:xfrm>
          <a:prstGeom prst="roundRect">
            <a:avLst>
              <a:gd name="adj" fmla="val 21667"/>
            </a:avLst>
          </a:prstGeom>
          <a:solidFill>
            <a:srgbClr val="F7F9FC"/>
          </a:solidFill>
          <a:ln w="12700">
            <a:solidFill>
              <a:srgbClr val="DFE7F1"/>
            </a:solidFill>
            <a:prstDash val="solid"/>
          </a:ln>
        </p:spPr>
        <p:txBody>
          <a:bodyPr/>
          <a:p/>
        </p:txBody>
      </p:sp>
      <p:sp>
        <p:nvSpPr>
          <p:cNvPr id="11" name="Text 9"/>
          <p:cNvSpPr/>
          <p:nvPr/>
        </p:nvSpPr>
        <p:spPr>
          <a:xfrm>
            <a:off x="822960" y="4590288"/>
            <a:ext cx="1097280" cy="192024"/>
          </a:xfrm>
          <a:prstGeom prst="rect">
            <a:avLst/>
          </a:prstGeom>
          <a:noFill/>
          <a:ln/>
        </p:spPr>
        <p:txBody>
          <a:bodyPr wrap="square" lIns="0" tIns="0" rIns="0" bIns="0" rtlCol="0" anchor="ctr">
            <a:normAutofit/>
          </a:bodyPr>
          <a:lstStyle/>
          <a:p>
            <a:pPr algn="l" indent="0" marL="0">
              <a:buNone/>
            </a:pPr>
            <a:r>
              <a:rPr lang="en-US" sz="1010" b="1" dirty="0">
                <a:solidFill>
                  <a:srgbClr val="2866F6"/>
                </a:solidFill>
                <a:latin typeface="Aptos" pitchFamily="34" charset="0"/>
                <a:ea typeface="Aptos" pitchFamily="34" charset="-122"/>
                <a:cs typeface="Aptos" pitchFamily="34" charset="-120"/>
              </a:rPr>
              <a:t>PORTFOLIO</a:t>
            </a:r>
            <a:endParaRPr lang="en-US" sz="1010" dirty="0"/>
          </a:p>
        </p:txBody>
      </p:sp>
      <p:sp>
        <p:nvSpPr>
          <p:cNvPr id="12" name="Text 10">
            <a:hlinkClick r:id="rId1" tooltip=""/>
          </p:cNvPr>
          <p:cNvSpPr/>
          <p:nvPr/>
        </p:nvSpPr>
        <p:spPr>
          <a:xfrm>
            <a:off x="1920240" y="4581144"/>
            <a:ext cx="3995928" cy="292608"/>
          </a:xfrm>
          <a:prstGeom prst="rect">
            <a:avLst/>
          </a:prstGeom>
          <a:noFill/>
          <a:ln/>
        </p:spPr>
        <p:txBody>
          <a:bodyPr wrap="square" lIns="0" tIns="0" rIns="0" bIns="0" rtlCol="0" anchor="ctr">
            <a:normAutofit/>
          </a:bodyPr>
          <a:lstStyle/>
          <a:p>
            <a:pPr algn="l" indent="0" marL="0">
              <a:buNone/>
            </a:pPr>
            <a:r>
              <a:rPr lang="en-US" sz="1400" u="sng" dirty="0">
                <a:solidFill>
                  <a:srgbClr val="122239"/>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ali-shair-portfolio.netlify.app</a:t>
            </a:r>
            <a:endParaRPr lang="en-US" sz="1400" dirty="0"/>
          </a:p>
        </p:txBody>
      </p:sp>
      <p:sp>
        <p:nvSpPr>
          <p:cNvPr id="13" name="Shape 11"/>
          <p:cNvSpPr/>
          <p:nvPr/>
        </p:nvSpPr>
        <p:spPr>
          <a:xfrm>
            <a:off x="6291072" y="4498848"/>
            <a:ext cx="5404104" cy="548640"/>
          </a:xfrm>
          <a:prstGeom prst="roundRect">
            <a:avLst>
              <a:gd name="adj" fmla="val 21667"/>
            </a:avLst>
          </a:prstGeom>
          <a:solidFill>
            <a:srgbClr val="F7F9FC"/>
          </a:solidFill>
          <a:ln w="12700">
            <a:solidFill>
              <a:srgbClr val="DFE7F1"/>
            </a:solidFill>
            <a:prstDash val="solid"/>
          </a:ln>
        </p:spPr>
        <p:txBody>
          <a:bodyPr/>
          <a:p/>
        </p:txBody>
      </p:sp>
      <p:sp>
        <p:nvSpPr>
          <p:cNvPr id="14" name="Text 12"/>
          <p:cNvSpPr/>
          <p:nvPr/>
        </p:nvSpPr>
        <p:spPr>
          <a:xfrm>
            <a:off x="6428232" y="4590288"/>
            <a:ext cx="1097280" cy="192024"/>
          </a:xfrm>
          <a:prstGeom prst="rect">
            <a:avLst/>
          </a:prstGeom>
          <a:noFill/>
          <a:ln/>
        </p:spPr>
        <p:txBody>
          <a:bodyPr wrap="square" lIns="0" tIns="0" rIns="0" bIns="0" rtlCol="0" anchor="ctr">
            <a:normAutofit/>
          </a:bodyPr>
          <a:lstStyle/>
          <a:p>
            <a:pPr algn="l" indent="0" marL="0">
              <a:buNone/>
            </a:pPr>
            <a:r>
              <a:rPr lang="en-US" sz="1010" b="1" dirty="0">
                <a:solidFill>
                  <a:srgbClr val="2866F6"/>
                </a:solidFill>
                <a:latin typeface="Aptos" pitchFamily="34" charset="0"/>
                <a:ea typeface="Aptos" pitchFamily="34" charset="-122"/>
                <a:cs typeface="Aptos" pitchFamily="34" charset="-120"/>
              </a:rPr>
              <a:t>GITHUB</a:t>
            </a:r>
            <a:endParaRPr lang="en-US" sz="1010" dirty="0"/>
          </a:p>
        </p:txBody>
      </p:sp>
      <p:sp>
        <p:nvSpPr>
          <p:cNvPr id="15" name="Text 13">
            <a:hlinkClick r:id="rId2" tooltip=""/>
          </p:cNvPr>
          <p:cNvSpPr/>
          <p:nvPr/>
        </p:nvSpPr>
        <p:spPr>
          <a:xfrm>
            <a:off x="7525512" y="4581144"/>
            <a:ext cx="3995928" cy="292608"/>
          </a:xfrm>
          <a:prstGeom prst="rect">
            <a:avLst/>
          </a:prstGeom>
          <a:noFill/>
          <a:ln/>
        </p:spPr>
        <p:txBody>
          <a:bodyPr wrap="square" lIns="0" tIns="0" rIns="0" bIns="0" rtlCol="0" anchor="ctr">
            <a:normAutofit/>
          </a:bodyPr>
          <a:lstStyle/>
          <a:p>
            <a:pPr algn="l" indent="0" marL="0">
              <a:buNone/>
            </a:pPr>
            <a:r>
              <a:rPr lang="en-US" sz="1400" u="sng" dirty="0">
                <a:solidFill>
                  <a:srgbClr val="122239"/>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github.com/alishair7071</a:t>
            </a:r>
            <a:endParaRPr lang="en-US" sz="1400" dirty="0"/>
          </a:p>
        </p:txBody>
      </p:sp>
      <p:sp>
        <p:nvSpPr>
          <p:cNvPr id="16" name="Shape 14"/>
          <p:cNvSpPr/>
          <p:nvPr/>
        </p:nvSpPr>
        <p:spPr>
          <a:xfrm>
            <a:off x="685800" y="5193792"/>
            <a:ext cx="5404104" cy="548640"/>
          </a:xfrm>
          <a:prstGeom prst="roundRect">
            <a:avLst>
              <a:gd name="adj" fmla="val 21667"/>
            </a:avLst>
          </a:prstGeom>
          <a:solidFill>
            <a:srgbClr val="F7F9FC"/>
          </a:solidFill>
          <a:ln w="12700">
            <a:solidFill>
              <a:srgbClr val="DFE7F1"/>
            </a:solidFill>
            <a:prstDash val="solid"/>
          </a:ln>
        </p:spPr>
        <p:txBody>
          <a:bodyPr/>
          <a:p/>
        </p:txBody>
      </p:sp>
      <p:sp>
        <p:nvSpPr>
          <p:cNvPr id="17" name="Text 15"/>
          <p:cNvSpPr/>
          <p:nvPr/>
        </p:nvSpPr>
        <p:spPr>
          <a:xfrm>
            <a:off x="822960" y="5285232"/>
            <a:ext cx="1097280" cy="192024"/>
          </a:xfrm>
          <a:prstGeom prst="rect">
            <a:avLst/>
          </a:prstGeom>
          <a:noFill/>
          <a:ln/>
        </p:spPr>
        <p:txBody>
          <a:bodyPr wrap="square" lIns="0" tIns="0" rIns="0" bIns="0" rtlCol="0" anchor="ctr">
            <a:normAutofit/>
          </a:bodyPr>
          <a:lstStyle/>
          <a:p>
            <a:pPr algn="l" indent="0" marL="0">
              <a:buNone/>
            </a:pPr>
            <a:r>
              <a:rPr lang="en-US" sz="1010" b="1" dirty="0">
                <a:solidFill>
                  <a:srgbClr val="2866F6"/>
                </a:solidFill>
                <a:latin typeface="Aptos" pitchFamily="34" charset="0"/>
                <a:ea typeface="Aptos" pitchFamily="34" charset="-122"/>
                <a:cs typeface="Aptos" pitchFamily="34" charset="-120"/>
              </a:rPr>
              <a:t>LINKEDIN</a:t>
            </a:r>
            <a:endParaRPr lang="en-US" sz="1010" dirty="0"/>
          </a:p>
        </p:txBody>
      </p:sp>
      <p:sp>
        <p:nvSpPr>
          <p:cNvPr id="18" name="Text 16">
            <a:hlinkClick r:id="rId3" tooltip=""/>
          </p:cNvPr>
          <p:cNvSpPr/>
          <p:nvPr/>
        </p:nvSpPr>
        <p:spPr>
          <a:xfrm>
            <a:off x="1920240" y="5276088"/>
            <a:ext cx="3995928" cy="292608"/>
          </a:xfrm>
          <a:prstGeom prst="rect">
            <a:avLst/>
          </a:prstGeom>
          <a:noFill/>
          <a:ln/>
        </p:spPr>
        <p:txBody>
          <a:bodyPr wrap="square" lIns="0" tIns="0" rIns="0" bIns="0" rtlCol="0" anchor="ctr">
            <a:normAutofit/>
          </a:bodyPr>
          <a:lstStyle/>
          <a:p>
            <a:pPr algn="l" indent="0" marL="0">
              <a:buNone/>
            </a:pPr>
            <a:r>
              <a:rPr lang="en-US" sz="1400" u="sng" dirty="0">
                <a:solidFill>
                  <a:srgbClr val="122239"/>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linkedin.com/in/swe-ali-shair</a:t>
            </a:r>
            <a:endParaRPr lang="en-US" sz="1400" dirty="0"/>
          </a:p>
        </p:txBody>
      </p:sp>
      <p:sp>
        <p:nvSpPr>
          <p:cNvPr id="19" name="Shape 17"/>
          <p:cNvSpPr/>
          <p:nvPr/>
        </p:nvSpPr>
        <p:spPr>
          <a:xfrm>
            <a:off x="6291072" y="5193792"/>
            <a:ext cx="5404104" cy="548640"/>
          </a:xfrm>
          <a:prstGeom prst="roundRect">
            <a:avLst>
              <a:gd name="adj" fmla="val 21667"/>
            </a:avLst>
          </a:prstGeom>
          <a:solidFill>
            <a:srgbClr val="F7F9FC"/>
          </a:solidFill>
          <a:ln w="12700">
            <a:solidFill>
              <a:srgbClr val="DFE7F1"/>
            </a:solidFill>
            <a:prstDash val="solid"/>
          </a:ln>
        </p:spPr>
        <p:txBody>
          <a:bodyPr/>
          <a:p/>
        </p:txBody>
      </p:sp>
      <p:sp>
        <p:nvSpPr>
          <p:cNvPr id="20" name="Text 18"/>
          <p:cNvSpPr/>
          <p:nvPr/>
        </p:nvSpPr>
        <p:spPr>
          <a:xfrm>
            <a:off x="6428232" y="5285232"/>
            <a:ext cx="1097280" cy="192024"/>
          </a:xfrm>
          <a:prstGeom prst="rect">
            <a:avLst/>
          </a:prstGeom>
          <a:noFill/>
          <a:ln/>
        </p:spPr>
        <p:txBody>
          <a:bodyPr wrap="square" lIns="0" tIns="0" rIns="0" bIns="0" rtlCol="0" anchor="ctr">
            <a:normAutofit/>
          </a:bodyPr>
          <a:lstStyle/>
          <a:p>
            <a:pPr algn="l" indent="0" marL="0">
              <a:buNone/>
            </a:pPr>
            <a:r>
              <a:rPr lang="en-US" sz="1010" b="1" dirty="0">
                <a:solidFill>
                  <a:srgbClr val="2866F6"/>
                </a:solidFill>
                <a:latin typeface="Aptos" pitchFamily="34" charset="0"/>
                <a:ea typeface="Aptos" pitchFamily="34" charset="-122"/>
                <a:cs typeface="Aptos" pitchFamily="34" charset="-120"/>
              </a:rPr>
              <a:t>EMAIL</a:t>
            </a:r>
            <a:endParaRPr lang="en-US" sz="1010" dirty="0"/>
          </a:p>
        </p:txBody>
      </p:sp>
      <p:sp>
        <p:nvSpPr>
          <p:cNvPr id="21" name="Text 19">
            <a:hlinkClick r:id="rId4" tooltip=""/>
          </p:cNvPr>
          <p:cNvSpPr/>
          <p:nvPr/>
        </p:nvSpPr>
        <p:spPr>
          <a:xfrm>
            <a:off x="7525512" y="5276088"/>
            <a:ext cx="3995928" cy="292608"/>
          </a:xfrm>
          <a:prstGeom prst="rect">
            <a:avLst/>
          </a:prstGeom>
          <a:noFill/>
          <a:ln/>
        </p:spPr>
        <p:txBody>
          <a:bodyPr wrap="square" lIns="0" tIns="0" rIns="0" bIns="0" rtlCol="0" anchor="ctr">
            <a:normAutofit/>
          </a:bodyPr>
          <a:lstStyle/>
          <a:p>
            <a:pPr algn="l" indent="0" marL="0">
              <a:buNone/>
            </a:pPr>
            <a:r>
              <a:rPr lang="en-US" sz="1400" u="sng" dirty="0">
                <a:solidFill>
                  <a:srgbClr val="122239"/>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alishair7071@gmail.com</a:t>
            </a:r>
            <a:endParaRPr lang="en-US" sz="1400" dirty="0"/>
          </a:p>
        </p:txBody>
      </p:sp>
      <p:sp>
        <p:nvSpPr>
          <p:cNvPr id="22" name="Text 20"/>
          <p:cNvSpPr/>
          <p:nvPr/>
        </p:nvSpPr>
        <p:spPr>
          <a:xfrm>
            <a:off x="722376" y="6227064"/>
            <a:ext cx="10506456" cy="228600"/>
          </a:xfrm>
          <a:prstGeom prst="rect">
            <a:avLst/>
          </a:prstGeom>
          <a:noFill/>
          <a:ln/>
        </p:spPr>
        <p:txBody>
          <a:bodyPr wrap="square" lIns="0" tIns="0" rIns="0" bIns="0" rtlCol="0" anchor="ctr">
            <a:normAutofit/>
          </a:bodyPr>
          <a:lstStyle/>
          <a:p>
            <a:pPr algn="l" indent="0" marL="0">
              <a:buNone/>
            </a:pPr>
            <a:r>
              <a:rPr lang="en-US" sz="1280" dirty="0">
                <a:solidFill>
                  <a:srgbClr val="64748B"/>
                </a:solidFill>
                <a:latin typeface="Aptos" pitchFamily="34" charset="0"/>
                <a:ea typeface="Aptos" pitchFamily="34" charset="-122"/>
                <a:cs typeface="Aptos" pitchFamily="34" charset="-120"/>
              </a:rPr>
              <a:t>github.com/alishair7071/microservices-all-in-one</a:t>
            </a:r>
            <a:endParaRPr lang="en-US" sz="128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768096"/>
            <a:ext cx="109728" cy="10972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640080"/>
            <a:ext cx="9966960" cy="347472"/>
          </a:xfrm>
          <a:prstGeom prst="rect">
            <a:avLst/>
          </a:prstGeom>
          <a:noFill/>
        </p:spPr>
        <p:txBody>
          <a:bodyPr wrap="square" lIns="18288" rIns="18288" tIns="18288" bIns="18288" anchor="ctr">
            <a:spAutoFit/>
          </a:bodyPr>
          <a:lstStyle/>
          <a:p>
            <a:r>
              <a:rPr sz="1300" b="1">
                <a:solidFill>
                  <a:srgbClr val="FFFFFF"/>
                </a:solidFill>
                <a:latin typeface="Aptos"/>
              </a:rPr>
              <a:t>BEYOND MICROSERVICES  /  PART II</a:t>
            </a:r>
          </a:p>
        </p:txBody>
      </p:sp>
      <p:sp>
        <p:nvSpPr>
          <p:cNvPr id="6" name="TextBox 5"/>
          <p:cNvSpPr txBox="1"/>
          <p:nvPr/>
        </p:nvSpPr>
        <p:spPr>
          <a:xfrm>
            <a:off x="768096" y="1444752"/>
            <a:ext cx="10881360" cy="777240"/>
          </a:xfrm>
          <a:prstGeom prst="rect">
            <a:avLst/>
          </a:prstGeom>
          <a:noFill/>
        </p:spPr>
        <p:txBody>
          <a:bodyPr wrap="square" lIns="18288" rIns="18288" tIns="18288" bIns="18288" anchor="ctr">
            <a:spAutoFit/>
          </a:bodyPr>
          <a:lstStyle/>
          <a:p>
            <a:r>
              <a:rPr sz="4000" b="1">
                <a:solidFill>
                  <a:srgbClr val="FFFFFF"/>
                </a:solidFill>
                <a:latin typeface="Aptos"/>
              </a:rPr>
              <a:t>The Challenges Begin</a:t>
            </a:r>
          </a:p>
        </p:txBody>
      </p:sp>
      <p:sp>
        <p:nvSpPr>
          <p:cNvPr id="7" name="TextBox 6"/>
          <p:cNvSpPr txBox="1"/>
          <p:nvPr/>
        </p:nvSpPr>
        <p:spPr>
          <a:xfrm>
            <a:off x="786384" y="2505456"/>
            <a:ext cx="9966960" cy="493776"/>
          </a:xfrm>
          <a:prstGeom prst="rect">
            <a:avLst/>
          </a:prstGeom>
          <a:noFill/>
        </p:spPr>
        <p:txBody>
          <a:bodyPr wrap="square" lIns="18288" rIns="18288" tIns="18288" bIns="18288" anchor="ctr">
            <a:spAutoFit/>
          </a:bodyPr>
          <a:lstStyle/>
          <a:p>
            <a:r>
              <a:rPr sz="2100" b="0">
                <a:solidFill>
                  <a:srgbClr val="FFFFFF"/>
                </a:solidFill>
                <a:latin typeface="Aptos"/>
              </a:rPr>
              <a:t>Real failures. Clear causes. Practical engineering solutions.</a:t>
            </a:r>
          </a:p>
        </p:txBody>
      </p:sp>
      <p:sp>
        <p:nvSpPr>
          <p:cNvPr id="8" name="Rounded Rectangle 7"/>
          <p:cNvSpPr/>
          <p:nvPr/>
        </p:nvSpPr>
        <p:spPr>
          <a:xfrm>
            <a:off x="777240" y="3657600"/>
            <a:ext cx="3246120" cy="987552"/>
          </a:xfrm>
          <a:prstGeom prst="roundRect">
            <a:avLst>
              <a:gd name="adj" fmla="val 10000"/>
            </a:avLst>
          </a:prstGeom>
          <a:solidFill>
            <a:srgbClr val="AF2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3886200"/>
            <a:ext cx="2862072" cy="429768"/>
          </a:xfrm>
          <a:prstGeom prst="rect">
            <a:avLst/>
          </a:prstGeom>
          <a:noFill/>
        </p:spPr>
        <p:txBody>
          <a:bodyPr wrap="square" lIns="18288" rIns="18288" tIns="18288" bIns="18288" anchor="ctr">
            <a:spAutoFit/>
          </a:bodyPr>
          <a:lstStyle/>
          <a:p>
            <a:pPr algn="ctr"/>
            <a:r>
              <a:rPr sz="1900" b="1">
                <a:solidFill>
                  <a:srgbClr val="FFFFFF"/>
                </a:solidFill>
                <a:latin typeface="Aptos"/>
              </a:rPr>
              <a:t>CHALLENGE</a:t>
            </a:r>
          </a:p>
        </p:txBody>
      </p:sp>
      <p:sp>
        <p:nvSpPr>
          <p:cNvPr id="10" name="TextBox 9"/>
          <p:cNvSpPr txBox="1"/>
          <p:nvPr/>
        </p:nvSpPr>
        <p:spPr>
          <a:xfrm>
            <a:off x="4123944" y="3831336"/>
            <a:ext cx="640080" cy="603504"/>
          </a:xfrm>
          <a:prstGeom prst="rect">
            <a:avLst/>
          </a:prstGeom>
          <a:noFill/>
        </p:spPr>
        <p:txBody>
          <a:bodyPr wrap="square" lIns="18288" rIns="18288" tIns="18288" bIns="18288" anchor="ctr">
            <a:spAutoFit/>
          </a:bodyPr>
          <a:lstStyle/>
          <a:p>
            <a:pPr algn="ctr"/>
            <a:r>
              <a:rPr sz="3100" b="1">
                <a:solidFill>
                  <a:srgbClr val="FFFFFF"/>
                </a:solidFill>
                <a:latin typeface="Aptos"/>
              </a:rPr>
              <a:t>→</a:t>
            </a:r>
          </a:p>
        </p:txBody>
      </p:sp>
      <p:sp>
        <p:nvSpPr>
          <p:cNvPr id="11" name="Rounded Rectangle 10"/>
          <p:cNvSpPr/>
          <p:nvPr/>
        </p:nvSpPr>
        <p:spPr>
          <a:xfrm>
            <a:off x="4828032" y="3657600"/>
            <a:ext cx="3246120" cy="987552"/>
          </a:xfrm>
          <a:prstGeom prst="roundRect">
            <a:avLst>
              <a:gd name="adj" fmla="val 10000"/>
            </a:avLst>
          </a:prstGeom>
          <a:solidFill>
            <a:srgbClr val="286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10912" y="3886200"/>
            <a:ext cx="2862072" cy="429768"/>
          </a:xfrm>
          <a:prstGeom prst="rect">
            <a:avLst/>
          </a:prstGeom>
          <a:noFill/>
        </p:spPr>
        <p:txBody>
          <a:bodyPr wrap="square" lIns="18288" rIns="18288" tIns="18288" bIns="18288" anchor="ctr">
            <a:spAutoFit/>
          </a:bodyPr>
          <a:lstStyle/>
          <a:p>
            <a:pPr algn="ctr"/>
            <a:r>
              <a:rPr sz="1900" b="1">
                <a:solidFill>
                  <a:srgbClr val="FFFFFF"/>
                </a:solidFill>
                <a:latin typeface="Aptos"/>
              </a:rPr>
              <a:t>SOLUTION</a:t>
            </a:r>
          </a:p>
        </p:txBody>
      </p:sp>
      <p:sp>
        <p:nvSpPr>
          <p:cNvPr id="13" name="TextBox 12"/>
          <p:cNvSpPr txBox="1"/>
          <p:nvPr/>
        </p:nvSpPr>
        <p:spPr>
          <a:xfrm>
            <a:off x="8165592" y="3831336"/>
            <a:ext cx="640080" cy="603504"/>
          </a:xfrm>
          <a:prstGeom prst="rect">
            <a:avLst/>
          </a:prstGeom>
          <a:noFill/>
        </p:spPr>
        <p:txBody>
          <a:bodyPr wrap="square" lIns="18288" rIns="18288" tIns="18288" bIns="18288" anchor="ctr">
            <a:spAutoFit/>
          </a:bodyPr>
          <a:lstStyle/>
          <a:p>
            <a:pPr algn="ctr"/>
            <a:r>
              <a:rPr sz="3100" b="1">
                <a:solidFill>
                  <a:srgbClr val="FFFFFF"/>
                </a:solidFill>
                <a:latin typeface="Aptos"/>
              </a:rPr>
              <a:t>→</a:t>
            </a:r>
          </a:p>
        </p:txBody>
      </p:sp>
      <p:sp>
        <p:nvSpPr>
          <p:cNvPr id="14" name="Rounded Rectangle 13"/>
          <p:cNvSpPr/>
          <p:nvPr/>
        </p:nvSpPr>
        <p:spPr>
          <a:xfrm>
            <a:off x="8851392" y="3657600"/>
            <a:ext cx="2532888" cy="987552"/>
          </a:xfrm>
          <a:prstGeom prst="roundRect">
            <a:avLst>
              <a:gd name="adj" fmla="val 10000"/>
            </a:avLst>
          </a:prstGeom>
          <a:solidFill>
            <a:srgbClr val="008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88552" y="3886200"/>
            <a:ext cx="2240280" cy="429768"/>
          </a:xfrm>
          <a:prstGeom prst="rect">
            <a:avLst/>
          </a:prstGeom>
          <a:noFill/>
        </p:spPr>
        <p:txBody>
          <a:bodyPr wrap="square" lIns="18288" rIns="18288" tIns="18288" bIns="18288" anchor="ctr">
            <a:spAutoFit/>
          </a:bodyPr>
          <a:lstStyle/>
          <a:p>
            <a:pPr algn="ctr"/>
            <a:r>
              <a:rPr sz="1800" b="1">
                <a:solidFill>
                  <a:srgbClr val="FFFFFF"/>
                </a:solidFill>
                <a:latin typeface="Aptos"/>
              </a:rPr>
              <a:t>TRADE-OFF</a:t>
            </a:r>
          </a:p>
        </p:txBody>
      </p:sp>
      <p:sp>
        <p:nvSpPr>
          <p:cNvPr id="16" name="TextBox 15"/>
          <p:cNvSpPr txBox="1"/>
          <p:nvPr/>
        </p:nvSpPr>
        <p:spPr>
          <a:xfrm>
            <a:off x="786384" y="5358384"/>
            <a:ext cx="10725912" cy="612648"/>
          </a:xfrm>
          <a:prstGeom prst="rect">
            <a:avLst/>
          </a:prstGeom>
          <a:noFill/>
        </p:spPr>
        <p:txBody>
          <a:bodyPr wrap="square" lIns="18288" rIns="18288" tIns="18288" bIns="18288" anchor="ctr">
            <a:spAutoFit/>
          </a:bodyPr>
          <a:lstStyle/>
          <a:p>
            <a:r>
              <a:rPr sz="1500" b="0">
                <a:solidFill>
                  <a:srgbClr val="FFFFFF"/>
                </a:solidFill>
                <a:latin typeface="Aptos"/>
              </a:rPr>
              <a:t>Follow each letter: Challenge A → Solution A. When several approaches help, see A1, A2, etc.</a:t>
            </a:r>
          </a:p>
        </p:txBody>
      </p:sp>
      <p:sp>
        <p:nvSpPr>
          <p:cNvPr id="17" name="TextBox 16"/>
          <p:cNvSpPr txBox="1"/>
          <p:nvPr/>
        </p:nvSpPr>
        <p:spPr>
          <a:xfrm>
            <a:off x="777240" y="6446520"/>
            <a:ext cx="10515600" cy="201168"/>
          </a:xfrm>
          <a:prstGeom prst="rect">
            <a:avLst/>
          </a:prstGeom>
          <a:noFill/>
        </p:spPr>
        <p:txBody>
          <a:bodyPr wrap="square" lIns="18288" rIns="18288" tIns="18288" bIns="18288" anchor="ctr">
            <a:spAutoFit/>
          </a:bodyPr>
          <a:lstStyle/>
          <a:p>
            <a:r>
              <a:rPr sz="1000" b="1">
                <a:solidFill>
                  <a:srgbClr val="FFFFFF"/>
                </a:solidFill>
                <a:latin typeface="Aptos"/>
              </a:rPr>
              <a:t>DEV WEEKENDS  ·  ALI SHAIR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C</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The order is created, but the dashboard still says pending</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The order database has new data. A separate dashboard has not received the update yet.</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NEW DATA</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 database</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Status: Created</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DELAY</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Update event</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Still being delivered</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OLD VIEW</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Dashboard</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Status: Pending</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The dashboard uses a separate view that is updated after the order database.</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 user can briefly see older information even though the order was created.</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15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E</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An email is sent, then the same job arrives again</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The worker finishes sending the email but crashes before confirming the message.</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RECEIVE</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Email worker</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Gets OrderCreated</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SUCCESS</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Email worker</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Sends confirmation</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REDELIVERY</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Broker</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No ACK was received</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The broker cannot tell that processing finished if the worker never acknowledged.</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Another worker may send the same email a second time.</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19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F</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Two database replicas lose their connection</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Both database copies are running, but they cannot exchange new updates.</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NORMAL</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Replica A &amp; B</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Both can communicate</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BROKEN LINK</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Network partition</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A cannot reach B</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REQUESTS</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Clients</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Ask both sides for data</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The replicas cannot agree on new writes while communication is broken.</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 side may refuse some requests to stay consistent, or sides may temporarily disagree.</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21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I</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The payment happened later, but its timestamp is earlier</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Different computers disagree on time, so sorting timestamps shows the wrong order.</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FIRST</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OrderCreated</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Clock A: 10:00:00.100</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LATER</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PaymentProcessed</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Clock B: 10:00:00.080</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WRONG ORDER</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Logs sorted by time</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Payment appears first</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Machine B’s clock is behind Machine A’s clock.</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Wall-clock timestamps alone cannot reliably show which event caused another.</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27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M</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Recommendations are down, so the whole product page fails</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The core product details work, but an optional recommendation call is unavailable.</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PAGE</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Customer opens product</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Product data is ready</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FAILURE</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Recommendation service</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Does not respond</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TOO MUCH</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Entire page errors</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Customer cannot shop</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The page treats an optional feature as required for the whole response.</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Customers lose a useful core feature because a nonessential service failed.</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38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N</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Traffic spikes beyond the service’s capacity</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Even well-behaved clients can create more total work than a service can handle.</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NORMAL</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Service capacity</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Handles ordinary traffic</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SURGE</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Many clients</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Arrive at once</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OVERLOAD</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Work queue grows</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Latency and failures rise</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The sum of incoming demand exceeds available processing resources.</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Accepting every request can slow or crash the service for everyone.</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40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O</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Our resilience code looks correct—until a real outage</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Timeouts and breakers are configured, but nobody has tested what happens when the dependency disappears.</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ASSUMPTION</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Developers</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Expect graceful failure</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OUTAGE</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Dependency stops</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Calls start failing</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SURPRISE</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System behavior</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Recovery is untested</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Design diagrams and successful normal requests do not prove failure behavior.</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An outage may reveal that timeouts, circuit breakers or recovery logic do not work as expected.</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42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Q</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A replacement Pod has a new IP address</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Inventory recovers in a new Pod, but Order Service still calls its old address.</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BEFORE</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Inventory Pod</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IP: 10.2.1.10</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REPLACED</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New Inventory Pod</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IP: 10.2.1.25</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WRONG TARGET</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 Service</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Calls 10.2.1.10</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Individual Pod addresses can change when instances are replaced.</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Hardcoded Pod addresses cause broken service-to-service calls.</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46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T</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Each service passes tests, but checkout still fails</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Order, Inventory and Payment work alone. The complete request flow breaks when they run together.</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PASS</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 tests</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Business logic works</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PASS</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Payment tests</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Business logic works</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FAIL</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Complete checkout</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Services disagree</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Tests of isolated code may miss mistakes in APIs, databases and cross-service behavior.</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The user journey fails even when individual service tests are green.</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52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U</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Inventory renames a field and breaks Order Service</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Inventory changes an API response, but Order Service still expects the old field name.</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EXPECTED</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 Service</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Reads {stock: 20}</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UPDATED</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Inventory API</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Sends {quantityAvailable: 20}</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FAILURE</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Order Service</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Cannot read stock</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One service changes an interface that another service depends on.</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 successful provider deployment can break consumers without changing their code.</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54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156" cy="6858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 y="292608"/>
            <a:ext cx="77724" cy="77724"/>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9456"/>
            <a:ext cx="7406640" cy="210312"/>
          </a:xfrm>
          <a:prstGeom prst="rect">
            <a:avLst/>
          </a:prstGeom>
          <a:noFill/>
        </p:spPr>
        <p:txBody>
          <a:bodyPr wrap="square" lIns="18288" rIns="18288" tIns="18288" bIns="18288" anchor="ctr">
            <a:spAutoFit/>
          </a:bodyPr>
          <a:lstStyle/>
          <a:p>
            <a:r>
              <a:rPr sz="1000" b="1">
                <a:solidFill>
                  <a:srgbClr val="D84148"/>
                </a:solidFill>
                <a:latin typeface="Aptos"/>
              </a:rPr>
              <a:t>CHALLENGE V</a:t>
            </a:r>
          </a:p>
        </p:txBody>
      </p:sp>
      <p:sp>
        <p:nvSpPr>
          <p:cNvPr id="6" name="TextBox 5"/>
          <p:cNvSpPr txBox="1"/>
          <p:nvPr/>
        </p:nvSpPr>
        <p:spPr>
          <a:xfrm>
            <a:off x="8366760" y="237744"/>
            <a:ext cx="3154680" cy="201168"/>
          </a:xfrm>
          <a:prstGeom prst="rect">
            <a:avLst/>
          </a:prstGeom>
          <a:noFill/>
        </p:spPr>
        <p:txBody>
          <a:bodyPr wrap="square" lIns="18288" rIns="18288" tIns="18288" bIns="18288" anchor="ctr">
            <a:spAutoFit/>
          </a:bodyPr>
          <a:lstStyle/>
          <a:p>
            <a:pPr algn="r"/>
            <a:r>
              <a:rPr sz="800" b="0">
                <a:solidFill>
                  <a:srgbClr val="64748B"/>
                </a:solidFill>
                <a:latin typeface="Aptos"/>
              </a:rPr>
              <a:t>BEYOND MICROSERVICES  ·  FAILURE SCENARIO</a:t>
            </a:r>
          </a:p>
        </p:txBody>
      </p:sp>
      <p:sp>
        <p:nvSpPr>
          <p:cNvPr id="7" name="TextBox 6"/>
          <p:cNvSpPr txBox="1"/>
          <p:nvPr/>
        </p:nvSpPr>
        <p:spPr>
          <a:xfrm>
            <a:off x="521207" y="667512"/>
            <a:ext cx="11109960" cy="566928"/>
          </a:xfrm>
          <a:prstGeom prst="rect">
            <a:avLst/>
          </a:prstGeom>
          <a:noFill/>
        </p:spPr>
        <p:txBody>
          <a:bodyPr wrap="square" lIns="18288" rIns="18288" tIns="18288" bIns="18288" anchor="ctr">
            <a:spAutoFit/>
          </a:bodyPr>
          <a:lstStyle/>
          <a:p>
            <a:r>
              <a:rPr sz="2900" b="1">
                <a:solidFill>
                  <a:srgbClr val="122239"/>
                </a:solidFill>
                <a:latin typeface="Aptos"/>
              </a:rPr>
              <a:t>The happy-path tests pass, but recovery is broken</a:t>
            </a:r>
          </a:p>
        </p:txBody>
      </p:sp>
      <p:sp>
        <p:nvSpPr>
          <p:cNvPr id="8" name="TextBox 7"/>
          <p:cNvSpPr txBox="1"/>
          <p:nvPr/>
        </p:nvSpPr>
        <p:spPr>
          <a:xfrm>
            <a:off x="539496" y="1298448"/>
            <a:ext cx="10972800" cy="566928"/>
          </a:xfrm>
          <a:prstGeom prst="rect">
            <a:avLst/>
          </a:prstGeom>
          <a:noFill/>
        </p:spPr>
        <p:txBody>
          <a:bodyPr wrap="square" lIns="18288" rIns="18288" tIns="18288" bIns="18288" anchor="ctr">
            <a:spAutoFit/>
          </a:bodyPr>
          <a:lstStyle/>
          <a:p>
            <a:r>
              <a:rPr sz="1400" b="0">
                <a:solidFill>
                  <a:srgbClr val="354862"/>
                </a:solidFill>
                <a:latin typeface="Aptos"/>
              </a:rPr>
              <a:t>Checkout succeeds when every service works. Nobody tested a timeout or dependency outage.</a:t>
            </a:r>
          </a:p>
        </p:txBody>
      </p:sp>
      <p:cxnSp>
        <p:nvCxnSpPr>
          <p:cNvPr id="9" name="Connector 8"/>
          <p:cNvCxnSpPr/>
          <p:nvPr/>
        </p:nvCxnSpPr>
        <p:spPr>
          <a:xfrm>
            <a:off x="539496" y="1938528"/>
            <a:ext cx="11100816" cy="0"/>
          </a:xfrm>
          <a:prstGeom prst="line">
            <a:avLst/>
          </a:prstGeom>
          <a:ln w="12700">
            <a:solidFill>
              <a:srgbClr val="FFC5C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9496" y="2167128"/>
            <a:ext cx="11100816" cy="2267712"/>
          </a:xfrm>
          <a:prstGeom prst="roundRect">
            <a:avLst>
              <a:gd name="adj" fmla="val 10000"/>
            </a:avLst>
          </a:prstGeom>
          <a:solidFill>
            <a:srgbClr val="FFF1F2"/>
          </a:solidFill>
          <a:ln w="1397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5486400" cy="265176"/>
          </a:xfrm>
          <a:prstGeom prst="rect">
            <a:avLst/>
          </a:prstGeom>
          <a:noFill/>
        </p:spPr>
        <p:txBody>
          <a:bodyPr wrap="square" lIns="18288" rIns="18288" tIns="18288" bIns="18288" anchor="ctr">
            <a:spAutoFit/>
          </a:bodyPr>
          <a:lstStyle/>
          <a:p>
            <a:r>
              <a:rPr sz="1050" b="1">
                <a:solidFill>
                  <a:srgbClr val="D84148"/>
                </a:solidFill>
                <a:latin typeface="Aptos"/>
              </a:rPr>
              <a:t>WHAT HAPPENS</a:t>
            </a:r>
          </a:p>
        </p:txBody>
      </p:sp>
      <p:sp>
        <p:nvSpPr>
          <p:cNvPr id="12" name="Rounded Rectangle 11"/>
          <p:cNvSpPr/>
          <p:nvPr/>
        </p:nvSpPr>
        <p:spPr>
          <a:xfrm>
            <a:off x="786384"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1 · HAPPY PATH</a:t>
            </a:r>
          </a:p>
        </p:txBody>
      </p:sp>
      <p:sp>
        <p:nvSpPr>
          <p:cNvPr id="14" name="TextBox 13"/>
          <p:cNvSpPr txBox="1"/>
          <p:nvPr/>
        </p:nvSpPr>
        <p:spPr>
          <a:xfrm>
            <a:off x="923544"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All services</a:t>
            </a:r>
          </a:p>
        </p:txBody>
      </p:sp>
      <p:sp>
        <p:nvSpPr>
          <p:cNvPr id="15" name="TextBox 14"/>
          <p:cNvSpPr txBox="1"/>
          <p:nvPr/>
        </p:nvSpPr>
        <p:spPr>
          <a:xfrm>
            <a:off x="923544"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Checkout succeeds</a:t>
            </a:r>
          </a:p>
        </p:txBody>
      </p:sp>
      <p:sp>
        <p:nvSpPr>
          <p:cNvPr id="16" name="TextBox 15"/>
          <p:cNvSpPr txBox="1"/>
          <p:nvPr/>
        </p:nvSpPr>
        <p:spPr>
          <a:xfrm>
            <a:off x="4005072"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17" name="Rounded Rectangle 16"/>
          <p:cNvSpPr/>
          <p:nvPr/>
        </p:nvSpPr>
        <p:spPr>
          <a:xfrm>
            <a:off x="4498848" y="2752344"/>
            <a:ext cx="3191256" cy="1325880"/>
          </a:xfrm>
          <a:prstGeom prst="roundRect">
            <a:avLst>
              <a:gd name="adj" fmla="val 10000"/>
            </a:avLst>
          </a:prstGeom>
          <a:solidFill>
            <a:srgbClr val="FFFFFF"/>
          </a:solidFill>
          <a:ln w="1143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852928"/>
            <a:ext cx="2889504" cy="228600"/>
          </a:xfrm>
          <a:prstGeom prst="rect">
            <a:avLst/>
          </a:prstGeom>
          <a:noFill/>
        </p:spPr>
        <p:txBody>
          <a:bodyPr wrap="square" lIns="18288" rIns="18288" tIns="18288" bIns="18288" anchor="ctr">
            <a:spAutoFit/>
          </a:bodyPr>
          <a:lstStyle/>
          <a:p>
            <a:r>
              <a:rPr sz="1000" b="1">
                <a:solidFill>
                  <a:srgbClr val="64748B"/>
                </a:solidFill>
                <a:latin typeface="Aptos"/>
              </a:rPr>
              <a:t>2 · FAILURE</a:t>
            </a:r>
          </a:p>
        </p:txBody>
      </p:sp>
      <p:sp>
        <p:nvSpPr>
          <p:cNvPr id="19" name="TextBox 18"/>
          <p:cNvSpPr txBox="1"/>
          <p:nvPr/>
        </p:nvSpPr>
        <p:spPr>
          <a:xfrm>
            <a:off x="4636008"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Payment unavailable</a:t>
            </a:r>
          </a:p>
        </p:txBody>
      </p:sp>
      <p:sp>
        <p:nvSpPr>
          <p:cNvPr id="20" name="TextBox 19"/>
          <p:cNvSpPr txBox="1"/>
          <p:nvPr/>
        </p:nvSpPr>
        <p:spPr>
          <a:xfrm>
            <a:off x="4636008" y="3593592"/>
            <a:ext cx="2871216" cy="365760"/>
          </a:xfrm>
          <a:prstGeom prst="rect">
            <a:avLst/>
          </a:prstGeom>
          <a:noFill/>
        </p:spPr>
        <p:txBody>
          <a:bodyPr wrap="square" lIns="18288" rIns="18288" tIns="18288" bIns="18288" anchor="ctr">
            <a:spAutoFit/>
          </a:bodyPr>
          <a:lstStyle/>
          <a:p>
            <a:r>
              <a:rPr sz="1200" b="0">
                <a:solidFill>
                  <a:srgbClr val="354862"/>
                </a:solidFill>
                <a:latin typeface="Aptos"/>
              </a:rPr>
              <a:t>Request times out</a:t>
            </a:r>
          </a:p>
        </p:txBody>
      </p:sp>
      <p:sp>
        <p:nvSpPr>
          <p:cNvPr id="21" name="TextBox 20"/>
          <p:cNvSpPr txBox="1"/>
          <p:nvPr/>
        </p:nvSpPr>
        <p:spPr>
          <a:xfrm>
            <a:off x="7717536" y="3236976"/>
            <a:ext cx="429768" cy="347472"/>
          </a:xfrm>
          <a:prstGeom prst="rect">
            <a:avLst/>
          </a:prstGeom>
          <a:noFill/>
        </p:spPr>
        <p:txBody>
          <a:bodyPr wrap="square" lIns="18288" rIns="18288" tIns="18288" bIns="18288" anchor="ctr">
            <a:spAutoFit/>
          </a:bodyPr>
          <a:lstStyle/>
          <a:p>
            <a:pPr algn="ctr"/>
            <a:r>
              <a:rPr sz="2100" b="1">
                <a:solidFill>
                  <a:srgbClr val="D84148"/>
                </a:solidFill>
                <a:latin typeface="Aptos"/>
              </a:rPr>
              <a:t>→</a:t>
            </a:r>
          </a:p>
        </p:txBody>
      </p:sp>
      <p:sp>
        <p:nvSpPr>
          <p:cNvPr id="22" name="Rounded Rectangle 21"/>
          <p:cNvSpPr/>
          <p:nvPr/>
        </p:nvSpPr>
        <p:spPr>
          <a:xfrm>
            <a:off x="8211312" y="2752344"/>
            <a:ext cx="3191256" cy="1325880"/>
          </a:xfrm>
          <a:prstGeom prst="roundRect">
            <a:avLst>
              <a:gd name="adj" fmla="val 10000"/>
            </a:avLst>
          </a:prstGeom>
          <a:solidFill>
            <a:srgbClr val="FFF1F2"/>
          </a:solidFill>
          <a:ln w="16510">
            <a:solidFill>
              <a:srgbClr val="FFC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852928"/>
            <a:ext cx="2889504" cy="228600"/>
          </a:xfrm>
          <a:prstGeom prst="rect">
            <a:avLst/>
          </a:prstGeom>
          <a:noFill/>
        </p:spPr>
        <p:txBody>
          <a:bodyPr wrap="square" lIns="18288" rIns="18288" tIns="18288" bIns="18288" anchor="ctr">
            <a:spAutoFit/>
          </a:bodyPr>
          <a:lstStyle/>
          <a:p>
            <a:r>
              <a:rPr sz="1000" b="1">
                <a:solidFill>
                  <a:srgbClr val="D84148"/>
                </a:solidFill>
                <a:latin typeface="Aptos"/>
              </a:rPr>
              <a:t>3 · UNTESTED</a:t>
            </a:r>
          </a:p>
        </p:txBody>
      </p:sp>
      <p:sp>
        <p:nvSpPr>
          <p:cNvPr id="24" name="TextBox 23"/>
          <p:cNvSpPr txBox="1"/>
          <p:nvPr/>
        </p:nvSpPr>
        <p:spPr>
          <a:xfrm>
            <a:off x="8348472" y="3172968"/>
            <a:ext cx="2880360" cy="310896"/>
          </a:xfrm>
          <a:prstGeom prst="rect">
            <a:avLst/>
          </a:prstGeom>
          <a:noFill/>
        </p:spPr>
        <p:txBody>
          <a:bodyPr wrap="square" lIns="18288" rIns="18288" tIns="18288" bIns="18288" anchor="ctr">
            <a:spAutoFit/>
          </a:bodyPr>
          <a:lstStyle/>
          <a:p>
            <a:r>
              <a:rPr sz="1600" b="1">
                <a:solidFill>
                  <a:srgbClr val="122239"/>
                </a:solidFill>
                <a:latin typeface="Aptos"/>
              </a:rPr>
              <a:t>Recovery behavior</a:t>
            </a:r>
          </a:p>
        </p:txBody>
      </p:sp>
      <p:sp>
        <p:nvSpPr>
          <p:cNvPr id="25" name="TextBox 24"/>
          <p:cNvSpPr txBox="1"/>
          <p:nvPr/>
        </p:nvSpPr>
        <p:spPr>
          <a:xfrm>
            <a:off x="8348472" y="3593592"/>
            <a:ext cx="2871216" cy="365760"/>
          </a:xfrm>
          <a:prstGeom prst="rect">
            <a:avLst/>
          </a:prstGeom>
          <a:noFill/>
        </p:spPr>
        <p:txBody>
          <a:bodyPr wrap="square" lIns="18288" rIns="18288" tIns="18288" bIns="18288" anchor="ctr">
            <a:spAutoFit/>
          </a:bodyPr>
          <a:lstStyle/>
          <a:p>
            <a:r>
              <a:rPr sz="1200" b="0">
                <a:solidFill>
                  <a:srgbClr val="AF2631"/>
                </a:solidFill>
                <a:latin typeface="Aptos"/>
              </a:rPr>
              <a:t>Bad retry or error state</a:t>
            </a:r>
          </a:p>
        </p:txBody>
      </p:sp>
      <p:sp>
        <p:nvSpPr>
          <p:cNvPr id="26" name="Rounded Rectangle 25"/>
          <p:cNvSpPr/>
          <p:nvPr/>
        </p:nvSpPr>
        <p:spPr>
          <a:xfrm>
            <a:off x="10954512" y="2816352"/>
            <a:ext cx="292608" cy="292608"/>
          </a:xfrm>
          <a:prstGeom prst="roundRect">
            <a:avLst>
              <a:gd name="adj" fmla="val 10000"/>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2802636"/>
            <a:ext cx="256032" cy="320040"/>
          </a:xfrm>
          <a:prstGeom prst="rect">
            <a:avLst/>
          </a:prstGeom>
          <a:noFill/>
        </p:spPr>
        <p:txBody>
          <a:bodyPr wrap="square" lIns="18288" rIns="18288" tIns="18288" bIns="18288" anchor="ctr">
            <a:spAutoFit/>
          </a:bodyPr>
          <a:lstStyle/>
          <a:p>
            <a:pPr algn="ctr"/>
            <a:r>
              <a:rPr sz="1700" b="1">
                <a:solidFill>
                  <a:srgbClr val="FFFFFF"/>
                </a:solidFill>
                <a:latin typeface="Aptos"/>
              </a:rPr>
              <a:t>×</a:t>
            </a:r>
          </a:p>
        </p:txBody>
      </p:sp>
      <p:sp>
        <p:nvSpPr>
          <p:cNvPr id="28" name="Rounded Rectangle 27"/>
          <p:cNvSpPr/>
          <p:nvPr/>
        </p:nvSpPr>
        <p:spPr>
          <a:xfrm>
            <a:off x="54864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CAUSE</a:t>
            </a:r>
          </a:p>
        </p:txBody>
      </p:sp>
      <p:sp>
        <p:nvSpPr>
          <p:cNvPr id="31" name="TextBox 30"/>
          <p:cNvSpPr txBox="1"/>
          <p:nvPr/>
        </p:nvSpPr>
        <p:spPr>
          <a:xfrm>
            <a:off x="73152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Normal tests never exercise dependency failure and recovery conditions.</a:t>
            </a:r>
          </a:p>
        </p:txBody>
      </p:sp>
      <p:sp>
        <p:nvSpPr>
          <p:cNvPr id="32" name="Rounded Rectangle 31"/>
          <p:cNvSpPr/>
          <p:nvPr/>
        </p:nvSpPr>
        <p:spPr>
          <a:xfrm>
            <a:off x="6172200" y="4727448"/>
            <a:ext cx="5468112" cy="1143000"/>
          </a:xfrm>
          <a:prstGeom prst="roundRect">
            <a:avLst>
              <a:gd name="adj" fmla="val 10000"/>
            </a:avLst>
          </a:prstGeom>
          <a:solidFill>
            <a:srgbClr val="FFFFFF"/>
          </a:solidFill>
          <a:ln w="12700">
            <a:solidFill>
              <a:srgbClr val="DD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727448"/>
            <a:ext cx="59436" cy="1143000"/>
          </a:xfrm>
          <a:prstGeom prst="rect">
            <a:avLst/>
          </a:prstGeom>
          <a:solidFill>
            <a:srgbClr val="D84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46320"/>
            <a:ext cx="5056632" cy="246888"/>
          </a:xfrm>
          <a:prstGeom prst="rect">
            <a:avLst/>
          </a:prstGeom>
          <a:noFill/>
        </p:spPr>
        <p:txBody>
          <a:bodyPr wrap="square" lIns="18288" rIns="18288" tIns="18288" bIns="18288" anchor="ctr">
            <a:spAutoFit/>
          </a:bodyPr>
          <a:lstStyle/>
          <a:p>
            <a:r>
              <a:rPr sz="1100" b="1">
                <a:solidFill>
                  <a:srgbClr val="D84148"/>
                </a:solidFill>
                <a:latin typeface="Aptos"/>
              </a:rPr>
              <a:t>IMPACT</a:t>
            </a:r>
          </a:p>
        </p:txBody>
      </p:sp>
      <p:sp>
        <p:nvSpPr>
          <p:cNvPr id="35" name="TextBox 34"/>
          <p:cNvSpPr txBox="1"/>
          <p:nvPr/>
        </p:nvSpPr>
        <p:spPr>
          <a:xfrm>
            <a:off x="6355080" y="5157216"/>
            <a:ext cx="5038344" cy="548640"/>
          </a:xfrm>
          <a:prstGeom prst="rect">
            <a:avLst/>
          </a:prstGeom>
          <a:noFill/>
        </p:spPr>
        <p:txBody>
          <a:bodyPr wrap="square" lIns="18288" rIns="18288" tIns="18288" bIns="18288" anchor="ctr">
            <a:spAutoFit/>
          </a:bodyPr>
          <a:lstStyle/>
          <a:p>
            <a:r>
              <a:rPr sz="1300" b="0">
                <a:solidFill>
                  <a:srgbClr val="354862"/>
                </a:solidFill>
                <a:latin typeface="Aptos"/>
              </a:rPr>
              <a:t>A release can pass basic checks yet fail badly when a service goes down.</a:t>
            </a:r>
          </a:p>
        </p:txBody>
      </p:sp>
      <p:cxnSp>
        <p:nvCxnSpPr>
          <p:cNvPr id="36" name="Connector 35"/>
          <p:cNvCxnSpPr/>
          <p:nvPr/>
        </p:nvCxnSpPr>
        <p:spPr>
          <a:xfrm>
            <a:off x="539496" y="6519672"/>
            <a:ext cx="11100816" cy="0"/>
          </a:xfrm>
          <a:prstGeom prst="line">
            <a:avLst/>
          </a:prstGeom>
          <a:ln w="10160">
            <a:solidFill>
              <a:srgbClr val="DDE6F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9496" y="6565392"/>
            <a:ext cx="9966960" cy="128016"/>
          </a:xfrm>
          <a:prstGeom prst="rect">
            <a:avLst/>
          </a:prstGeom>
          <a:noFill/>
        </p:spPr>
        <p:txBody>
          <a:bodyPr wrap="square" lIns="18288" rIns="18288" tIns="18288" bIns="18288" anchor="ctr">
            <a:spAutoFit/>
          </a:bodyPr>
          <a:lstStyle/>
          <a:p>
            <a:r>
              <a:rPr sz="800" b="1">
                <a:solidFill>
                  <a:srgbClr val="64748B"/>
                </a:solidFill>
                <a:latin typeface="Aptos"/>
              </a:rPr>
              <a:t>DEV WEEKENDS  /  BEYOND MICROSERVICES: REAL ENGINEERING CHALLENGES</a:t>
            </a:r>
          </a:p>
        </p:txBody>
      </p:sp>
      <p:sp>
        <p:nvSpPr>
          <p:cNvPr id="38" name="TextBox 37"/>
          <p:cNvSpPr txBox="1"/>
          <p:nvPr/>
        </p:nvSpPr>
        <p:spPr>
          <a:xfrm>
            <a:off x="11119104" y="6565392"/>
            <a:ext cx="530352" cy="164592"/>
          </a:xfrm>
          <a:prstGeom prst="rect">
            <a:avLst/>
          </a:prstGeom>
          <a:noFill/>
        </p:spPr>
        <p:txBody>
          <a:bodyPr wrap="square" lIns="18288" rIns="18288" tIns="18288" bIns="18288" anchor="ctr">
            <a:spAutoFit/>
          </a:bodyPr>
          <a:lstStyle/>
          <a:p>
            <a:pPr algn="r"/>
            <a:r>
              <a:rPr sz="900" b="0">
                <a:solidFill>
                  <a:srgbClr val="64748B"/>
                </a:solidFill>
                <a:latin typeface="Aptos"/>
              </a:rPr>
              <a:t>56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Dev Weekends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Under Pressure — Challenges in Microservices and How Engineers Solve Them</dc:title>
  <dc:subject>Dev Weekends technical talk</dc:subject>
  <dc:creator>Ali Shair</dc:creator>
  <cp:lastModifiedBy>Ali Shair</cp:lastModifiedBy>
  <cp:revision>1</cp:revision>
  <dcterms:created xsi:type="dcterms:W3CDTF">2026-10-23T20:07:21Z</dcterms:created>
  <dcterms:modified xsi:type="dcterms:W3CDTF">2026-10-23T20:07:21Z</dcterms:modified>
</cp:coreProperties>
</file>